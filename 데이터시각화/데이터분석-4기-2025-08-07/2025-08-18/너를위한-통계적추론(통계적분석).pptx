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61" r:id="rId3"/>
    <p:sldId id="263" r:id="rId4"/>
    <p:sldId id="363" r:id="rId5"/>
    <p:sldId id="364" r:id="rId6"/>
    <p:sldId id="344" r:id="rId7"/>
    <p:sldId id="365" r:id="rId8"/>
    <p:sldId id="366" r:id="rId9"/>
    <p:sldId id="367" r:id="rId10"/>
    <p:sldId id="340" r:id="rId11"/>
    <p:sldId id="341" r:id="rId12"/>
    <p:sldId id="368" r:id="rId13"/>
    <p:sldId id="345" r:id="rId14"/>
    <p:sldId id="347" r:id="rId15"/>
    <p:sldId id="348" r:id="rId16"/>
    <p:sldId id="349" r:id="rId17"/>
    <p:sldId id="339" r:id="rId18"/>
    <p:sldId id="358" r:id="rId19"/>
    <p:sldId id="356" r:id="rId20"/>
    <p:sldId id="357" r:id="rId21"/>
    <p:sldId id="359" r:id="rId22"/>
    <p:sldId id="360" r:id="rId23"/>
    <p:sldId id="361" r:id="rId24"/>
    <p:sldId id="362" r:id="rId25"/>
    <p:sldId id="369" r:id="rId26"/>
    <p:sldId id="342" r:id="rId27"/>
    <p:sldId id="350" r:id="rId28"/>
    <p:sldId id="282" r:id="rId29"/>
    <p:sldId id="343" r:id="rId30"/>
    <p:sldId id="351" r:id="rId31"/>
    <p:sldId id="352" r:id="rId32"/>
    <p:sldId id="353" r:id="rId33"/>
    <p:sldId id="354" r:id="rId34"/>
    <p:sldId id="355" r:id="rId3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3C9D4"/>
    <a:srgbClr val="FECCB3"/>
    <a:srgbClr val="EBE2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0780" autoAdjust="0"/>
  </p:normalViewPr>
  <p:slideViewPr>
    <p:cSldViewPr snapToGrid="0">
      <p:cViewPr varScale="1">
        <p:scale>
          <a:sx n="106" d="100"/>
          <a:sy n="106" d="100"/>
        </p:scale>
        <p:origin x="732" y="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19C5A5-FB7C-4404-8A54-1ABAD078A835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3DFDED-2E9F-41DA-A9FA-780DFF4193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4430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74451-DA40-572A-7F68-D43B07A4D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9F2F51-EE35-BD62-08DA-11F99AB398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C7CAD55-8EB9-F3D2-4899-14EAB1D940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https://specialscene.tistory.com/151</a:t>
            </a:r>
          </a:p>
          <a:p>
            <a:r>
              <a:rPr lang="en-US" altLang="ko-KR" dirty="0"/>
              <a:t>https://blog.naver.com/awess0me/222513273296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7ED7DD-2448-5AFA-8EFC-8717CE58E7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10890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8EE8E-D403-0EA7-AA91-22E1BA925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17BAFCC-324F-D279-B04E-319273EEF1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911F921-242F-ACB7-BD8D-DA817EE8D2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https://specialscene.tistory.com/151</a:t>
            </a:r>
          </a:p>
          <a:p>
            <a:r>
              <a:rPr lang="en-US" altLang="ko-KR" dirty="0"/>
              <a:t>https://blog.naver.com/awess0me/222513273296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5933D5-4693-554F-670A-B381EF0757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2914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https://specialscene.tistory.com/151</a:t>
            </a:r>
          </a:p>
          <a:p>
            <a:r>
              <a:rPr lang="en-US" altLang="ko-KR"/>
              <a:t>https://blog.naver.com/awess0me/222513273296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4975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9C7BE-8822-D340-EB5D-B7FE56591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D1FF2CC-DC01-ED42-70A7-579D11ED63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A487B9-ED5D-A9BB-09B0-A91E2C3655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EBE40B-19CE-2413-103E-05F28EAC41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24534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71970-BF83-C6C3-40AF-AA365DC6E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EA49929-4B55-9525-0252-CDE6677B21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12FA35E-4A91-68B5-F0FC-BEE90D8278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E7C0F7-35F9-384A-EDF9-A1DEC04BB1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85028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http://bigdata.dongguk.ac.kr/lectures/bigdata/_book/%EB%B9%85%EB%8D%B0%EC%9D%B4%ED%84%B0%EA%B0%9C%EC%9A%94.html#%EB%B9%85%EB%8D%B0%EC%9D%B4%ED%84%B0%EC%9D%98-%EB%B0%B0%EA%B2%BD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02435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85611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8BA2C-2480-B761-7F4D-177F13976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5FDB332-4CCA-C229-839E-9654695517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661E98-7067-30D5-C55A-383FEDAB0E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https://velog.io/@kungsboy/%EB%8D%B0%EC%9D%B4%ED%84%B0%EB%B6%84%EC%84%9D-%ED%86%B5%EA%B3%84%EC%9D%98-%EB%B3%B8%EC%A7%88%EB%B6%84%EC%82%B0%EC%9D%B4-%EB%A7%88%EB%B2%95%EC%9D%B8-%EC%9D%B4%EC%9C%A0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8AA931-BC8C-9AA5-D394-EB4B165E6E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03001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https://learnx.tistory.com/entry/%ED%86%B5%EA%B3%84%EC%9D%98-%EA%B8%B0%EC%B4%88%EC%9D%B8-%ED%8F%89%EA%B7%A0-%EB%B6%84%EC%82%B0-%ED%91%9C%EC%A4%80%ED%8E%B8%EC%B0%A8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59778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https://learnx.tistory.com/entry/%ED%86%B5%EA%B3%84%EC%9D%98-%EA%B8%B0%EC%B4%88%EC%9D%B8-%ED%8F%89%EA%B7%A0-%EB%B6%84%EC%82%B0-%ED%91%9C%EC%A4%80%ED%8E%B8%EC%B0%A8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8780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https://ko.khanacademy.org/math/statistics-probability/modeling-distributions-of-data/normal-distributions-library/a/normal-distributions-review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79030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https://www.youtube.com/watch?v=S1I4363aQz8&amp;t=134s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3841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https://www.youtube.com/watch?v=jFv0R5OyT5k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23037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https://www.youtube.com/watch?v=S1I4363aQz8&amp;t=134s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85821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https://www.youtube.com/watch?v=S1I4363aQz8&amp;t=134s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33600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https://www.youtube.com/watch?v=S1I4363aQz8&amp;t=134s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9731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https://www.youtube.com/watch?v=S1I4363aQz8&amp;t=134s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6101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https://www.youtube.com/watch?v=S1I4363aQz8&amp;t=134s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67218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http://bigdata.dongguk.ac.kr/lectures/bigdata/_book/%EB%B9%85%EB%8D%B0%EC%9D%B4%ED%84%B0%EA%B0%9C%EC%9A%94.html#%EB%B9%85%EB%8D%B0%EC%9D%B4%ED%84%B0%EC%9D%98-%EB%B0%B0%EA%B2%BD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43181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https://www.youtube.com/watch?v=jFv0R5OyT5k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9820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http://bigdata.dongguk.ac.kr/lectures/bigdata/_book/%EB%B9%85%EB%8D%B0%EC%9D%B4%ED%84%B0%EA%B0%9C%EC%9A%94.html#%EB%B9%85%EB%8D%B0%EC%9D%B4%ED%84%B0%EC%9D%98-%EB%B0%B0%EA%B2%BD</a:t>
            </a:r>
          </a:p>
          <a:p>
            <a:r>
              <a:rPr lang="en-US" altLang="ko-KR" dirty="0"/>
              <a:t>https://www.youtube.com/watch?v=jFv0R5OyT5k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42315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http://bigdata.dongguk.ac.kr/lectures/bigdata/_book/%EB%B9%85%EB%8D%B0%EC%9D%B4%ED%84%B0%EA%B0%9C%EC%9A%94.html#%EB%B9%85%EB%8D%B0%EC%9D%B4%ED%84%B0%EC%9D%98-%EB%B0%B0%EA%B2%BD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36389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https://blog.acronym.co.kr/621</a:t>
            </a:r>
          </a:p>
          <a:p>
            <a:r>
              <a:rPr lang="en-US" altLang="ko-KR" dirty="0"/>
              <a:t>https://www.youtube.com/watch?v=jFv0R5OyT5k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00447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https://huidea.tistory.com/233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50557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https://huidea.tistory.com/233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23115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https://huidea.tistory.com/233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03737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https://huidea.tistory.com/233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7475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26" name="텍스트 개체 틀 25"/>
          <p:cNvSpPr>
            <a:spLocks noGrp="1"/>
          </p:cNvSpPr>
          <p:nvPr>
            <p:ph type="body" sz="quarter" idx="10"/>
          </p:nvPr>
        </p:nvSpPr>
        <p:spPr>
          <a:xfrm>
            <a:off x="838200" y="2041525"/>
            <a:ext cx="10515600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08305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/>
          <p:cNvSpPr>
            <a:spLocks noGrp="1"/>
          </p:cNvSpPr>
          <p:nvPr>
            <p:ph type="title"/>
          </p:nvPr>
        </p:nvSpPr>
        <p:spPr>
          <a:xfrm>
            <a:off x="1500325" y="302895"/>
            <a:ext cx="10515600" cy="71945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117979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5" name="직선 연결선 4"/>
          <p:cNvCxnSpPr/>
          <p:nvPr userDrawn="1"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383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5698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namu.wiki/w/%ED%99%95%EB%A5%A0%20%EB%B6%84%ED%8F%AC" TargetMode="External"/><Relationship Id="rId3" Type="http://schemas.openxmlformats.org/officeDocument/2006/relationships/hyperlink" Target="https://namu.wiki/w/%EC%B9%B4%EB%A5%BC%20%ED%94%84%EB%A6%AC%EB%93%9C%EB%A6%AC%ED%9E%88%20%EA%B0%80%EC%9A%B0%EC%8A%A4" TargetMode="External"/><Relationship Id="rId7" Type="http://schemas.openxmlformats.org/officeDocument/2006/relationships/hyperlink" Target="https://namu.wiki/w/%ED%86%B5%EA%B3%84%ED%95%99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namu.wiki/w/%EC%84%B8%EC%83%81" TargetMode="External"/><Relationship Id="rId5" Type="http://schemas.openxmlformats.org/officeDocument/2006/relationships/hyperlink" Target="https://namu.wiki/w/%EC%9E%90%EC%97%B0" TargetMode="External"/><Relationship Id="rId4" Type="http://schemas.openxmlformats.org/officeDocument/2006/relationships/hyperlink" Target="https://namu.wiki/w/%EC%9D%B8%EA%B0%84" TargetMode="External"/><Relationship Id="rId9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9.png"/><Relationship Id="rId4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0.png"/><Relationship Id="rId4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1.png"/><Relationship Id="rId4" Type="http://schemas.openxmlformats.org/officeDocument/2006/relationships/image" Target="../media/image1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2.png"/><Relationship Id="rId4" Type="http://schemas.openxmlformats.org/officeDocument/2006/relationships/image" Target="../media/image1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3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그림 6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67" name="직선 연결선 66"/>
          <p:cNvCxnSpPr/>
          <p:nvPr/>
        </p:nvCxnSpPr>
        <p:spPr>
          <a:xfrm>
            <a:off x="1282007" y="3297382"/>
            <a:ext cx="530352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제목 1"/>
          <p:cNvSpPr>
            <a:spLocks noGrp="1"/>
          </p:cNvSpPr>
          <p:nvPr>
            <p:ph type="title"/>
          </p:nvPr>
        </p:nvSpPr>
        <p:spPr>
          <a:xfrm>
            <a:off x="-681134" y="2007510"/>
            <a:ext cx="8024326" cy="1280159"/>
          </a:xfrm>
        </p:spPr>
        <p:txBody>
          <a:bodyPr/>
          <a:lstStyle/>
          <a:p>
            <a:pPr algn="ctr"/>
            <a:r>
              <a:rPr lang="en-US" altLang="ko-KR" sz="3600" dirty="0"/>
              <a:t>	</a:t>
            </a:r>
            <a:r>
              <a:rPr lang="ko-KR" altLang="en-US" sz="3600" dirty="0">
                <a:latin typeface="HY견고딕" panose="02030600000101010101" pitchFamily="18" charset="-127"/>
                <a:ea typeface="HY견고딕" panose="02030600000101010101" pitchFamily="18" charset="-127"/>
              </a:rPr>
              <a:t>너</a:t>
            </a:r>
            <a:r>
              <a:rPr lang="en-US" altLang="ko-KR" sz="3600" dirty="0"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36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통알못</a:t>
            </a:r>
            <a:r>
              <a:rPr lang="en-US" altLang="ko-KR" sz="3600" dirty="0"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  <a:r>
              <a:rPr lang="ko-KR" altLang="en-US" sz="3600" dirty="0">
                <a:latin typeface="HY견고딕" panose="02030600000101010101" pitchFamily="18" charset="-127"/>
                <a:ea typeface="HY견고딕" panose="02030600000101010101" pitchFamily="18" charset="-127"/>
              </a:rPr>
              <a:t>를 위한 통계적 분석 </a:t>
            </a:r>
            <a:br>
              <a:rPr lang="en-US" altLang="ko-KR" sz="3600" dirty="0"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r>
              <a:rPr lang="en-US" altLang="ko-KR" sz="3600" dirty="0"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3600" dirty="0">
                <a:latin typeface="HY견고딕" panose="02030600000101010101" pitchFamily="18" charset="-127"/>
                <a:ea typeface="HY견고딕" panose="02030600000101010101" pitchFamily="18" charset="-127"/>
              </a:rPr>
              <a:t>파이썬</a:t>
            </a:r>
            <a:r>
              <a:rPr lang="en-US" altLang="ko-KR" sz="3600" dirty="0"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  <a:endParaRPr lang="ko-KR" altLang="en-US" sz="36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71" name="텍스트 개체 틀 70"/>
          <p:cNvSpPr>
            <a:spLocks noGrp="1"/>
          </p:cNvSpPr>
          <p:nvPr>
            <p:ph type="body" sz="quarter" idx="10"/>
          </p:nvPr>
        </p:nvSpPr>
        <p:spPr>
          <a:xfrm>
            <a:off x="1155007" y="3581689"/>
            <a:ext cx="5430520" cy="462914"/>
          </a:xfrm>
        </p:spPr>
        <p:txBody>
          <a:bodyPr/>
          <a:lstStyle/>
          <a:p>
            <a:pPr algn="ctr"/>
            <a:r>
              <a:rPr lang="ko-KR" altLang="en-US" sz="1800" dirty="0">
                <a:latin typeface="+mn-ea"/>
              </a:rPr>
              <a:t>강사 </a:t>
            </a:r>
            <a:r>
              <a:rPr lang="en-US" altLang="ko-KR" sz="1800" dirty="0">
                <a:latin typeface="+mn-ea"/>
              </a:rPr>
              <a:t>: </a:t>
            </a:r>
            <a:r>
              <a:rPr lang="ko-KR" altLang="en-US" sz="1800" dirty="0" err="1">
                <a:latin typeface="+mn-ea"/>
              </a:rPr>
              <a:t>쿵스보이</a:t>
            </a:r>
            <a:r>
              <a:rPr lang="ko-KR" altLang="en-US" sz="1800" dirty="0">
                <a:latin typeface="+mn-ea"/>
              </a:rPr>
              <a:t> </a:t>
            </a:r>
            <a:r>
              <a:rPr lang="en-US" altLang="ko-KR" sz="1800" dirty="0">
                <a:latin typeface="+mn-ea"/>
              </a:rPr>
              <a:t>(</a:t>
            </a:r>
            <a:r>
              <a:rPr lang="ko-KR" altLang="en-US" sz="1800" dirty="0">
                <a:latin typeface="+mn-ea"/>
              </a:rPr>
              <a:t>얼짱 뮤지션</a:t>
            </a:r>
            <a:r>
              <a:rPr lang="en-US" altLang="ko-KR" sz="1800" dirty="0">
                <a:latin typeface="+mn-ea"/>
              </a:rPr>
              <a:t>)</a:t>
            </a:r>
            <a:endParaRPr lang="ko-KR" altLang="en-US" sz="1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84204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0" y="0"/>
            <a:ext cx="278384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665172" y="317083"/>
            <a:ext cx="14534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 </a:t>
            </a:r>
            <a:r>
              <a:rPr lang="ko-KR" altLang="en-US" sz="48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례</a:t>
            </a:r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cxnSp>
        <p:nvCxnSpPr>
          <p:cNvPr id="21" name="직선 연결선 20"/>
          <p:cNvCxnSpPr/>
          <p:nvPr/>
        </p:nvCxnSpPr>
        <p:spPr>
          <a:xfrm>
            <a:off x="210820" y="1148080"/>
            <a:ext cx="23622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/>
          <p:cNvSpPr/>
          <p:nvPr/>
        </p:nvSpPr>
        <p:spPr>
          <a:xfrm>
            <a:off x="2783840" y="2030"/>
            <a:ext cx="940816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3280122" y="1505866"/>
            <a:ext cx="7425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001</a:t>
            </a:r>
            <a:endParaRPr lang="ko-KR" altLang="en-US" sz="24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280119" y="2654784"/>
            <a:ext cx="7232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002</a:t>
            </a:r>
            <a:endParaRPr lang="ko-KR" altLang="en-US" sz="24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58" name="그룹 57"/>
          <p:cNvGrpSpPr/>
          <p:nvPr/>
        </p:nvGrpSpPr>
        <p:grpSpPr>
          <a:xfrm>
            <a:off x="9530105" y="3282811"/>
            <a:ext cx="1002625" cy="1002625"/>
            <a:chOff x="7843891" y="896970"/>
            <a:chExt cx="1002625" cy="1002625"/>
          </a:xfrm>
          <a:effectLst>
            <a:outerShdw blurRad="50800" dist="50800" dir="5400000" algn="ctr" rotWithShape="0">
              <a:srgbClr val="000000">
                <a:alpha val="99000"/>
              </a:srgbClr>
            </a:outerShdw>
          </a:effectLst>
        </p:grpSpPr>
        <p:sp>
          <p:nvSpPr>
            <p:cNvPr id="59" name="타원 58"/>
            <p:cNvSpPr/>
            <p:nvPr/>
          </p:nvSpPr>
          <p:spPr>
            <a:xfrm>
              <a:off x="7910432" y="972344"/>
              <a:ext cx="861703" cy="861703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0" name="그림 5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843891" y="896970"/>
              <a:ext cx="1002625" cy="1002625"/>
            </a:xfrm>
            <a:prstGeom prst="rect">
              <a:avLst/>
            </a:prstGeom>
          </p:spPr>
        </p:pic>
      </p:grpSp>
      <p:grpSp>
        <p:nvGrpSpPr>
          <p:cNvPr id="61" name="그룹 60"/>
          <p:cNvGrpSpPr/>
          <p:nvPr/>
        </p:nvGrpSpPr>
        <p:grpSpPr>
          <a:xfrm>
            <a:off x="9119238" y="1331958"/>
            <a:ext cx="1126436" cy="1161619"/>
            <a:chOff x="9235480" y="796119"/>
            <a:chExt cx="1126436" cy="1161619"/>
          </a:xfrm>
          <a:effectLst>
            <a:outerShdw blurRad="50800" dist="50800" dir="5400000" algn="ctr" rotWithShape="0">
              <a:srgbClr val="000000">
                <a:alpha val="99000"/>
              </a:srgbClr>
            </a:outerShdw>
          </a:effectLst>
        </p:grpSpPr>
        <p:sp>
          <p:nvSpPr>
            <p:cNvPr id="62" name="타원 61"/>
            <p:cNvSpPr/>
            <p:nvPr/>
          </p:nvSpPr>
          <p:spPr>
            <a:xfrm>
              <a:off x="9235480" y="796119"/>
              <a:ext cx="1126436" cy="11616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3" name="그림 6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816476">
              <a:off x="9330610" y="874558"/>
              <a:ext cx="903180" cy="903180"/>
            </a:xfrm>
            <a:prstGeom prst="rect">
              <a:avLst/>
            </a:prstGeom>
          </p:spPr>
        </p:pic>
      </p:grpSp>
      <p:grpSp>
        <p:nvGrpSpPr>
          <p:cNvPr id="64" name="그룹 63"/>
          <p:cNvGrpSpPr/>
          <p:nvPr/>
        </p:nvGrpSpPr>
        <p:grpSpPr>
          <a:xfrm>
            <a:off x="10532730" y="2216387"/>
            <a:ext cx="945641" cy="945641"/>
            <a:chOff x="10598624" y="1250741"/>
            <a:chExt cx="1554480" cy="1554480"/>
          </a:xfrm>
          <a:effectLst>
            <a:outerShdw blurRad="50800" dist="50800" dir="5400000" algn="ctr" rotWithShape="0">
              <a:srgbClr val="000000">
                <a:alpha val="99000"/>
              </a:srgbClr>
            </a:outerShdw>
          </a:effectLst>
        </p:grpSpPr>
        <p:sp>
          <p:nvSpPr>
            <p:cNvPr id="65" name="타원 64"/>
            <p:cNvSpPr/>
            <p:nvPr/>
          </p:nvSpPr>
          <p:spPr>
            <a:xfrm>
              <a:off x="10598624" y="1250741"/>
              <a:ext cx="1554480" cy="155448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6" name="그림 6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96085" flipH="1">
              <a:off x="10659225" y="1313972"/>
              <a:ext cx="1428019" cy="1428019"/>
            </a:xfrm>
            <a:prstGeom prst="rect">
              <a:avLst/>
            </a:prstGeom>
          </p:spPr>
        </p:pic>
      </p:grpSp>
      <p:grpSp>
        <p:nvGrpSpPr>
          <p:cNvPr id="67" name="그룹 66"/>
          <p:cNvGrpSpPr/>
          <p:nvPr/>
        </p:nvGrpSpPr>
        <p:grpSpPr>
          <a:xfrm rot="20306595">
            <a:off x="10624080" y="4282562"/>
            <a:ext cx="759741" cy="759741"/>
            <a:chOff x="7234606" y="2818164"/>
            <a:chExt cx="1299384" cy="1299384"/>
          </a:xfrm>
          <a:effectLst>
            <a:outerShdw blurRad="50800" dist="50800" dir="5400000" algn="ctr" rotWithShape="0">
              <a:srgbClr val="000000">
                <a:alpha val="99000"/>
              </a:srgbClr>
            </a:outerShdw>
          </a:effectLst>
        </p:grpSpPr>
        <p:sp>
          <p:nvSpPr>
            <p:cNvPr id="68" name="타원 67"/>
            <p:cNvSpPr/>
            <p:nvPr/>
          </p:nvSpPr>
          <p:spPr>
            <a:xfrm>
              <a:off x="7234606" y="2818164"/>
              <a:ext cx="1299384" cy="129938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9" name="그림 68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068018">
              <a:off x="7348859" y="2906585"/>
              <a:ext cx="1028390" cy="1028390"/>
            </a:xfrm>
            <a:prstGeom prst="rect">
              <a:avLst/>
            </a:prstGeom>
          </p:spPr>
        </p:pic>
      </p:grpSp>
      <p:grpSp>
        <p:nvGrpSpPr>
          <p:cNvPr id="70" name="그룹 69"/>
          <p:cNvGrpSpPr/>
          <p:nvPr/>
        </p:nvGrpSpPr>
        <p:grpSpPr>
          <a:xfrm>
            <a:off x="10452677" y="43225"/>
            <a:ext cx="1384615" cy="1421211"/>
            <a:chOff x="6525279" y="4005131"/>
            <a:chExt cx="1384615" cy="1421211"/>
          </a:xfrm>
          <a:effectLst>
            <a:outerShdw blurRad="50800" dist="50800" dir="5400000" algn="ctr" rotWithShape="0">
              <a:srgbClr val="000000">
                <a:alpha val="99000"/>
              </a:srgbClr>
            </a:outerShdw>
          </a:effectLst>
        </p:grpSpPr>
        <p:sp>
          <p:nvSpPr>
            <p:cNvPr id="71" name="타원 70"/>
            <p:cNvSpPr/>
            <p:nvPr/>
          </p:nvSpPr>
          <p:spPr>
            <a:xfrm rot="20906056">
              <a:off x="6536395" y="4005131"/>
              <a:ext cx="1373499" cy="142121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2" name="그룹 71"/>
            <p:cNvGrpSpPr/>
            <p:nvPr/>
          </p:nvGrpSpPr>
          <p:grpSpPr>
            <a:xfrm rot="21039598">
              <a:off x="6525279" y="4253758"/>
              <a:ext cx="1271708" cy="937561"/>
              <a:chOff x="8426887" y="595056"/>
              <a:chExt cx="1484025" cy="1094091"/>
            </a:xfrm>
          </p:grpSpPr>
          <p:pic>
            <p:nvPicPr>
              <p:cNvPr id="73" name="그림 72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26887" y="595056"/>
                <a:ext cx="965288" cy="965288"/>
              </a:xfrm>
              <a:prstGeom prst="rect">
                <a:avLst/>
              </a:prstGeom>
            </p:spPr>
          </p:pic>
          <p:pic>
            <p:nvPicPr>
              <p:cNvPr id="74" name="그림 73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07929" y="644056"/>
                <a:ext cx="702983" cy="702983"/>
              </a:xfrm>
              <a:prstGeom prst="rect">
                <a:avLst/>
              </a:prstGeom>
            </p:spPr>
          </p:pic>
          <p:pic>
            <p:nvPicPr>
              <p:cNvPr id="75" name="그림 74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85081" y="1318496"/>
                <a:ext cx="370651" cy="370651"/>
              </a:xfrm>
              <a:prstGeom prst="rect">
                <a:avLst/>
              </a:prstGeom>
            </p:spPr>
          </p:pic>
        </p:grpSp>
      </p:grpSp>
      <p:pic>
        <p:nvPicPr>
          <p:cNvPr id="76" name="그림 75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866"/>
          <a:stretch/>
        </p:blipFill>
        <p:spPr>
          <a:xfrm>
            <a:off x="9530105" y="5088077"/>
            <a:ext cx="2307788" cy="1780083"/>
          </a:xfrm>
          <a:prstGeom prst="rect">
            <a:avLst/>
          </a:prstGeom>
        </p:spPr>
      </p:pic>
      <p:cxnSp>
        <p:nvCxnSpPr>
          <p:cNvPr id="78" name="직선 연결선 77"/>
          <p:cNvCxnSpPr/>
          <p:nvPr/>
        </p:nvCxnSpPr>
        <p:spPr>
          <a:xfrm>
            <a:off x="3367206" y="1896411"/>
            <a:ext cx="49784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/>
          <p:cNvCxnSpPr/>
          <p:nvPr/>
        </p:nvCxnSpPr>
        <p:spPr>
          <a:xfrm>
            <a:off x="3377366" y="3048733"/>
            <a:ext cx="49784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157D04D-67E5-41EA-95DA-C4B2AA7A093E}"/>
              </a:ext>
            </a:extLst>
          </p:cNvPr>
          <p:cNvSpPr txBox="1"/>
          <p:nvPr/>
        </p:nvSpPr>
        <p:spPr>
          <a:xfrm>
            <a:off x="4167752" y="1505866"/>
            <a:ext cx="1747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rPr>
              <a:t>기술 통계</a:t>
            </a:r>
            <a:endParaRPr lang="ko-KR" altLang="en-US" sz="2800" b="1" dirty="0">
              <a:solidFill>
                <a:schemeClr val="bg2">
                  <a:lumMod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FC9D83-E76C-A9BC-9C9A-67877D3308C6}"/>
              </a:ext>
            </a:extLst>
          </p:cNvPr>
          <p:cNvSpPr txBox="1"/>
          <p:nvPr/>
        </p:nvSpPr>
        <p:spPr>
          <a:xfrm>
            <a:off x="4214214" y="2593229"/>
            <a:ext cx="1747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rPr>
              <a:t>추론 통계</a:t>
            </a:r>
          </a:p>
        </p:txBody>
      </p:sp>
    </p:spTree>
    <p:extLst>
      <p:ext uri="{BB962C8B-B14F-4D97-AF65-F5344CB8AC3E}">
        <p14:creationId xmlns:p14="http://schemas.microsoft.com/office/powerpoint/2010/main" val="1502462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422640" y="0"/>
            <a:ext cx="3494867" cy="64479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1300" dirty="0">
                <a:solidFill>
                  <a:schemeClr val="accent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endParaRPr lang="ko-KR" altLang="en-US" sz="41300" dirty="0">
              <a:solidFill>
                <a:schemeClr val="accent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3394385" y="2666409"/>
            <a:ext cx="4196080" cy="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>
            <a:cxnSpLocks/>
          </p:cNvCxnSpPr>
          <p:nvPr/>
        </p:nvCxnSpPr>
        <p:spPr>
          <a:xfrm>
            <a:off x="3225101" y="5070548"/>
            <a:ext cx="5055772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768303" y="1968353"/>
            <a:ext cx="35157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기술통계</a:t>
            </a:r>
            <a:r>
              <a:rPr lang="en-US" altLang="ko-KR" sz="3200" b="1" dirty="0"/>
              <a:t> - </a:t>
            </a:r>
            <a:r>
              <a:rPr lang="ko-KR" altLang="en-US" sz="3200" b="1" dirty="0"/>
              <a:t>파이썬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0216" y="3015320"/>
            <a:ext cx="776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u="sng" dirty="0">
                <a:solidFill>
                  <a:schemeClr val="bg2">
                    <a:lumMod val="25000"/>
                  </a:schemeClr>
                </a:solidFill>
              </a:rPr>
              <a:t>001</a:t>
            </a:r>
            <a:endParaRPr lang="ko-KR" altLang="en-US" sz="28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380216" y="3826279"/>
            <a:ext cx="776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u="sn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002</a:t>
            </a:r>
            <a:endParaRPr lang="ko-KR" altLang="en-US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75748B-980D-5894-188D-8EB2BDB640D7}"/>
              </a:ext>
            </a:extLst>
          </p:cNvPr>
          <p:cNvSpPr txBox="1"/>
          <p:nvPr/>
        </p:nvSpPr>
        <p:spPr>
          <a:xfrm>
            <a:off x="3369515" y="4554743"/>
            <a:ext cx="776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u="sn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003</a:t>
            </a:r>
            <a:endParaRPr lang="ko-KR" altLang="en-US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1816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E3D61-ACB2-9ED4-81B6-A536728CC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BEA8330-9545-BBA2-4795-5172398D11B0}"/>
              </a:ext>
            </a:extLst>
          </p:cNvPr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01EA795-2086-373D-1DB6-375A3D3B529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6303409-8849-282E-5996-BF840639F70E}"/>
              </a:ext>
            </a:extLst>
          </p:cNvPr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31B8B70-7350-8623-10C0-0767EA84D4A2}"/>
              </a:ext>
            </a:extLst>
          </p:cNvPr>
          <p:cNvSpPr txBox="1"/>
          <p:nvPr/>
        </p:nvSpPr>
        <p:spPr>
          <a:xfrm>
            <a:off x="1473199" y="375920"/>
            <a:ext cx="76255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기술 </a:t>
            </a:r>
            <a:r>
              <a:rPr lang="ko-KR" altLang="en-US" sz="36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통계란</a:t>
            </a:r>
            <a:r>
              <a:rPr lang="en-US" altLang="ko-KR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?(Descriptive</a:t>
            </a:r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Statistics)</a:t>
            </a:r>
            <a:endParaRPr lang="ko-KR" altLang="en-US" sz="36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FE54781-062A-5C91-591B-320EFA2A13B9}"/>
              </a:ext>
            </a:extLst>
          </p:cNvPr>
          <p:cNvCxnSpPr/>
          <p:nvPr/>
        </p:nvCxnSpPr>
        <p:spPr>
          <a:xfrm>
            <a:off x="504406" y="5821679"/>
            <a:ext cx="419741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5DCF396-EC19-068C-5174-BA388A5E0CF3}"/>
              </a:ext>
            </a:extLst>
          </p:cNvPr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1416DE99-6B86-B464-A695-B4271B3DDA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A08099A3-FA0E-CB38-FB99-4A1B094A9FF6}"/>
                </a:ext>
              </a:extLst>
            </p:cNvPr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모서리가 둥근 직사각형 12">
            <a:extLst>
              <a:ext uri="{FF2B5EF4-FFF2-40B4-BE49-F238E27FC236}">
                <a16:creationId xmlns:a16="http://schemas.microsoft.com/office/drawing/2014/main" id="{5A76EC2B-FE85-1561-DA25-3AFE845E8FBD}"/>
              </a:ext>
            </a:extLst>
          </p:cNvPr>
          <p:cNvSpPr/>
          <p:nvPr/>
        </p:nvSpPr>
        <p:spPr>
          <a:xfrm>
            <a:off x="538758" y="2661366"/>
            <a:ext cx="3969868" cy="2316681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모서리가 둥근 직사각형 7">
            <a:extLst>
              <a:ext uri="{FF2B5EF4-FFF2-40B4-BE49-F238E27FC236}">
                <a16:creationId xmlns:a16="http://schemas.microsoft.com/office/drawing/2014/main" id="{E1BF46EB-E89A-5FF6-2977-0B10EB229D06}"/>
              </a:ext>
            </a:extLst>
          </p:cNvPr>
          <p:cNvSpPr/>
          <p:nvPr/>
        </p:nvSpPr>
        <p:spPr>
          <a:xfrm>
            <a:off x="355878" y="2529286"/>
            <a:ext cx="3969868" cy="2316681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71476" marR="0" lvl="2" indent="-135728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E8456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-apple-system"/>
                <a:ea typeface="맑은 고딕" panose="020B0503020000020004" pitchFamily="50" charset="-127"/>
              </a:rPr>
              <a:t>수집된 </a:t>
            </a:r>
            <a:r>
              <a:rPr lang="ko-KR" altLang="en-US" sz="2000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-apple-system"/>
                <a:ea typeface="맑은 고딕" panose="020B0503020000020004" pitchFamily="50" charset="-127"/>
              </a:rPr>
              <a:t>테이터를</a:t>
            </a:r>
            <a:r>
              <a:rPr lang="ko-KR" altLang="en-US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-apple-system"/>
                <a:ea typeface="맑은 고딕" panose="020B0503020000020004" pitchFamily="50" charset="-127"/>
              </a:rPr>
              <a:t> 정리</a:t>
            </a:r>
            <a:r>
              <a:rPr lang="en-US" altLang="ko-KR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-apple-system"/>
                <a:ea typeface="맑은 고딕" panose="020B0503020000020004" pitchFamily="50" charset="-127"/>
              </a:rPr>
              <a:t>.</a:t>
            </a:r>
            <a:r>
              <a:rPr lang="ko-KR" altLang="en-US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-apple-system"/>
                <a:ea typeface="맑은 고딕" panose="020B0503020000020004" pitchFamily="50" charset="-127"/>
              </a:rPr>
              <a:t>요약</a:t>
            </a:r>
            <a:r>
              <a:rPr lang="en-US" altLang="ko-KR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-apple-system"/>
                <a:ea typeface="맑은 고딕" panose="020B0503020000020004" pitchFamily="50" charset="-127"/>
              </a:rPr>
              <a:t>.</a:t>
            </a:r>
            <a:r>
              <a:rPr lang="ko-KR" altLang="en-US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-apple-system"/>
                <a:ea typeface="맑은 고딕" panose="020B0503020000020004" pitchFamily="50" charset="-127"/>
              </a:rPr>
              <a:t> 설명하는 통계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98C63574-301F-CF62-CE74-335CC1F8B83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31839"/>
            <a:ext cx="12192000" cy="1026161"/>
          </a:xfrm>
          <a:prstGeom prst="rect">
            <a:avLst/>
          </a:prstGeom>
        </p:spPr>
      </p:pic>
      <p:pic>
        <p:nvPicPr>
          <p:cNvPr id="1026" name="Picture 2" descr="통계분석의 분분류">
            <a:extLst>
              <a:ext uri="{FF2B5EF4-FFF2-40B4-BE49-F238E27FC236}">
                <a16:creationId xmlns:a16="http://schemas.microsoft.com/office/drawing/2014/main" id="{5EB18066-9D5D-AF54-FACE-19245A22D3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4796" y="1675494"/>
            <a:ext cx="6310558" cy="4369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3746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2A317-91B7-92AE-F46F-D84F70C08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06983E1-A622-A33C-D3BF-630F4632CD66}"/>
              </a:ext>
            </a:extLst>
          </p:cNvPr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30974A6-2A98-0E34-B61E-33195D5633B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873E1FD-F747-6C3B-1634-F190E63C0912}"/>
              </a:ext>
            </a:extLst>
          </p:cNvPr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41D7ED3-68BF-7219-4519-BE7EDEC9039F}"/>
              </a:ext>
            </a:extLst>
          </p:cNvPr>
          <p:cNvSpPr txBox="1"/>
          <p:nvPr/>
        </p:nvSpPr>
        <p:spPr>
          <a:xfrm>
            <a:off x="1473199" y="375920"/>
            <a:ext cx="76255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기술 통계 예제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79CAC60A-A694-DD09-590C-96FD5F7E2913}"/>
              </a:ext>
            </a:extLst>
          </p:cNvPr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DDF1C95A-008F-618A-CCC3-9001D07D2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99030231-0D80-48A1-733D-4B73E4F75FF9}"/>
                </a:ext>
              </a:extLst>
            </p:cNvPr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모서리가 둥근 직사각형 12">
            <a:extLst>
              <a:ext uri="{FF2B5EF4-FFF2-40B4-BE49-F238E27FC236}">
                <a16:creationId xmlns:a16="http://schemas.microsoft.com/office/drawing/2014/main" id="{7B59B7E3-6FDB-0BF8-F204-097E9A19CB7F}"/>
              </a:ext>
            </a:extLst>
          </p:cNvPr>
          <p:cNvSpPr/>
          <p:nvPr/>
        </p:nvSpPr>
        <p:spPr>
          <a:xfrm>
            <a:off x="773346" y="1820903"/>
            <a:ext cx="4676839" cy="605073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모서리가 둥근 직사각형 7">
            <a:extLst>
              <a:ext uri="{FF2B5EF4-FFF2-40B4-BE49-F238E27FC236}">
                <a16:creationId xmlns:a16="http://schemas.microsoft.com/office/drawing/2014/main" id="{0EFCAECF-EEDF-0C04-FD80-6F5A09AB2C4F}"/>
              </a:ext>
            </a:extLst>
          </p:cNvPr>
          <p:cNvSpPr/>
          <p:nvPr/>
        </p:nvSpPr>
        <p:spPr>
          <a:xfrm>
            <a:off x="590466" y="1688823"/>
            <a:ext cx="4676839" cy="605073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71476" lvl="2" indent="-135728" eaLnBrk="0" fontAlgn="base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E84560"/>
              </a:buClr>
              <a:buFont typeface="Arial" panose="020B0604020202020204" pitchFamily="34" charset="0"/>
              <a:buChar char="•"/>
              <a:defRPr/>
            </a:pPr>
            <a:r>
              <a:rPr lang="en-US" altLang="ko-KR" sz="20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scores = [80, 90, 70, 100, 85]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E537607F-C25E-72BE-71D8-DF8EF8829DF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31839"/>
            <a:ext cx="12192000" cy="1026161"/>
          </a:xfrm>
          <a:prstGeom prst="rect">
            <a:avLst/>
          </a:prstGeom>
        </p:spPr>
      </p:pic>
      <p:sp>
        <p:nvSpPr>
          <p:cNvPr id="7" name="모서리가 둥근 직사각형 12">
            <a:extLst>
              <a:ext uri="{FF2B5EF4-FFF2-40B4-BE49-F238E27FC236}">
                <a16:creationId xmlns:a16="http://schemas.microsoft.com/office/drawing/2014/main" id="{E03090A6-F677-EAA1-6B8D-8A17996D7846}"/>
              </a:ext>
            </a:extLst>
          </p:cNvPr>
          <p:cNvSpPr/>
          <p:nvPr/>
        </p:nvSpPr>
        <p:spPr>
          <a:xfrm>
            <a:off x="773346" y="3047999"/>
            <a:ext cx="3717172" cy="1794949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모서리가 둥근 직사각형 7">
            <a:extLst>
              <a:ext uri="{FF2B5EF4-FFF2-40B4-BE49-F238E27FC236}">
                <a16:creationId xmlns:a16="http://schemas.microsoft.com/office/drawing/2014/main" id="{3FB07B68-AA57-A8AD-38D1-63A0C92BDEBA}"/>
              </a:ext>
            </a:extLst>
          </p:cNvPr>
          <p:cNvSpPr/>
          <p:nvPr/>
        </p:nvSpPr>
        <p:spPr>
          <a:xfrm>
            <a:off x="590466" y="2915919"/>
            <a:ext cx="3717172" cy="1794949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Tx/>
              <a:buChar char="-"/>
            </a:pPr>
            <a:r>
              <a:rPr lang="ko-KR" altLang="ko-KR" dirty="0">
                <a:solidFill>
                  <a:schemeClr val="tx1"/>
                </a:solidFill>
              </a:rPr>
              <a:t>질문</a:t>
            </a:r>
            <a:endParaRPr lang="en-US" altLang="ko-KR" dirty="0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endParaRPr lang="ko-KR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- </a:t>
            </a:r>
            <a:r>
              <a:rPr lang="ko-KR" altLang="ko-KR" dirty="0">
                <a:solidFill>
                  <a:schemeClr val="tx1"/>
                </a:solidFill>
              </a:rPr>
              <a:t>평균은? </a:t>
            </a:r>
          </a:p>
          <a:p>
            <a:r>
              <a:rPr lang="en-US" altLang="ko-KR" dirty="0">
                <a:solidFill>
                  <a:schemeClr val="tx1"/>
                </a:solidFill>
              </a:rPr>
              <a:t>- </a:t>
            </a:r>
            <a:r>
              <a:rPr lang="ko-KR" altLang="ko-KR" dirty="0">
                <a:solidFill>
                  <a:schemeClr val="tx1"/>
                </a:solidFill>
              </a:rPr>
              <a:t>최고점은? </a:t>
            </a:r>
          </a:p>
          <a:p>
            <a:r>
              <a:rPr lang="en-US" altLang="ko-KR" dirty="0">
                <a:solidFill>
                  <a:schemeClr val="tx1"/>
                </a:solidFill>
              </a:rPr>
              <a:t>- </a:t>
            </a:r>
            <a:r>
              <a:rPr lang="ko-KR" altLang="ko-KR" dirty="0">
                <a:solidFill>
                  <a:schemeClr val="tx1"/>
                </a:solidFill>
              </a:rPr>
              <a:t>점수가 얼마나 퍼져 있는가?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6ED16A-228A-96BF-6608-856BA57E6685}"/>
              </a:ext>
            </a:extLst>
          </p:cNvPr>
          <p:cNvSpPr txBox="1"/>
          <p:nvPr/>
        </p:nvSpPr>
        <p:spPr>
          <a:xfrm>
            <a:off x="5719499" y="2520731"/>
            <a:ext cx="6151828" cy="258532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 err="1"/>
              <a:t>import</a:t>
            </a:r>
            <a:r>
              <a:rPr lang="ko-KR" altLang="en-US" dirty="0"/>
              <a:t> </a:t>
            </a:r>
            <a:r>
              <a:rPr lang="ko-KR" altLang="en-US" dirty="0" err="1"/>
              <a:t>numpy</a:t>
            </a:r>
            <a:r>
              <a:rPr lang="ko-KR" altLang="en-US" dirty="0"/>
              <a:t> </a:t>
            </a:r>
            <a:r>
              <a:rPr lang="ko-KR" altLang="en-US" dirty="0" err="1"/>
              <a:t>as</a:t>
            </a:r>
            <a:r>
              <a:rPr lang="ko-KR" altLang="en-US" dirty="0"/>
              <a:t> </a:t>
            </a:r>
            <a:r>
              <a:rPr lang="ko-KR" altLang="en-US" dirty="0" err="1"/>
              <a:t>np</a:t>
            </a:r>
            <a:endParaRPr lang="ko-KR" altLang="en-US" dirty="0"/>
          </a:p>
          <a:p>
            <a:endParaRPr lang="ko-KR" altLang="en-US" dirty="0"/>
          </a:p>
          <a:p>
            <a:r>
              <a:rPr lang="ko-KR" altLang="en-US" dirty="0" err="1"/>
              <a:t>scores</a:t>
            </a:r>
            <a:r>
              <a:rPr lang="ko-KR" altLang="en-US" dirty="0"/>
              <a:t> = </a:t>
            </a:r>
            <a:r>
              <a:rPr lang="ko-KR" altLang="en-US" dirty="0" err="1"/>
              <a:t>np.array</a:t>
            </a:r>
            <a:r>
              <a:rPr lang="ko-KR" altLang="en-US" dirty="0"/>
              <a:t>([80,90,70,100,85])</a:t>
            </a:r>
          </a:p>
          <a:p>
            <a:endParaRPr lang="ko-KR" altLang="en-US" dirty="0"/>
          </a:p>
          <a:p>
            <a:r>
              <a:rPr lang="ko-KR" altLang="en-US" dirty="0" err="1"/>
              <a:t>print</a:t>
            </a:r>
            <a:r>
              <a:rPr lang="ko-KR" altLang="en-US" dirty="0"/>
              <a:t>("평균:", </a:t>
            </a:r>
            <a:r>
              <a:rPr lang="ko-KR" altLang="en-US" dirty="0" err="1"/>
              <a:t>scores.mean</a:t>
            </a:r>
            <a:r>
              <a:rPr lang="ko-KR" altLang="en-US" dirty="0"/>
              <a:t>())</a:t>
            </a:r>
          </a:p>
          <a:p>
            <a:r>
              <a:rPr lang="ko-KR" altLang="en-US" dirty="0" err="1"/>
              <a:t>print</a:t>
            </a:r>
            <a:r>
              <a:rPr lang="ko-KR" altLang="en-US" dirty="0"/>
              <a:t>("중앙값:", </a:t>
            </a:r>
            <a:r>
              <a:rPr lang="ko-KR" altLang="en-US" dirty="0" err="1"/>
              <a:t>np.median</a:t>
            </a:r>
            <a:r>
              <a:rPr lang="ko-KR" altLang="en-US" dirty="0"/>
              <a:t>(</a:t>
            </a:r>
            <a:r>
              <a:rPr lang="ko-KR" altLang="en-US" dirty="0" err="1"/>
              <a:t>scores</a:t>
            </a:r>
            <a:r>
              <a:rPr lang="ko-KR" altLang="en-US" dirty="0"/>
              <a:t>))</a:t>
            </a:r>
          </a:p>
          <a:p>
            <a:r>
              <a:rPr lang="ko-KR" altLang="en-US" dirty="0" err="1"/>
              <a:t>print</a:t>
            </a:r>
            <a:r>
              <a:rPr lang="ko-KR" altLang="en-US" dirty="0"/>
              <a:t>("최대:", </a:t>
            </a:r>
            <a:r>
              <a:rPr lang="ko-KR" altLang="en-US" dirty="0" err="1"/>
              <a:t>scores.max</a:t>
            </a:r>
            <a:r>
              <a:rPr lang="ko-KR" altLang="en-US" dirty="0"/>
              <a:t>())</a:t>
            </a:r>
          </a:p>
          <a:p>
            <a:r>
              <a:rPr lang="ko-KR" altLang="en-US" dirty="0" err="1"/>
              <a:t>print</a:t>
            </a:r>
            <a:r>
              <a:rPr lang="ko-KR" altLang="en-US" dirty="0"/>
              <a:t>("최소:", </a:t>
            </a:r>
            <a:r>
              <a:rPr lang="ko-KR" altLang="en-US" dirty="0" err="1"/>
              <a:t>scores.min</a:t>
            </a:r>
            <a:r>
              <a:rPr lang="ko-KR" altLang="en-US" dirty="0"/>
              <a:t>())</a:t>
            </a:r>
          </a:p>
          <a:p>
            <a:r>
              <a:rPr lang="ko-KR" altLang="en-US" dirty="0" err="1"/>
              <a:t>print</a:t>
            </a:r>
            <a:r>
              <a:rPr lang="ko-KR" altLang="en-US" dirty="0"/>
              <a:t>("표준편차:", </a:t>
            </a:r>
            <a:r>
              <a:rPr lang="ko-KR" altLang="en-US" dirty="0" err="1"/>
              <a:t>scores.std</a:t>
            </a:r>
            <a:r>
              <a:rPr lang="ko-KR" altLang="en-US" dirty="0"/>
              <a:t>())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3D4960-01C5-A515-6BFB-C9713ADDB638}"/>
              </a:ext>
            </a:extLst>
          </p:cNvPr>
          <p:cNvSpPr txBox="1"/>
          <p:nvPr/>
        </p:nvSpPr>
        <p:spPr>
          <a:xfrm>
            <a:off x="5719499" y="5427394"/>
            <a:ext cx="3870268" cy="64633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dirty="0"/>
              <a:t>이 학생 집단 자체를 설명</a:t>
            </a:r>
            <a:r>
              <a:rPr lang="en-US" altLang="ko-KR" dirty="0"/>
              <a:t> </a:t>
            </a:r>
            <a:r>
              <a:rPr lang="ko-KR" altLang="ko-KR" dirty="0"/>
              <a:t>하는 것.</a:t>
            </a:r>
          </a:p>
          <a:p>
            <a:pPr>
              <a:buNone/>
            </a:pPr>
            <a:r>
              <a:rPr lang="ko-KR" altLang="ko-KR" dirty="0"/>
              <a:t>새로운 학생을 예측하지</a:t>
            </a:r>
            <a:r>
              <a:rPr lang="en-US" altLang="ko-KR" dirty="0"/>
              <a:t> </a:t>
            </a:r>
            <a:r>
              <a:rPr lang="ko-KR" altLang="en-US" dirty="0"/>
              <a:t>않음</a:t>
            </a:r>
            <a:r>
              <a:rPr lang="ko-KR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18924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199" y="375920"/>
            <a:ext cx="54060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추론 통계 목표</a:t>
            </a:r>
          </a:p>
        </p:txBody>
      </p:sp>
      <p:cxnSp>
        <p:nvCxnSpPr>
          <p:cNvPr id="12" name="직선 연결선 11"/>
          <p:cNvCxnSpPr/>
          <p:nvPr/>
        </p:nvCxnSpPr>
        <p:spPr>
          <a:xfrm>
            <a:off x="504406" y="5821679"/>
            <a:ext cx="419741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그룹 20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모서리가 둥근 직사각형 13">
            <a:extLst>
              <a:ext uri="{FF2B5EF4-FFF2-40B4-BE49-F238E27FC236}">
                <a16:creationId xmlns:a16="http://schemas.microsoft.com/office/drawing/2014/main" id="{B6B754FE-C67E-A390-8963-9067367CC0C2}"/>
              </a:ext>
            </a:extLst>
          </p:cNvPr>
          <p:cNvSpPr/>
          <p:nvPr/>
        </p:nvSpPr>
        <p:spPr>
          <a:xfrm>
            <a:off x="6484775" y="2370391"/>
            <a:ext cx="5535335" cy="2737602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모서리가 둥근 직사각형 12">
            <a:extLst>
              <a:ext uri="{FF2B5EF4-FFF2-40B4-BE49-F238E27FC236}">
                <a16:creationId xmlns:a16="http://schemas.microsoft.com/office/drawing/2014/main" id="{ED16A17F-A431-FB06-1CA1-80B1837DCE07}"/>
              </a:ext>
            </a:extLst>
          </p:cNvPr>
          <p:cNvSpPr/>
          <p:nvPr/>
        </p:nvSpPr>
        <p:spPr>
          <a:xfrm>
            <a:off x="574972" y="2336800"/>
            <a:ext cx="5060718" cy="2737602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모서리가 둥근 직사각형 7">
            <a:extLst>
              <a:ext uri="{FF2B5EF4-FFF2-40B4-BE49-F238E27FC236}">
                <a16:creationId xmlns:a16="http://schemas.microsoft.com/office/drawing/2014/main" id="{301599C8-366C-E331-94E8-81F54D0E413C}"/>
              </a:ext>
            </a:extLst>
          </p:cNvPr>
          <p:cNvSpPr/>
          <p:nvPr/>
        </p:nvSpPr>
        <p:spPr>
          <a:xfrm>
            <a:off x="392092" y="2204720"/>
            <a:ext cx="5060718" cy="2737602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71476" lvl="2" indent="-135728" eaLnBrk="0" fontAlgn="base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E84560"/>
              </a:buClr>
              <a:buFont typeface="Arial" panose="020B0604020202020204" pitchFamily="34" charset="0"/>
              <a:buChar char="•"/>
              <a:defRPr/>
            </a:pPr>
            <a:r>
              <a:rPr lang="ko-KR" altLang="ko-KR" sz="2000" dirty="0">
                <a:solidFill>
                  <a:schemeClr val="tx1"/>
                </a:solidFill>
                <a:highlight>
                  <a:srgbClr val="FFFFFF"/>
                </a:highlight>
              </a:rPr>
              <a:t>일부 데이터를 이용해서 </a:t>
            </a:r>
            <a:r>
              <a:rPr lang="ko-KR" altLang="ko-KR" sz="2000" b="1" dirty="0">
                <a:solidFill>
                  <a:schemeClr val="tx1"/>
                </a:solidFill>
                <a:highlight>
                  <a:srgbClr val="FFFFFF"/>
                </a:highlight>
              </a:rPr>
              <a:t>전체 특성을 추정하는 통계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모서리가 둥근 직사각형 8">
            <a:extLst>
              <a:ext uri="{FF2B5EF4-FFF2-40B4-BE49-F238E27FC236}">
                <a16:creationId xmlns:a16="http://schemas.microsoft.com/office/drawing/2014/main" id="{C90D84B3-68C8-CBA8-E0C0-44519F778CCF}"/>
              </a:ext>
            </a:extLst>
          </p:cNvPr>
          <p:cNvSpPr/>
          <p:nvPr/>
        </p:nvSpPr>
        <p:spPr>
          <a:xfrm>
            <a:off x="6301895" y="2238311"/>
            <a:ext cx="5535335" cy="2737602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71476" marR="0" lvl="2" indent="-135728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E8456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목표 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471476" lvl="2" indent="-135728" eaLnBrk="0" fontAlgn="base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E84560"/>
              </a:buClr>
              <a:buFont typeface="Arial" panose="020B0604020202020204" pitchFamily="34" charset="0"/>
              <a:buChar char="•"/>
              <a:defRPr/>
            </a:pPr>
            <a:r>
              <a:rPr lang="ko-KR" altLang="ko-KR" sz="2000" dirty="0">
                <a:solidFill>
                  <a:schemeClr val="tx1"/>
                </a:solidFill>
              </a:rPr>
              <a:t>"표본 → 모집단 추론"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F22234D-0611-557C-8812-CE0D07B64CD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31839"/>
            <a:ext cx="12192000" cy="1026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614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E4F57-70B2-10ED-08DA-6F9FC6C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3BA530-8964-5757-2C1B-A6B83D1ABD1F}"/>
              </a:ext>
            </a:extLst>
          </p:cNvPr>
          <p:cNvSpPr txBox="1"/>
          <p:nvPr/>
        </p:nvSpPr>
        <p:spPr>
          <a:xfrm>
            <a:off x="8422640" y="0"/>
            <a:ext cx="3494867" cy="64479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1300" dirty="0">
                <a:solidFill>
                  <a:schemeClr val="accent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2</a:t>
            </a:r>
            <a:endParaRPr lang="ko-KR" altLang="en-US" sz="41300" dirty="0">
              <a:solidFill>
                <a:schemeClr val="accent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40C5E7C-CB79-9C1B-E45D-8DBB25C79268}"/>
              </a:ext>
            </a:extLst>
          </p:cNvPr>
          <p:cNvCxnSpPr/>
          <p:nvPr/>
        </p:nvCxnSpPr>
        <p:spPr>
          <a:xfrm>
            <a:off x="3394385" y="2666409"/>
            <a:ext cx="4196080" cy="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B0FCC6E-5458-9BC9-15C9-3F26947AED3C}"/>
              </a:ext>
            </a:extLst>
          </p:cNvPr>
          <p:cNvCxnSpPr>
            <a:cxnSpLocks/>
          </p:cNvCxnSpPr>
          <p:nvPr/>
        </p:nvCxnSpPr>
        <p:spPr>
          <a:xfrm>
            <a:off x="3225101" y="5070548"/>
            <a:ext cx="5055772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3D05F48-78F6-D677-D9D2-B619B0196589}"/>
              </a:ext>
            </a:extLst>
          </p:cNvPr>
          <p:cNvSpPr txBox="1"/>
          <p:nvPr/>
        </p:nvSpPr>
        <p:spPr>
          <a:xfrm>
            <a:off x="3768303" y="1968353"/>
            <a:ext cx="23807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평균의 이해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497C32-61B6-3915-3099-EA542E9CB5D2}"/>
              </a:ext>
            </a:extLst>
          </p:cNvPr>
          <p:cNvSpPr txBox="1"/>
          <p:nvPr/>
        </p:nvSpPr>
        <p:spPr>
          <a:xfrm>
            <a:off x="3380216" y="3015320"/>
            <a:ext cx="776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u="sng" dirty="0">
                <a:solidFill>
                  <a:schemeClr val="bg2">
                    <a:lumMod val="25000"/>
                  </a:schemeClr>
                </a:solidFill>
              </a:rPr>
              <a:t>001</a:t>
            </a:r>
            <a:endParaRPr lang="ko-KR" altLang="en-US" sz="28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67E464-F202-9978-1B11-01C7B84DDC0F}"/>
              </a:ext>
            </a:extLst>
          </p:cNvPr>
          <p:cNvSpPr txBox="1"/>
          <p:nvPr/>
        </p:nvSpPr>
        <p:spPr>
          <a:xfrm>
            <a:off x="3380216" y="3826279"/>
            <a:ext cx="776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u="sn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002</a:t>
            </a:r>
            <a:endParaRPr lang="ko-KR" altLang="en-US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207082-9566-503F-5F27-A8348A2F2046}"/>
              </a:ext>
            </a:extLst>
          </p:cNvPr>
          <p:cNvSpPr txBox="1"/>
          <p:nvPr/>
        </p:nvSpPr>
        <p:spPr>
          <a:xfrm>
            <a:off x="3369515" y="4554743"/>
            <a:ext cx="776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u="sn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003</a:t>
            </a:r>
            <a:endParaRPr lang="ko-KR" altLang="en-US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6419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0C11F-F7D7-101D-A073-764694331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AC4A07F-0A3A-5DCB-9B6D-782E300346E1}"/>
              </a:ext>
            </a:extLst>
          </p:cNvPr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5B11BBB-C272-DB87-0E4A-9A20C29DF70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1BB6D80-CA32-B302-5A00-239E6E7DE15E}"/>
              </a:ext>
            </a:extLst>
          </p:cNvPr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A1313FC-28CE-4447-D927-16BCCC0D55ED}"/>
              </a:ext>
            </a:extLst>
          </p:cNvPr>
          <p:cNvSpPr txBox="1"/>
          <p:nvPr/>
        </p:nvSpPr>
        <p:spPr>
          <a:xfrm>
            <a:off x="1473199" y="375920"/>
            <a:ext cx="54060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평균의 이해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39DF2E90-236B-B557-B5B3-5FDEAABF912B}"/>
              </a:ext>
            </a:extLst>
          </p:cNvPr>
          <p:cNvCxnSpPr/>
          <p:nvPr/>
        </p:nvCxnSpPr>
        <p:spPr>
          <a:xfrm>
            <a:off x="504406" y="5821679"/>
            <a:ext cx="419741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6D63E830-3665-FC33-2C97-F4C177225A85}"/>
              </a:ext>
            </a:extLst>
          </p:cNvPr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1C3802A5-B7A5-3D0F-4F66-0F69FB73BE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2FAC4C89-804D-801F-948E-3879608CC715}"/>
                </a:ext>
              </a:extLst>
            </p:cNvPr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모서리가 둥근 직사각형 12">
            <a:extLst>
              <a:ext uri="{FF2B5EF4-FFF2-40B4-BE49-F238E27FC236}">
                <a16:creationId xmlns:a16="http://schemas.microsoft.com/office/drawing/2014/main" id="{6F032CB8-FE43-3CEA-34DA-0A95E764E975}"/>
              </a:ext>
            </a:extLst>
          </p:cNvPr>
          <p:cNvSpPr/>
          <p:nvPr/>
        </p:nvSpPr>
        <p:spPr>
          <a:xfrm>
            <a:off x="321766" y="2367281"/>
            <a:ext cx="5535335" cy="2771181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모서리가 둥근 직사각형 7">
            <a:extLst>
              <a:ext uri="{FF2B5EF4-FFF2-40B4-BE49-F238E27FC236}">
                <a16:creationId xmlns:a16="http://schemas.microsoft.com/office/drawing/2014/main" id="{7CC7CE80-518A-C646-207D-A8D4A8A34537}"/>
              </a:ext>
            </a:extLst>
          </p:cNvPr>
          <p:cNvSpPr/>
          <p:nvPr/>
        </p:nvSpPr>
        <p:spPr>
          <a:xfrm>
            <a:off x="138886" y="2235201"/>
            <a:ext cx="5535335" cy="2771181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71476" lvl="2" indent="-135728" eaLnBrk="0" fontAlgn="base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E84560"/>
              </a:buClr>
              <a:buFont typeface="Arial" panose="020B0604020202020204" pitchFamily="34" charset="0"/>
              <a:buChar char="•"/>
              <a:defRPr/>
            </a:pPr>
            <a:r>
              <a:rPr lang="ko-KR" altLang="ko-KR" sz="2000" b="1" dirty="0">
                <a:solidFill>
                  <a:schemeClr val="tx1"/>
                </a:solidFill>
              </a:rPr>
              <a:t>전체 데이터를 대표하는 하나의 </a:t>
            </a:r>
            <a:r>
              <a:rPr lang="ko-KR" altLang="ko-KR" sz="2000" b="1" dirty="0" err="1">
                <a:solidFill>
                  <a:schemeClr val="tx1"/>
                </a:solidFill>
              </a:rPr>
              <a:t>중심값</a:t>
            </a:r>
            <a:br>
              <a:rPr lang="ko-KR" altLang="ko-KR" sz="2000" dirty="0">
                <a:solidFill>
                  <a:schemeClr val="tx1"/>
                </a:solidFill>
              </a:rPr>
            </a:br>
            <a:r>
              <a:rPr lang="ko-KR" altLang="ko-KR" sz="2000" dirty="0">
                <a:solidFill>
                  <a:schemeClr val="tx1"/>
                </a:solidFill>
              </a:rPr>
              <a:t>또는</a:t>
            </a:r>
            <a:br>
              <a:rPr lang="ko-KR" altLang="ko-KR" sz="2000" dirty="0">
                <a:solidFill>
                  <a:schemeClr val="tx1"/>
                </a:solidFill>
              </a:rPr>
            </a:br>
            <a:r>
              <a:rPr lang="ko-KR" altLang="ko-KR" sz="2000" b="1" dirty="0">
                <a:solidFill>
                  <a:schemeClr val="tx1"/>
                </a:solidFill>
              </a:rPr>
              <a:t>모든 값을 공평하게 나눈 결과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4C874763-63E6-EAB9-3007-52B1AC2ED45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31839"/>
            <a:ext cx="12192000" cy="1026161"/>
          </a:xfrm>
          <a:prstGeom prst="rect">
            <a:avLst/>
          </a:prstGeom>
        </p:spPr>
      </p:pic>
      <p:sp>
        <p:nvSpPr>
          <p:cNvPr id="6" name="모서리가 둥근 직사각형 12">
            <a:extLst>
              <a:ext uri="{FF2B5EF4-FFF2-40B4-BE49-F238E27FC236}">
                <a16:creationId xmlns:a16="http://schemas.microsoft.com/office/drawing/2014/main" id="{D1422D36-9019-E01D-519A-D1F24E37A069}"/>
              </a:ext>
            </a:extLst>
          </p:cNvPr>
          <p:cNvSpPr/>
          <p:nvPr/>
        </p:nvSpPr>
        <p:spPr>
          <a:xfrm>
            <a:off x="6227399" y="1717040"/>
            <a:ext cx="5750336" cy="4217728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모서리가 둥근 직사각형 7">
                <a:extLst>
                  <a:ext uri="{FF2B5EF4-FFF2-40B4-BE49-F238E27FC236}">
                    <a16:creationId xmlns:a16="http://schemas.microsoft.com/office/drawing/2014/main" id="{797267D4-199B-001C-0895-21E6F3AD8682}"/>
                  </a:ext>
                </a:extLst>
              </p:cNvPr>
              <p:cNvSpPr/>
              <p:nvPr/>
            </p:nvSpPr>
            <p:spPr>
              <a:xfrm>
                <a:off x="6044519" y="1584960"/>
                <a:ext cx="5750336" cy="4217728"/>
              </a:xfrm>
              <a:prstGeom prst="roundRect">
                <a:avLst/>
              </a:prstGeom>
              <a:solidFill>
                <a:schemeClr val="bg1"/>
              </a:solidFill>
              <a:ln w="19050" cmpd="sng"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ko-KR" b="1" dirty="0">
                    <a:solidFill>
                      <a:schemeClr val="tx1"/>
                    </a:solidFill>
                  </a:rPr>
                  <a:t>시험 점수 (왜 평균을 쓰는지)</a:t>
                </a:r>
              </a:p>
              <a:p>
                <a:endParaRPr lang="en-US" altLang="ko-KR" dirty="0">
                  <a:solidFill>
                    <a:schemeClr val="tx1"/>
                  </a:solidFill>
                </a:endParaRPr>
              </a:p>
              <a:p>
                <a:r>
                  <a:rPr lang="ko-KR" altLang="ko-KR" dirty="0">
                    <a:solidFill>
                      <a:schemeClr val="tx1"/>
                    </a:solidFill>
                  </a:rPr>
                  <a:t>학생 점수:</a:t>
                </a:r>
              </a:p>
              <a:p>
                <a:r>
                  <a:rPr lang="ko-KR" altLang="ko-KR" dirty="0">
                    <a:solidFill>
                      <a:schemeClr val="tx1"/>
                    </a:solidFill>
                  </a:rPr>
                  <a:t>80, 85, 90, 95, 100</a:t>
                </a:r>
              </a:p>
              <a:p>
                <a:r>
                  <a:rPr lang="ko-KR" altLang="ko-KR" dirty="0">
                    <a:solidFill>
                      <a:schemeClr val="tx1"/>
                    </a:solidFill>
                  </a:rPr>
                  <a:t>평균: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ko-KR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80+85+90+95+100</m:t>
                          </m:r>
                        </m:num>
                        <m:den>
                          <m:r>
                            <a:rPr lang="en-US" altLang="ko-KR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altLang="ko-KR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=90</m:t>
                      </m:r>
                    </m:oMath>
                  </m:oMathPara>
                </a14:m>
                <a:endParaRPr lang="en-US" altLang="ko-KR" dirty="0">
                  <a:solidFill>
                    <a:schemeClr val="tx1"/>
                  </a:solidFill>
                </a:endParaRPr>
              </a:p>
              <a:p>
                <a:r>
                  <a:rPr lang="ko-KR" altLang="ko-KR" dirty="0">
                    <a:solidFill>
                      <a:schemeClr val="tx1"/>
                    </a:solidFill>
                  </a:rPr>
                  <a:t>→ “이 반 학생의 실력을 한 숫자로 표현하면 대략 90점 수준”</a:t>
                </a:r>
                <a:endParaRPr lang="en-US" altLang="ko-KR" dirty="0">
                  <a:solidFill>
                    <a:schemeClr val="tx1"/>
                  </a:solidFill>
                </a:endParaRPr>
              </a:p>
              <a:p>
                <a:endParaRPr lang="ko-KR" altLang="ko-KR" dirty="0">
                  <a:solidFill>
                    <a:schemeClr val="tx1"/>
                  </a:solidFill>
                </a:endParaRPr>
              </a:p>
              <a:p>
                <a:r>
                  <a:rPr lang="ko-KR" altLang="ko-KR" dirty="0">
                    <a:solidFill>
                      <a:schemeClr val="tx1"/>
                    </a:solidFill>
                  </a:rPr>
                  <a:t>여기서 평균은 </a:t>
                </a:r>
                <a:r>
                  <a:rPr lang="ko-KR" altLang="ko-KR" b="1" dirty="0">
                    <a:solidFill>
                      <a:schemeClr val="tx1"/>
                    </a:solidFill>
                  </a:rPr>
                  <a:t>대표 선수 1명 뽑기</a:t>
                </a:r>
                <a:r>
                  <a:rPr lang="ko-KR" altLang="ko-KR" dirty="0">
                    <a:solidFill>
                      <a:schemeClr val="tx1"/>
                    </a:solidFill>
                  </a:rPr>
                  <a:t> 같은 느낌입니다.</a:t>
                </a:r>
              </a:p>
            </p:txBody>
          </p:sp>
        </mc:Choice>
        <mc:Fallback>
          <p:sp>
            <p:nvSpPr>
              <p:cNvPr id="9" name="모서리가 둥근 직사각형 7">
                <a:extLst>
                  <a:ext uri="{FF2B5EF4-FFF2-40B4-BE49-F238E27FC236}">
                    <a16:creationId xmlns:a16="http://schemas.microsoft.com/office/drawing/2014/main" id="{797267D4-199B-001C-0895-21E6F3AD86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4519" y="1584960"/>
                <a:ext cx="5750336" cy="4217728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19050" cmpd="sng">
                <a:prstDash val="dash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4962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D0660-F67F-C749-97AF-5319CDC22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5AF34AF-9FC1-754A-19DA-B5B69A487F90}"/>
              </a:ext>
            </a:extLst>
          </p:cNvPr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245B944-04D2-D14D-4ECD-3D5AED06AB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E056779-A3DB-A9A4-221B-6060A87E5BA3}"/>
              </a:ext>
            </a:extLst>
          </p:cNvPr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A370B4B-E091-9546-1104-E96D3E1FE7DD}"/>
              </a:ext>
            </a:extLst>
          </p:cNvPr>
          <p:cNvSpPr txBox="1"/>
          <p:nvPr/>
        </p:nvSpPr>
        <p:spPr>
          <a:xfrm>
            <a:off x="1473199" y="375920"/>
            <a:ext cx="54060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평균의 이해 </a:t>
            </a:r>
            <a:r>
              <a:rPr lang="en-US" altLang="ko-KR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- 2</a:t>
            </a:r>
            <a:endParaRPr lang="ko-KR" altLang="en-US" sz="36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A0C21D8-E67F-9D45-978F-6C6124791FDC}"/>
              </a:ext>
            </a:extLst>
          </p:cNvPr>
          <p:cNvCxnSpPr/>
          <p:nvPr/>
        </p:nvCxnSpPr>
        <p:spPr>
          <a:xfrm>
            <a:off x="504406" y="5821679"/>
            <a:ext cx="419741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DD629700-9F3B-98E7-F4B0-A1671CFCD79D}"/>
              </a:ext>
            </a:extLst>
          </p:cNvPr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229EC23A-95ED-87BA-4362-C021461FBC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51C38AAD-9314-0718-11B4-FDE148AAE8E1}"/>
                </a:ext>
              </a:extLst>
            </p:cNvPr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AA2562F6-D7E6-4CE9-1A56-30EB1260A26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31839"/>
            <a:ext cx="12192000" cy="1026161"/>
          </a:xfrm>
          <a:prstGeom prst="rect">
            <a:avLst/>
          </a:prstGeom>
        </p:spPr>
      </p:pic>
      <p:sp>
        <p:nvSpPr>
          <p:cNvPr id="6" name="모서리가 둥근 직사각형 12">
            <a:extLst>
              <a:ext uri="{FF2B5EF4-FFF2-40B4-BE49-F238E27FC236}">
                <a16:creationId xmlns:a16="http://schemas.microsoft.com/office/drawing/2014/main" id="{15EFB7FC-9D25-EFCD-2C17-EBEF0E6D75EB}"/>
              </a:ext>
            </a:extLst>
          </p:cNvPr>
          <p:cNvSpPr/>
          <p:nvPr/>
        </p:nvSpPr>
        <p:spPr>
          <a:xfrm>
            <a:off x="586274" y="1794411"/>
            <a:ext cx="5750336" cy="4217728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모서리가 둥근 직사각형 7">
                <a:extLst>
                  <a:ext uri="{FF2B5EF4-FFF2-40B4-BE49-F238E27FC236}">
                    <a16:creationId xmlns:a16="http://schemas.microsoft.com/office/drawing/2014/main" id="{77E8302B-9148-1331-1BFC-D8F3A3238F52}"/>
                  </a:ext>
                </a:extLst>
              </p:cNvPr>
              <p:cNvSpPr/>
              <p:nvPr/>
            </p:nvSpPr>
            <p:spPr>
              <a:xfrm>
                <a:off x="403394" y="1662331"/>
                <a:ext cx="5750336" cy="4217728"/>
              </a:xfrm>
              <a:prstGeom prst="roundRect">
                <a:avLst/>
              </a:prstGeom>
              <a:solidFill>
                <a:schemeClr val="bg1"/>
              </a:solidFill>
              <a:ln w="19050" cmpd="sng"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ko-KR" dirty="0">
                    <a:solidFill>
                      <a:schemeClr val="tx1"/>
                    </a:solidFill>
                  </a:rPr>
                  <a:t>몸무게:</a:t>
                </a:r>
                <a:endParaRPr lang="en-US" altLang="ko-KR" dirty="0">
                  <a:solidFill>
                    <a:schemeClr val="tx1"/>
                  </a:solidFill>
                </a:endParaRPr>
              </a:p>
              <a:p>
                <a:endParaRPr lang="ko-KR" altLang="ko-KR" dirty="0">
                  <a:solidFill>
                    <a:schemeClr val="tx1"/>
                  </a:solidFill>
                </a:endParaRPr>
              </a:p>
              <a:p>
                <a:r>
                  <a:rPr lang="ko-KR" altLang="ko-KR" dirty="0">
                    <a:solidFill>
                      <a:schemeClr val="tx1"/>
                    </a:solidFill>
                  </a:rPr>
                  <a:t>40kg, 50kg, 60kg</a:t>
                </a:r>
              </a:p>
              <a:p>
                <a:r>
                  <a:rPr lang="ko-KR" altLang="ko-KR" dirty="0">
                    <a:solidFill>
                      <a:schemeClr val="tx1"/>
                    </a:solidFill>
                  </a:rPr>
                  <a:t>평균: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ko-KR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40+50+60</m:t>
                          </m:r>
                        </m:num>
                        <m:den>
                          <m:r>
                            <a:rPr lang="en-US" altLang="ko-KR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altLang="ko-KR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=50</m:t>
                      </m:r>
                    </m:oMath>
                  </m:oMathPara>
                </a14:m>
                <a:endParaRPr lang="en-US" altLang="ko-KR" dirty="0">
                  <a:solidFill>
                    <a:schemeClr val="tx1"/>
                  </a:solidFill>
                </a:endParaRPr>
              </a:p>
              <a:p>
                <a:r>
                  <a:rPr lang="ko-KR" altLang="ko-KR" dirty="0">
                    <a:solidFill>
                      <a:schemeClr val="tx1"/>
                    </a:solidFill>
                  </a:rPr>
                  <a:t>이걸 그래프로 생각하면:</a:t>
                </a:r>
              </a:p>
              <a:p>
                <a:endParaRPr lang="en-US" altLang="ko-KR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40      50      60</a:t>
                </a:r>
              </a:p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●-------●-------●</a:t>
                </a:r>
              </a:p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        ↑</a:t>
                </a:r>
              </a:p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      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평균</a:t>
                </a:r>
                <a:endParaRPr lang="en-US" altLang="ko-KR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" name="모서리가 둥근 직사각형 7">
                <a:extLst>
                  <a:ext uri="{FF2B5EF4-FFF2-40B4-BE49-F238E27FC236}">
                    <a16:creationId xmlns:a16="http://schemas.microsoft.com/office/drawing/2014/main" id="{77E8302B-9148-1331-1BFC-D8F3A3238F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394" y="1662331"/>
                <a:ext cx="5750336" cy="4217728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19050" cmpd="sng">
                <a:prstDash val="dash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9C21379C-85AA-1BC7-03AB-DE759C281262}"/>
              </a:ext>
            </a:extLst>
          </p:cNvPr>
          <p:cNvSpPr txBox="1"/>
          <p:nvPr/>
        </p:nvSpPr>
        <p:spPr>
          <a:xfrm>
            <a:off x="6618474" y="3026112"/>
            <a:ext cx="492590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dirty="0"/>
              <a:t>평균은 </a:t>
            </a:r>
            <a:r>
              <a:rPr lang="ko-KR" altLang="ko-KR" b="1" dirty="0"/>
              <a:t>시소의 중심축(무게 중심)</a:t>
            </a:r>
            <a:r>
              <a:rPr lang="ko-KR" altLang="ko-KR" dirty="0"/>
              <a:t> 같은 개념입니다.</a:t>
            </a:r>
            <a:endParaRPr lang="en-US" altLang="ko-KR" dirty="0"/>
          </a:p>
          <a:p>
            <a:pPr>
              <a:buNone/>
            </a:pPr>
            <a:endParaRPr lang="ko-KR" altLang="ko-KR" dirty="0"/>
          </a:p>
          <a:p>
            <a:pPr>
              <a:buNone/>
            </a:pPr>
            <a:r>
              <a:rPr lang="ko-KR" altLang="ko-KR" dirty="0"/>
              <a:t>왼쪽이 가벼우면 오른쪽이 무거워야 균형이 맞듯,</a:t>
            </a:r>
            <a:r>
              <a:rPr lang="en-US" altLang="ko-KR" dirty="0"/>
              <a:t> </a:t>
            </a:r>
            <a:r>
              <a:rPr lang="ko-KR" altLang="ko-KR" dirty="0"/>
              <a:t>평균은 데이터를 한 점으로 압축했을 때 </a:t>
            </a:r>
            <a:r>
              <a:rPr lang="ko-KR" altLang="ko-KR" b="1" dirty="0"/>
              <a:t>균형이 되는 위치</a:t>
            </a:r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903923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199" y="375920"/>
            <a:ext cx="54060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평균의 이해</a:t>
            </a:r>
          </a:p>
        </p:txBody>
      </p:sp>
      <p:cxnSp>
        <p:nvCxnSpPr>
          <p:cNvPr id="12" name="직선 연결선 11"/>
          <p:cNvCxnSpPr/>
          <p:nvPr/>
        </p:nvCxnSpPr>
        <p:spPr>
          <a:xfrm>
            <a:off x="504406" y="5821679"/>
            <a:ext cx="419741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그룹 20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모서리가 둥근 직사각형 13">
            <a:extLst>
              <a:ext uri="{FF2B5EF4-FFF2-40B4-BE49-F238E27FC236}">
                <a16:creationId xmlns:a16="http://schemas.microsoft.com/office/drawing/2014/main" id="{B6B754FE-C67E-A390-8963-9067367CC0C2}"/>
              </a:ext>
            </a:extLst>
          </p:cNvPr>
          <p:cNvSpPr/>
          <p:nvPr/>
        </p:nvSpPr>
        <p:spPr>
          <a:xfrm>
            <a:off x="6484775" y="2370391"/>
            <a:ext cx="5535335" cy="2737602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모서리가 둥근 직사각형 12">
            <a:extLst>
              <a:ext uri="{FF2B5EF4-FFF2-40B4-BE49-F238E27FC236}">
                <a16:creationId xmlns:a16="http://schemas.microsoft.com/office/drawing/2014/main" id="{ED16A17F-A431-FB06-1CA1-80B1837DCE07}"/>
              </a:ext>
            </a:extLst>
          </p:cNvPr>
          <p:cNvSpPr/>
          <p:nvPr/>
        </p:nvSpPr>
        <p:spPr>
          <a:xfrm>
            <a:off x="574972" y="2336800"/>
            <a:ext cx="5060718" cy="2737602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모서리가 둥근 직사각형 7">
            <a:extLst>
              <a:ext uri="{FF2B5EF4-FFF2-40B4-BE49-F238E27FC236}">
                <a16:creationId xmlns:a16="http://schemas.microsoft.com/office/drawing/2014/main" id="{301599C8-366C-E331-94E8-81F54D0E413C}"/>
              </a:ext>
            </a:extLst>
          </p:cNvPr>
          <p:cNvSpPr/>
          <p:nvPr/>
        </p:nvSpPr>
        <p:spPr>
          <a:xfrm>
            <a:off x="392092" y="2204720"/>
            <a:ext cx="5060718" cy="2737602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71476" marR="0" lvl="2" indent="-135728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E8456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평균은 자료의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대표값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데이터들을 잘 설명하는 값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13" name="모서리가 둥근 직사각형 8">
            <a:extLst>
              <a:ext uri="{FF2B5EF4-FFF2-40B4-BE49-F238E27FC236}">
                <a16:creationId xmlns:a16="http://schemas.microsoft.com/office/drawing/2014/main" id="{C90D84B3-68C8-CBA8-E0C0-44519F778CCF}"/>
              </a:ext>
            </a:extLst>
          </p:cNvPr>
          <p:cNvSpPr/>
          <p:nvPr/>
        </p:nvSpPr>
        <p:spPr>
          <a:xfrm>
            <a:off x="6301895" y="2238311"/>
            <a:ext cx="5535335" cy="2737602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71476" marR="0" lvl="2" indent="-135728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E8456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분산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표준편차등의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통계분석등의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대표값으로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쓰임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F22234D-0611-557C-8812-CE0D07B64CD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31839"/>
            <a:ext cx="12192000" cy="1026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677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199" y="375920"/>
            <a:ext cx="54060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분산</a:t>
            </a:r>
            <a:r>
              <a:rPr lang="en-US" altLang="ko-KR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표준편차</a:t>
            </a:r>
            <a:r>
              <a:rPr lang="en-US" altLang="ko-KR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이해</a:t>
            </a:r>
          </a:p>
        </p:txBody>
      </p:sp>
      <p:cxnSp>
        <p:nvCxnSpPr>
          <p:cNvPr id="12" name="직선 연결선 11"/>
          <p:cNvCxnSpPr/>
          <p:nvPr/>
        </p:nvCxnSpPr>
        <p:spPr>
          <a:xfrm>
            <a:off x="504406" y="5821679"/>
            <a:ext cx="419741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그룹 20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모서리가 둥근 직사각형 13">
            <a:extLst>
              <a:ext uri="{FF2B5EF4-FFF2-40B4-BE49-F238E27FC236}">
                <a16:creationId xmlns:a16="http://schemas.microsoft.com/office/drawing/2014/main" id="{B6B754FE-C67E-A390-8963-9067367CC0C2}"/>
              </a:ext>
            </a:extLst>
          </p:cNvPr>
          <p:cNvSpPr/>
          <p:nvPr/>
        </p:nvSpPr>
        <p:spPr>
          <a:xfrm>
            <a:off x="6072986" y="1745757"/>
            <a:ext cx="5947124" cy="2737602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모서리가 둥근 직사각형 12">
            <a:extLst>
              <a:ext uri="{FF2B5EF4-FFF2-40B4-BE49-F238E27FC236}">
                <a16:creationId xmlns:a16="http://schemas.microsoft.com/office/drawing/2014/main" id="{ED16A17F-A431-FB06-1CA1-80B1837DCE07}"/>
              </a:ext>
            </a:extLst>
          </p:cNvPr>
          <p:cNvSpPr/>
          <p:nvPr/>
        </p:nvSpPr>
        <p:spPr>
          <a:xfrm>
            <a:off x="574972" y="2336800"/>
            <a:ext cx="5132254" cy="3403600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모서리가 둥근 직사각형 7">
            <a:extLst>
              <a:ext uri="{FF2B5EF4-FFF2-40B4-BE49-F238E27FC236}">
                <a16:creationId xmlns:a16="http://schemas.microsoft.com/office/drawing/2014/main" id="{301599C8-366C-E331-94E8-81F54D0E413C}"/>
              </a:ext>
            </a:extLst>
          </p:cNvPr>
          <p:cNvSpPr/>
          <p:nvPr/>
        </p:nvSpPr>
        <p:spPr>
          <a:xfrm>
            <a:off x="392092" y="2204720"/>
            <a:ext cx="5132254" cy="3403600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71476" marR="0" lvl="2" indent="-135728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E8456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20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평균에 대한 오차</a:t>
            </a:r>
            <a:endParaRPr lang="en-US" altLang="ko-KR" sz="200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471476" marR="0" lvl="2" indent="-135728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E8456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2000" b="1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-apple-system"/>
              </a:rPr>
              <a:t>편차</a:t>
            </a:r>
            <a:r>
              <a:rPr lang="ko-KR" altLang="en-US" sz="20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-apple-system"/>
              </a:rPr>
              <a:t>는 원래의 값에서 평균을 뺀 값인데</a:t>
            </a:r>
            <a:r>
              <a:rPr lang="en-US" altLang="ko-KR" sz="20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-apple-system"/>
              </a:rPr>
              <a:t>, </a:t>
            </a:r>
            <a:r>
              <a:rPr lang="en-US" altLang="ko-KR" sz="2000" b="1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-apple-system"/>
              </a:rPr>
              <a:t>+</a:t>
            </a:r>
            <a:r>
              <a:rPr lang="ko-KR" altLang="en-US" sz="20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-apple-system"/>
              </a:rPr>
              <a:t>도 될 수 있고</a:t>
            </a:r>
            <a:r>
              <a:rPr lang="en-US" altLang="ko-KR" sz="20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-apple-system"/>
              </a:rPr>
              <a:t>, </a:t>
            </a:r>
            <a:r>
              <a:rPr lang="en-US" altLang="ko-KR" sz="2000" b="1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-apple-system"/>
              </a:rPr>
              <a:t>-</a:t>
            </a:r>
            <a:r>
              <a:rPr lang="ko-KR" altLang="en-US" sz="20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-apple-system"/>
              </a:rPr>
              <a:t>도 될 수 있다</a:t>
            </a:r>
            <a:r>
              <a:rPr lang="en-US" altLang="ko-KR" sz="20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-apple-system"/>
              </a:rPr>
              <a:t>.</a:t>
            </a:r>
          </a:p>
          <a:p>
            <a:pPr marL="471476" lvl="2" indent="-135728" eaLnBrk="0" fontAlgn="base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E8456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20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-apple-system"/>
              </a:rPr>
              <a:t>편차들을 제곱을 해서 합이 </a:t>
            </a:r>
            <a:r>
              <a:rPr lang="ko-KR" altLang="en-US" sz="2000" b="1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-apple-system"/>
              </a:rPr>
              <a:t>분산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모서리가 둥근 직사각형 8">
            <a:extLst>
              <a:ext uri="{FF2B5EF4-FFF2-40B4-BE49-F238E27FC236}">
                <a16:creationId xmlns:a16="http://schemas.microsoft.com/office/drawing/2014/main" id="{C90D84B3-68C8-CBA8-E0C0-44519F778CCF}"/>
              </a:ext>
            </a:extLst>
          </p:cNvPr>
          <p:cNvSpPr/>
          <p:nvPr/>
        </p:nvSpPr>
        <p:spPr>
          <a:xfrm>
            <a:off x="5890106" y="1613677"/>
            <a:ext cx="5947124" cy="2737602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2000" b="1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-apple-system"/>
              </a:rPr>
              <a:t>분산</a:t>
            </a:r>
            <a:r>
              <a:rPr lang="en-US" altLang="ko-KR" sz="2000" b="1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-apple-system"/>
              </a:rPr>
              <a:t>(Variance)</a:t>
            </a:r>
            <a:r>
              <a:rPr lang="ko-KR" altLang="en-US" sz="2000" b="1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-apple-system"/>
              </a:rPr>
              <a:t>을 바로 쓰지 않고</a:t>
            </a:r>
            <a:r>
              <a:rPr lang="en-US" altLang="ko-KR" sz="2000" b="1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-apple-system"/>
              </a:rPr>
              <a:t>, </a:t>
            </a:r>
            <a:r>
              <a:rPr lang="ko-KR" altLang="en-US" sz="2000" b="1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-apple-system"/>
              </a:rPr>
              <a:t>표준편차를 구하는 이유는</a:t>
            </a:r>
            <a:r>
              <a:rPr lang="en-US" altLang="ko-KR" sz="2000" b="1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-apple-system"/>
              </a:rPr>
              <a:t>?</a:t>
            </a:r>
          </a:p>
          <a:p>
            <a:pPr algn="l"/>
            <a:endParaRPr lang="en-US" altLang="ko-KR" sz="2000" b="1" i="0" dirty="0">
              <a:solidFill>
                <a:srgbClr val="212529"/>
              </a:solidFill>
              <a:effectLst/>
              <a:highlight>
                <a:srgbClr val="FFFFFF"/>
              </a:highlight>
              <a:latin typeface="-apple-system"/>
            </a:endParaRPr>
          </a:p>
          <a:p>
            <a:pPr algn="l"/>
            <a:r>
              <a:rPr lang="ko-KR" altLang="en-US" sz="16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-apple-system"/>
              </a:rPr>
              <a:t>분산은 편차에 제곱을 하여 계산을 하였기 때문에</a:t>
            </a:r>
            <a:r>
              <a:rPr lang="en-US" altLang="ko-KR" sz="16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-apple-system"/>
              </a:rPr>
              <a:t>, </a:t>
            </a:r>
            <a:r>
              <a:rPr lang="ko-KR" altLang="en-US" sz="16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-apple-system"/>
              </a:rPr>
              <a:t>실제 값에서 너무 멀어져 있다</a:t>
            </a:r>
            <a:r>
              <a:rPr lang="en-US" altLang="ko-KR" sz="16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-apple-system"/>
              </a:rPr>
              <a:t>. </a:t>
            </a:r>
            <a:r>
              <a:rPr lang="ko-KR" altLang="en-US" sz="16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-apple-system"/>
              </a:rPr>
              <a:t>그래서 실제 값으로 근접 시키기 위해서 제곱근</a:t>
            </a:r>
            <a:r>
              <a:rPr lang="en-US" altLang="ko-KR" sz="16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-apple-system"/>
              </a:rPr>
              <a:t>(</a:t>
            </a:r>
            <a:r>
              <a:rPr lang="ko-KR" altLang="en-US" sz="16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-apple-system"/>
              </a:rPr>
              <a:t>루트</a:t>
            </a:r>
            <a:r>
              <a:rPr lang="en-US" altLang="ko-KR" sz="16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-apple-system"/>
              </a:rPr>
              <a:t>)</a:t>
            </a:r>
            <a:r>
              <a:rPr lang="ko-KR" altLang="en-US" sz="16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-apple-system"/>
              </a:rPr>
              <a:t>를 씌워준 것이다</a:t>
            </a:r>
            <a:r>
              <a:rPr lang="en-US" altLang="ko-KR" sz="16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-apple-system"/>
              </a:rPr>
              <a:t>. (</a:t>
            </a:r>
            <a:r>
              <a:rPr lang="ko-KR" altLang="en-US" sz="16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-apple-system"/>
              </a:rPr>
              <a:t>분산에서 제곱했으니</a:t>
            </a:r>
            <a:r>
              <a:rPr lang="en-US" altLang="ko-KR" sz="16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-apple-system"/>
              </a:rPr>
              <a:t>, </a:t>
            </a:r>
            <a:r>
              <a:rPr lang="ko-KR" altLang="en-US" sz="16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-apple-system"/>
              </a:rPr>
              <a:t>반대로 제곱근을 씌운다</a:t>
            </a:r>
            <a:r>
              <a:rPr lang="en-US" altLang="ko-KR" sz="16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-apple-system"/>
              </a:rPr>
              <a:t>!)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F22234D-0611-557C-8812-CE0D07B64CD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31839"/>
            <a:ext cx="12192000" cy="1026161"/>
          </a:xfrm>
          <a:prstGeom prst="rect">
            <a:avLst/>
          </a:prstGeom>
        </p:spPr>
      </p:pic>
      <p:sp>
        <p:nvSpPr>
          <p:cNvPr id="6" name="모서리가 둥근 직사각형 13">
            <a:extLst>
              <a:ext uri="{FF2B5EF4-FFF2-40B4-BE49-F238E27FC236}">
                <a16:creationId xmlns:a16="http://schemas.microsoft.com/office/drawing/2014/main" id="{B3D7AA69-2FF3-078D-00D4-598C12CDECA3}"/>
              </a:ext>
            </a:extLst>
          </p:cNvPr>
          <p:cNvSpPr/>
          <p:nvPr/>
        </p:nvSpPr>
        <p:spPr>
          <a:xfrm>
            <a:off x="6879264" y="4896599"/>
            <a:ext cx="4361128" cy="1711545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EB7E73CB-958B-0C99-3F94-43C03F6E6C26}"/>
              </a:ext>
            </a:extLst>
          </p:cNvPr>
          <p:cNvSpPr/>
          <p:nvPr/>
        </p:nvSpPr>
        <p:spPr>
          <a:xfrm>
            <a:off x="6696384" y="4764519"/>
            <a:ext cx="4361128" cy="1711545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71476" marR="0" lvl="2" indent="-135728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E8456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통계의 본질은 분산의 마법임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8955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8A071-C18C-BC64-4E0D-583A0AE49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7AEACCE-BBFF-8DC8-CCFF-E9D3B6B46566}"/>
              </a:ext>
            </a:extLst>
          </p:cNvPr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189DE23-12F6-902E-9B92-A1E5E6EF27D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72D03CF-E4FA-2782-1B18-842D02CC95F2}"/>
              </a:ext>
            </a:extLst>
          </p:cNvPr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8B4E1F9-C572-7537-D102-27306D1032D2}"/>
              </a:ext>
            </a:extLst>
          </p:cNvPr>
          <p:cNvSpPr txBox="1"/>
          <p:nvPr/>
        </p:nvSpPr>
        <p:spPr>
          <a:xfrm>
            <a:off x="1473199" y="375920"/>
            <a:ext cx="68559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분산을 이해하기 </a:t>
            </a:r>
            <a:r>
              <a:rPr lang="en-US" altLang="ko-KR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– </a:t>
            </a:r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마법인 이유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12E1939-1D26-EF31-EDA2-4FBE509891C1}"/>
              </a:ext>
            </a:extLst>
          </p:cNvPr>
          <p:cNvCxnSpPr/>
          <p:nvPr/>
        </p:nvCxnSpPr>
        <p:spPr>
          <a:xfrm>
            <a:off x="504406" y="5821679"/>
            <a:ext cx="419741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AD516F79-F670-1C1D-913D-9849A48B4E8D}"/>
              </a:ext>
            </a:extLst>
          </p:cNvPr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FCBF40BE-CA55-9FD6-71CA-D3E4FC1273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F1A6FFFB-F686-0583-920B-B704A59701C2}"/>
                </a:ext>
              </a:extLst>
            </p:cNvPr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모서리가 둥근 직사각형 13">
            <a:extLst>
              <a:ext uri="{FF2B5EF4-FFF2-40B4-BE49-F238E27FC236}">
                <a16:creationId xmlns:a16="http://schemas.microsoft.com/office/drawing/2014/main" id="{8124833B-2D79-4AB2-9DA9-4B69BB1EC8F6}"/>
              </a:ext>
            </a:extLst>
          </p:cNvPr>
          <p:cNvSpPr/>
          <p:nvPr/>
        </p:nvSpPr>
        <p:spPr>
          <a:xfrm>
            <a:off x="6136361" y="2705424"/>
            <a:ext cx="5947124" cy="2737602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모서리가 둥근 직사각형 12">
            <a:extLst>
              <a:ext uri="{FF2B5EF4-FFF2-40B4-BE49-F238E27FC236}">
                <a16:creationId xmlns:a16="http://schemas.microsoft.com/office/drawing/2014/main" id="{26B1D02D-3A4A-48DC-381E-263F28F2247C}"/>
              </a:ext>
            </a:extLst>
          </p:cNvPr>
          <p:cNvSpPr/>
          <p:nvPr/>
        </p:nvSpPr>
        <p:spPr>
          <a:xfrm>
            <a:off x="574972" y="2336800"/>
            <a:ext cx="5132254" cy="3403600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모서리가 둥근 직사각형 7">
            <a:extLst>
              <a:ext uri="{FF2B5EF4-FFF2-40B4-BE49-F238E27FC236}">
                <a16:creationId xmlns:a16="http://schemas.microsoft.com/office/drawing/2014/main" id="{216A8284-2BE5-FD5A-A847-2901AD02C5F0}"/>
              </a:ext>
            </a:extLst>
          </p:cNvPr>
          <p:cNvSpPr/>
          <p:nvPr/>
        </p:nvSpPr>
        <p:spPr>
          <a:xfrm>
            <a:off x="392092" y="2204720"/>
            <a:ext cx="5132254" cy="3403600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71476" lvl="2" indent="-135728" eaLnBrk="0" fontAlgn="base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E84560"/>
              </a:buClr>
              <a:buFont typeface="Arial" panose="020B0604020202020204" pitchFamily="34" charset="0"/>
              <a:buChar char="•"/>
              <a:defRPr/>
            </a:pPr>
            <a:r>
              <a:rPr lang="ko-KR" altLang="ko-KR" sz="2000" dirty="0">
                <a:solidFill>
                  <a:schemeClr val="tx1"/>
                </a:solidFill>
              </a:rPr>
              <a:t>통계의 본질은 왜 "분산의 </a:t>
            </a:r>
            <a:r>
              <a:rPr lang="ko-KR" altLang="ko-KR" sz="2000" dirty="0" err="1">
                <a:solidFill>
                  <a:schemeClr val="tx1"/>
                </a:solidFill>
              </a:rPr>
              <a:t>마법"이라고</a:t>
            </a:r>
            <a:r>
              <a:rPr lang="ko-KR" altLang="ko-KR" sz="2000" dirty="0">
                <a:solidFill>
                  <a:schemeClr val="tx1"/>
                </a:solidFill>
              </a:rPr>
              <a:t> 할까?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모서리가 둥근 직사각형 8">
            <a:extLst>
              <a:ext uri="{FF2B5EF4-FFF2-40B4-BE49-F238E27FC236}">
                <a16:creationId xmlns:a16="http://schemas.microsoft.com/office/drawing/2014/main" id="{665C65B3-FAEE-1694-0202-0CC4BCF86F85}"/>
              </a:ext>
            </a:extLst>
          </p:cNvPr>
          <p:cNvSpPr/>
          <p:nvPr/>
        </p:nvSpPr>
        <p:spPr>
          <a:xfrm>
            <a:off x="5953481" y="2573344"/>
            <a:ext cx="5947124" cy="2737602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br>
              <a:rPr lang="ko-KR" altLang="ko-KR" sz="1200" dirty="0">
                <a:solidFill>
                  <a:schemeClr val="tx1"/>
                </a:solidFill>
                <a:highlight>
                  <a:srgbClr val="FFFFFF"/>
                </a:highlight>
              </a:rPr>
            </a:br>
            <a:r>
              <a:rPr lang="ko-KR" altLang="ko-KR" sz="1200" dirty="0">
                <a:solidFill>
                  <a:schemeClr val="tx1"/>
                </a:solidFill>
                <a:highlight>
                  <a:srgbClr val="FFFFFF"/>
                </a:highlight>
              </a:rPr>
              <a:t>평균 자체보다,</a:t>
            </a:r>
            <a:br>
              <a:rPr lang="ko-KR" altLang="ko-KR" sz="1200" dirty="0">
                <a:solidFill>
                  <a:schemeClr val="tx1"/>
                </a:solidFill>
                <a:highlight>
                  <a:srgbClr val="FFFFFF"/>
                </a:highlight>
              </a:rPr>
            </a:br>
            <a:br>
              <a:rPr lang="ko-KR" altLang="ko-KR" sz="1200" dirty="0">
                <a:solidFill>
                  <a:schemeClr val="tx1"/>
                </a:solidFill>
                <a:highlight>
                  <a:srgbClr val="FFFFFF"/>
                </a:highlight>
              </a:rPr>
            </a:br>
            <a:r>
              <a:rPr lang="ko-KR" altLang="ko-KR" sz="1200" dirty="0">
                <a:solidFill>
                  <a:schemeClr val="tx1"/>
                </a:solidFill>
                <a:highlight>
                  <a:srgbClr val="FFFFFF"/>
                </a:highlight>
              </a:rPr>
              <a:t>**데이터가 얼마나 퍼져 있는지(분산)** 가 실제 현상을 더 잘 설명하는 경우가 많음</a:t>
            </a:r>
            <a:br>
              <a:rPr lang="ko-KR" altLang="ko-KR" sz="1200" dirty="0">
                <a:solidFill>
                  <a:schemeClr val="tx1"/>
                </a:solidFill>
                <a:highlight>
                  <a:srgbClr val="FFFFFF"/>
                </a:highlight>
              </a:rPr>
            </a:br>
            <a:br>
              <a:rPr lang="ko-KR" altLang="ko-KR" sz="1200" dirty="0">
                <a:solidFill>
                  <a:schemeClr val="tx1"/>
                </a:solidFill>
                <a:highlight>
                  <a:srgbClr val="FFFFFF"/>
                </a:highlight>
              </a:rPr>
            </a:br>
            <a:r>
              <a:rPr lang="ko-KR" altLang="ko-KR" sz="1200" dirty="0">
                <a:solidFill>
                  <a:schemeClr val="tx1"/>
                </a:solidFill>
                <a:highlight>
                  <a:srgbClr val="FFFFFF"/>
                </a:highlight>
              </a:rPr>
              <a:t>즉,</a:t>
            </a:r>
            <a:br>
              <a:rPr lang="ko-KR" altLang="ko-KR" sz="1200" dirty="0">
                <a:solidFill>
                  <a:schemeClr val="tx1"/>
                </a:solidFill>
                <a:highlight>
                  <a:srgbClr val="FFFFFF"/>
                </a:highlight>
              </a:rPr>
            </a:br>
            <a:br>
              <a:rPr lang="ko-KR" altLang="ko-KR" sz="1200" dirty="0">
                <a:solidFill>
                  <a:schemeClr val="tx1"/>
                </a:solidFill>
                <a:highlight>
                  <a:srgbClr val="FFFFFF"/>
                </a:highlight>
              </a:rPr>
            </a:br>
            <a:r>
              <a:rPr lang="ko-KR" altLang="ko-KR" sz="1200" dirty="0">
                <a:solidFill>
                  <a:schemeClr val="tx1"/>
                </a:solidFill>
                <a:highlight>
                  <a:srgbClr val="FFFFFF"/>
                </a:highlight>
              </a:rPr>
              <a:t>같은 평균</a:t>
            </a:r>
            <a:br>
              <a:rPr lang="ko-KR" altLang="ko-KR" sz="1200" dirty="0">
                <a:solidFill>
                  <a:schemeClr val="tx1"/>
                </a:solidFill>
                <a:highlight>
                  <a:srgbClr val="FFFFFF"/>
                </a:highlight>
              </a:rPr>
            </a:br>
            <a:r>
              <a:rPr lang="ko-KR" altLang="ko-KR" sz="1200" dirty="0">
                <a:solidFill>
                  <a:schemeClr val="tx1"/>
                </a:solidFill>
                <a:highlight>
                  <a:srgbClr val="FFFFFF"/>
                </a:highlight>
              </a:rPr>
              <a:t>≠</a:t>
            </a:r>
            <a:br>
              <a:rPr lang="ko-KR" altLang="ko-KR" sz="1200" dirty="0">
                <a:solidFill>
                  <a:schemeClr val="tx1"/>
                </a:solidFill>
                <a:highlight>
                  <a:srgbClr val="FFFFFF"/>
                </a:highlight>
              </a:rPr>
            </a:br>
            <a:r>
              <a:rPr lang="ko-KR" altLang="ko-KR" sz="1200" dirty="0">
                <a:solidFill>
                  <a:schemeClr val="tx1"/>
                </a:solidFill>
                <a:highlight>
                  <a:srgbClr val="FFFFFF"/>
                </a:highlight>
              </a:rPr>
              <a:t>같은 데이터</a:t>
            </a:r>
            <a:endParaRPr lang="en-US" altLang="ko-KR" sz="1200" b="0" i="0" dirty="0">
              <a:solidFill>
                <a:schemeClr val="tx1"/>
              </a:solidFill>
              <a:effectLst/>
              <a:highlight>
                <a:srgbClr val="FFFFFF"/>
              </a:highlight>
              <a:latin typeface="-apple-system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AD81FC81-89E2-E24E-37D9-0D4CDD38401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31839"/>
            <a:ext cx="12192000" cy="1026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0716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199" y="375920"/>
            <a:ext cx="60099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평균</a:t>
            </a:r>
            <a:r>
              <a:rPr lang="en-US" altLang="ko-KR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분산 표준편차의 이해 </a:t>
            </a:r>
          </a:p>
        </p:txBody>
      </p:sp>
      <p:grpSp>
        <p:nvGrpSpPr>
          <p:cNvPr id="21" name="그룹 20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1F22234D-0611-557C-8812-CE0D07B64CD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31839"/>
            <a:ext cx="12192000" cy="102616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E689539-BFF5-BEDF-3CD9-75E0BC1154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457" y="1480757"/>
            <a:ext cx="10907486" cy="500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8871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199" y="375920"/>
            <a:ext cx="70083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평균</a:t>
            </a:r>
            <a:r>
              <a:rPr lang="en-US" altLang="ko-KR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분산 표준편차의 이해 </a:t>
            </a:r>
            <a:r>
              <a:rPr lang="en-US" altLang="ko-KR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- 2 </a:t>
            </a:r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</p:txBody>
      </p:sp>
      <p:grpSp>
        <p:nvGrpSpPr>
          <p:cNvPr id="21" name="그룹 20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1F22234D-0611-557C-8812-CE0D07B64CD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31839"/>
            <a:ext cx="12192000" cy="102616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5388135-2AB3-BF5C-0730-7567365C03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482" y="1398171"/>
            <a:ext cx="10982129" cy="5273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769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422640" y="0"/>
            <a:ext cx="3494867" cy="64479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1300" dirty="0">
                <a:solidFill>
                  <a:schemeClr val="accent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3</a:t>
            </a:r>
            <a:endParaRPr lang="ko-KR" altLang="en-US" sz="41300" dirty="0">
              <a:solidFill>
                <a:schemeClr val="accent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3120775" y="3751944"/>
            <a:ext cx="4196080" cy="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769361" y="2931571"/>
            <a:ext cx="32015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정규분포의 이해</a:t>
            </a:r>
          </a:p>
        </p:txBody>
      </p:sp>
    </p:spTree>
    <p:extLst>
      <p:ext uri="{BB962C8B-B14F-4D97-AF65-F5344CB8AC3E}">
        <p14:creationId xmlns:p14="http://schemas.microsoft.com/office/powerpoint/2010/main" val="3943335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/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14" name="모서리가 둥근 직사각형 13"/>
          <p:cNvSpPr/>
          <p:nvPr/>
        </p:nvSpPr>
        <p:spPr>
          <a:xfrm>
            <a:off x="8544560" y="3220720"/>
            <a:ext cx="3200400" cy="3464560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4673600" y="3220720"/>
            <a:ext cx="3200400" cy="3464560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모서리가 둥근 직사각형 11"/>
          <p:cNvSpPr/>
          <p:nvPr/>
        </p:nvSpPr>
        <p:spPr>
          <a:xfrm>
            <a:off x="802640" y="3220720"/>
            <a:ext cx="3200400" cy="3464560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1473199" y="375920"/>
            <a:ext cx="6746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정규 분포의 이해 </a:t>
            </a:r>
            <a:r>
              <a:rPr lang="en-US" altLang="ko-KR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나무위키</a:t>
            </a:r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619760" y="3088640"/>
            <a:ext cx="3200400" cy="3464560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71476" marR="0" lvl="2" indent="-135728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E8456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2000" dirty="0" err="1"/>
              <a:t>ㄱ</a:t>
            </a:r>
            <a:r>
              <a:rPr lang="ko-KR" altLang="en-US" sz="2000" b="0" i="0" u="none" strike="noStrike" dirty="0" err="1">
                <a:effectLst/>
                <a:highlight>
                  <a:srgbClr val="FFFFFF"/>
                </a:highlight>
                <a:latin typeface="Pretendard JP"/>
                <a:hlinkClick r:id="rId3" tooltip="카를 프리드리히 가우스"/>
              </a:rPr>
              <a:t>가우스</a:t>
            </a:r>
            <a:r>
              <a:rPr lang="en-US" altLang="ko-KR" sz="2000" b="0" i="0" u="none" strike="noStrike" dirty="0">
                <a:effectLst/>
                <a:highlight>
                  <a:srgbClr val="FFFFFF"/>
                </a:highlight>
                <a:latin typeface="Pretendard JP"/>
                <a:hlinkClick r:id="rId3" tooltip="카를 프리드리히 가우스"/>
              </a:rPr>
              <a:t>(C. F. Gauss; 1777 ~ 1855)</a:t>
            </a:r>
            <a:r>
              <a:rPr lang="ko-KR" altLang="en-US" sz="20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Pretendard JP"/>
              </a:rPr>
              <a:t>가 처음 정립했기 때문에 가우스 분포</a:t>
            </a:r>
            <a:r>
              <a:rPr lang="en-US" altLang="ko-KR" sz="20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Pretendard JP"/>
              </a:rPr>
              <a:t>(</a:t>
            </a:r>
            <a:r>
              <a:rPr lang="en-US" altLang="ko-KR" sz="2000" b="0" i="0" dirty="0" err="1">
                <a:solidFill>
                  <a:srgbClr val="212529"/>
                </a:solidFill>
                <a:effectLst/>
                <a:highlight>
                  <a:srgbClr val="FFFFFF"/>
                </a:highlight>
                <a:latin typeface="Pretendard JP"/>
              </a:rPr>
              <a:t>Gaussiandistribution</a:t>
            </a:r>
            <a:r>
              <a:rPr lang="en-US" altLang="ko-KR" sz="20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Pretendard JP"/>
              </a:rPr>
              <a:t>)</a:t>
            </a:r>
            <a:r>
              <a:rPr lang="ko-KR" altLang="en-US" sz="20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Pretendard JP"/>
              </a:rPr>
              <a:t>라고도 한다</a:t>
            </a:r>
            <a:r>
              <a:rPr lang="en-US" altLang="ko-KR" sz="20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Pretendard JP"/>
              </a:rPr>
              <a:t>.</a:t>
            </a:r>
            <a:endParaRPr lang="ko-KR" altLang="en-US" sz="2000" dirty="0"/>
          </a:p>
        </p:txBody>
      </p:sp>
      <p:sp>
        <p:nvSpPr>
          <p:cNvPr id="8" name="모서리가 둥근 직사각형 7"/>
          <p:cNvSpPr/>
          <p:nvPr/>
        </p:nvSpPr>
        <p:spPr>
          <a:xfrm>
            <a:off x="4490720" y="3088640"/>
            <a:ext cx="3200400" cy="3464560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71476" marR="0" lvl="2" indent="-135728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E8456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2000" b="0" i="0" u="none" strike="noStrike" dirty="0">
                <a:effectLst/>
                <a:highlight>
                  <a:srgbClr val="FFFFFF"/>
                </a:highlight>
                <a:latin typeface="Pretendard JP"/>
                <a:hlinkClick r:id="rId4" tooltip="인간"/>
              </a:rPr>
              <a:t>인간</a:t>
            </a:r>
            <a:r>
              <a:rPr lang="ko-KR" altLang="en-US" sz="20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Pretendard JP"/>
              </a:rPr>
              <a:t>과 </a:t>
            </a:r>
            <a:r>
              <a:rPr lang="ko-KR" altLang="en-US" sz="2000" b="0" i="0" u="none" strike="noStrike" dirty="0">
                <a:effectLst/>
                <a:highlight>
                  <a:srgbClr val="FFFFFF"/>
                </a:highlight>
                <a:latin typeface="Pretendard JP"/>
                <a:hlinkClick r:id="rId5" tooltip="자연"/>
              </a:rPr>
              <a:t>자연</a:t>
            </a:r>
            <a:r>
              <a:rPr lang="ko-KR" altLang="en-US" sz="20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Pretendard JP"/>
              </a:rPr>
              <a:t> </a:t>
            </a:r>
            <a:r>
              <a:rPr lang="ko-KR" altLang="en-US" sz="2000" b="0" i="0" u="none" strike="noStrike" dirty="0">
                <a:effectLst/>
                <a:highlight>
                  <a:srgbClr val="FFFFFF"/>
                </a:highlight>
                <a:latin typeface="Pretendard JP"/>
                <a:hlinkClick r:id="rId6" tooltip="세상"/>
              </a:rPr>
              <a:t>세상</a:t>
            </a:r>
            <a:r>
              <a:rPr lang="ko-KR" altLang="en-US" sz="20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Pretendard JP"/>
              </a:rPr>
              <a:t>에서 일어나는 수많은 일을 설명하는 핵심 개념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8361680" y="3088640"/>
            <a:ext cx="3200400" cy="3464560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Pretendard JP"/>
              </a:rPr>
              <a:t> </a:t>
            </a:r>
            <a:r>
              <a:rPr lang="ko-KR" altLang="en-US" sz="2000" b="0" i="0" u="none" strike="noStrike" dirty="0">
                <a:effectLst/>
                <a:highlight>
                  <a:srgbClr val="FFFFFF"/>
                </a:highlight>
                <a:latin typeface="Pretendard JP"/>
                <a:hlinkClick r:id="rId7" tooltip="통계학"/>
              </a:rPr>
              <a:t>통계학</a:t>
            </a:r>
            <a:r>
              <a:rPr lang="ko-KR" altLang="en-US" sz="20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Pretendard JP"/>
              </a:rPr>
              <a:t>에서 사용하는 각종 </a:t>
            </a:r>
            <a:r>
              <a:rPr lang="ko-KR" altLang="en-US" sz="2000" b="0" i="0" u="none" strike="noStrike" dirty="0">
                <a:effectLst/>
                <a:highlight>
                  <a:srgbClr val="FFFFFF"/>
                </a:highlight>
                <a:latin typeface="Pretendard JP"/>
                <a:hlinkClick r:id="rId8" tooltip="확률 분포"/>
              </a:rPr>
              <a:t>확률 분포</a:t>
            </a:r>
            <a:r>
              <a:rPr lang="ko-KR" altLang="en-US" sz="20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Pretendard JP"/>
              </a:rPr>
              <a:t> 중에서도 가장 중요하게 다루는 분포이다</a:t>
            </a:r>
            <a:r>
              <a:rPr lang="en-US" altLang="ko-KR" sz="20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Pretendard JP"/>
              </a:rPr>
              <a:t>. </a:t>
            </a:r>
            <a:r>
              <a:rPr lang="ko-KR" altLang="en-US" sz="20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Pretendard JP"/>
              </a:rPr>
              <a:t>일명 </a:t>
            </a:r>
            <a:r>
              <a:rPr lang="ko-KR" altLang="en-US" sz="2000" b="1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Pretendard JP"/>
              </a:rPr>
              <a:t>통계학의 꽃</a:t>
            </a:r>
            <a:r>
              <a:rPr lang="en-US" altLang="ko-KR" sz="20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Pretendard JP"/>
              </a:rPr>
              <a:t>.</a:t>
            </a:r>
            <a:br>
              <a:rPr lang="ko-KR" altLang="en-US" sz="2000" dirty="0"/>
            </a:br>
            <a:endParaRPr lang="en-US" altLang="ko-KR" sz="2000" b="0" i="0" dirty="0"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16" name="타원 15"/>
          <p:cNvSpPr/>
          <p:nvPr/>
        </p:nvSpPr>
        <p:spPr>
          <a:xfrm>
            <a:off x="619760" y="2174240"/>
            <a:ext cx="320040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1)</a:t>
            </a:r>
            <a:endParaRPr lang="ko-KR" altLang="en-US" b="1" dirty="0"/>
          </a:p>
        </p:txBody>
      </p:sp>
      <p:sp>
        <p:nvSpPr>
          <p:cNvPr id="17" name="타원 16"/>
          <p:cNvSpPr/>
          <p:nvPr/>
        </p:nvSpPr>
        <p:spPr>
          <a:xfrm>
            <a:off x="4445000" y="2179935"/>
            <a:ext cx="320040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2)</a:t>
            </a:r>
            <a:endParaRPr lang="ko-KR" altLang="en-US" b="1" dirty="0"/>
          </a:p>
        </p:txBody>
      </p:sp>
      <p:sp>
        <p:nvSpPr>
          <p:cNvPr id="18" name="타원 17"/>
          <p:cNvSpPr/>
          <p:nvPr/>
        </p:nvSpPr>
        <p:spPr>
          <a:xfrm>
            <a:off x="8361680" y="2174240"/>
            <a:ext cx="320040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3)</a:t>
            </a:r>
            <a:endParaRPr lang="ko-KR" altLang="en-US" b="1" dirty="0"/>
          </a:p>
        </p:txBody>
      </p:sp>
      <p:grpSp>
        <p:nvGrpSpPr>
          <p:cNvPr id="24" name="그룹 23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200961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199" y="375920"/>
            <a:ext cx="54060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정규 분포의 이해</a:t>
            </a:r>
          </a:p>
        </p:txBody>
      </p:sp>
      <p:cxnSp>
        <p:nvCxnSpPr>
          <p:cNvPr id="12" name="직선 연결선 11"/>
          <p:cNvCxnSpPr/>
          <p:nvPr/>
        </p:nvCxnSpPr>
        <p:spPr>
          <a:xfrm>
            <a:off x="476415" y="6335583"/>
            <a:ext cx="419741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그룹 20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8F28B5AA-FBE3-05FF-C79E-6AD30A122D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1302" y="1971038"/>
            <a:ext cx="5816009" cy="403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8824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199" y="375920"/>
            <a:ext cx="54060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표준화의 이해</a:t>
            </a:r>
          </a:p>
        </p:txBody>
      </p:sp>
      <p:cxnSp>
        <p:nvCxnSpPr>
          <p:cNvPr id="12" name="직선 연결선 11"/>
          <p:cNvCxnSpPr/>
          <p:nvPr/>
        </p:nvCxnSpPr>
        <p:spPr>
          <a:xfrm>
            <a:off x="476415" y="6335583"/>
            <a:ext cx="419741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그룹 20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997F4532-4A15-4F9E-C461-B7E70CB0C7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8047" y="1971040"/>
            <a:ext cx="8218967" cy="4262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56849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199" y="375920"/>
            <a:ext cx="54060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정규 분포의 이해</a:t>
            </a:r>
          </a:p>
        </p:txBody>
      </p:sp>
      <p:cxnSp>
        <p:nvCxnSpPr>
          <p:cNvPr id="12" name="직선 연결선 11"/>
          <p:cNvCxnSpPr/>
          <p:nvPr/>
        </p:nvCxnSpPr>
        <p:spPr>
          <a:xfrm>
            <a:off x="476415" y="6335583"/>
            <a:ext cx="419741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그룹 20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FBBE4874-0B8B-1294-D3BC-82A505EAF2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6419" y="1398169"/>
            <a:ext cx="10256874" cy="532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4969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199" y="375920"/>
            <a:ext cx="54060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정규 분포의 이해</a:t>
            </a:r>
          </a:p>
        </p:txBody>
      </p:sp>
      <p:cxnSp>
        <p:nvCxnSpPr>
          <p:cNvPr id="12" name="직선 연결선 11"/>
          <p:cNvCxnSpPr/>
          <p:nvPr/>
        </p:nvCxnSpPr>
        <p:spPr>
          <a:xfrm>
            <a:off x="476415" y="6335583"/>
            <a:ext cx="419741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그룹 20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8F4F5030-6B50-89D9-57E8-CB552B72E9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415" y="1794411"/>
            <a:ext cx="6167535" cy="26531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0B674B0-3CD8-44C6-E583-485446EC36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9629" y="3429000"/>
            <a:ext cx="4385956" cy="331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6856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199" y="375920"/>
            <a:ext cx="54060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표준화의 이해</a:t>
            </a:r>
          </a:p>
        </p:txBody>
      </p:sp>
      <p:cxnSp>
        <p:nvCxnSpPr>
          <p:cNvPr id="12" name="직선 연결선 11"/>
          <p:cNvCxnSpPr/>
          <p:nvPr/>
        </p:nvCxnSpPr>
        <p:spPr>
          <a:xfrm>
            <a:off x="476415" y="6335583"/>
            <a:ext cx="419741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그룹 20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BE4ECC2C-D7BD-D4AE-F68E-74060EF388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167" y="1794410"/>
            <a:ext cx="10079665" cy="4620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5466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199" y="375920"/>
            <a:ext cx="54060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표준화의 이해 </a:t>
            </a:r>
            <a:r>
              <a:rPr lang="en-US" altLang="ko-KR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- 2</a:t>
            </a:r>
            <a:endParaRPr lang="ko-KR" altLang="en-US" sz="36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>
          <a:xfrm>
            <a:off x="476415" y="6335583"/>
            <a:ext cx="419741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그룹 20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C7A574D6-ACD1-DCA5-8FD0-CAE29F40A0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5409" y="1991360"/>
            <a:ext cx="10352567" cy="4568451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F7D93384-103B-ADB5-EC49-35E207A4D739}"/>
              </a:ext>
            </a:extLst>
          </p:cNvPr>
          <p:cNvSpPr/>
          <p:nvPr/>
        </p:nvSpPr>
        <p:spPr>
          <a:xfrm>
            <a:off x="1015409" y="1398171"/>
            <a:ext cx="612967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0</a:t>
            </a:r>
            <a:r>
              <a:rPr lang="ko-KR" altLang="en-US" b="1" dirty="0"/>
              <a:t>을 기준으로 걸음수로 통일 시켜보자</a:t>
            </a:r>
          </a:p>
        </p:txBody>
      </p:sp>
    </p:spTree>
    <p:extLst>
      <p:ext uri="{BB962C8B-B14F-4D97-AF65-F5344CB8AC3E}">
        <p14:creationId xmlns:p14="http://schemas.microsoft.com/office/powerpoint/2010/main" val="10375942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199" y="375920"/>
            <a:ext cx="54060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표준 정규 분포의 탄생</a:t>
            </a:r>
          </a:p>
        </p:txBody>
      </p:sp>
      <p:cxnSp>
        <p:nvCxnSpPr>
          <p:cNvPr id="12" name="직선 연결선 11"/>
          <p:cNvCxnSpPr/>
          <p:nvPr/>
        </p:nvCxnSpPr>
        <p:spPr>
          <a:xfrm>
            <a:off x="476415" y="6335583"/>
            <a:ext cx="419741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그룹 20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타원 8">
            <a:extLst>
              <a:ext uri="{FF2B5EF4-FFF2-40B4-BE49-F238E27FC236}">
                <a16:creationId xmlns:a16="http://schemas.microsoft.com/office/drawing/2014/main" id="{F7D93384-103B-ADB5-EC49-35E207A4D739}"/>
              </a:ext>
            </a:extLst>
          </p:cNvPr>
          <p:cNvSpPr/>
          <p:nvPr/>
        </p:nvSpPr>
        <p:spPr>
          <a:xfrm>
            <a:off x="1015409" y="1398171"/>
            <a:ext cx="612967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표준 정규 분포의 탄생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EC3404E-9DD8-A9F9-223C-65125AC18B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5239" y="2064822"/>
            <a:ext cx="10080966" cy="4169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5458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199" y="375920"/>
            <a:ext cx="54060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표준 정규 분포의 식</a:t>
            </a:r>
          </a:p>
        </p:txBody>
      </p:sp>
      <p:cxnSp>
        <p:nvCxnSpPr>
          <p:cNvPr id="12" name="직선 연결선 11"/>
          <p:cNvCxnSpPr/>
          <p:nvPr/>
        </p:nvCxnSpPr>
        <p:spPr>
          <a:xfrm>
            <a:off x="476415" y="6335583"/>
            <a:ext cx="419741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그룹 20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B8F91A54-8A1A-07A1-78F4-05B827560A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972" y="2235201"/>
            <a:ext cx="9862287" cy="355682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A650DDB-7A9E-B02E-6512-8FF49286F2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9264" y="4927880"/>
            <a:ext cx="3620005" cy="12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3382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8A865-E947-EDDA-95E4-1D9641281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E6129D-BB22-F4F8-9E7E-E566D72C2B25}"/>
              </a:ext>
            </a:extLst>
          </p:cNvPr>
          <p:cNvSpPr txBox="1"/>
          <p:nvPr/>
        </p:nvSpPr>
        <p:spPr>
          <a:xfrm>
            <a:off x="8422640" y="0"/>
            <a:ext cx="3494867" cy="64479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1300" dirty="0">
                <a:solidFill>
                  <a:schemeClr val="accent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4</a:t>
            </a:r>
            <a:endParaRPr lang="ko-KR" altLang="en-US" sz="41300" dirty="0">
              <a:solidFill>
                <a:schemeClr val="accent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0921F7C-E315-0B09-DD20-688BCF955A16}"/>
              </a:ext>
            </a:extLst>
          </p:cNvPr>
          <p:cNvCxnSpPr/>
          <p:nvPr/>
        </p:nvCxnSpPr>
        <p:spPr>
          <a:xfrm>
            <a:off x="3224143" y="3223959"/>
            <a:ext cx="4196080" cy="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638910C-1EB9-058D-8E26-BBE46CF939B1}"/>
              </a:ext>
            </a:extLst>
          </p:cNvPr>
          <p:cNvSpPr txBox="1"/>
          <p:nvPr/>
        </p:nvSpPr>
        <p:spPr>
          <a:xfrm>
            <a:off x="4009507" y="2451279"/>
            <a:ext cx="23807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통계적 추정</a:t>
            </a:r>
          </a:p>
        </p:txBody>
      </p:sp>
    </p:spTree>
    <p:extLst>
      <p:ext uri="{BB962C8B-B14F-4D97-AF65-F5344CB8AC3E}">
        <p14:creationId xmlns:p14="http://schemas.microsoft.com/office/powerpoint/2010/main" val="18467160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199" y="375920"/>
            <a:ext cx="54060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정규분포의 설명</a:t>
            </a:r>
          </a:p>
        </p:txBody>
      </p:sp>
      <p:grpSp>
        <p:nvGrpSpPr>
          <p:cNvPr id="21" name="그룹 20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1F22234D-0611-557C-8812-CE0D07B64CD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31839"/>
            <a:ext cx="12192000" cy="102616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601B311-F70E-3AB4-A6CB-BA870C1364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9056" y="2533708"/>
            <a:ext cx="4518660" cy="262333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CE490C8-8C4A-40F6-87A1-6259B0449C3A}"/>
              </a:ext>
            </a:extLst>
          </p:cNvPr>
          <p:cNvSpPr txBox="1"/>
          <p:nvPr/>
        </p:nvSpPr>
        <p:spPr>
          <a:xfrm>
            <a:off x="575327" y="2362383"/>
            <a:ext cx="61535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ko-KR" altLang="en-US" dirty="0"/>
              <a:t>표본</a:t>
            </a:r>
            <a:r>
              <a:rPr lang="en-US" altLang="ko-KR" dirty="0"/>
              <a:t>(sample) - </a:t>
            </a:r>
            <a:r>
              <a:rPr lang="ko-KR" altLang="en-US" dirty="0"/>
              <a:t>모집단에서 선택한 일부 샘플</a:t>
            </a:r>
            <a:endParaRPr lang="en-US" altLang="ko-KR" dirty="0"/>
          </a:p>
          <a:p>
            <a:pPr lvl="2"/>
            <a:r>
              <a:rPr lang="ko-KR" altLang="en-US" dirty="0"/>
              <a:t>정규분포 </a:t>
            </a:r>
            <a:r>
              <a:rPr lang="en-US" altLang="ko-KR" dirty="0"/>
              <a:t>-</a:t>
            </a:r>
            <a:r>
              <a:rPr lang="ko-KR" altLang="en-US" dirty="0"/>
              <a:t> 평균을 중심으로 대칭인 분포</a:t>
            </a:r>
            <a:endParaRPr lang="en-US" altLang="ko-KR" dirty="0"/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423DD1E3-BDD6-EB3F-764B-CFD7B8920E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982" y="3527724"/>
            <a:ext cx="6559120" cy="178510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※ 표본을 추출하는데도 여러가지 방법이 있다</a:t>
            </a:r>
            <a:endParaRPr kumimoji="0" lang="en-US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 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단순임의추출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simple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random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sampling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 : 항아리에 공을 넣고, 아무 공이나 꺼낸다.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 복원 추출(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sampling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with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replacement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 : 항아리에서 공을 꺼낸 후, 꺼낸 공을 다시 넣고 공을 꺼낸다.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비복원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추출(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sampling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without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replacement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 : 항아리에서 공을 꺼낸 후 다시 넣지 않고 다른 공을 꺼낸다.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그외에도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층화 임의 추출(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Stratified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random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sampling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),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포아송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추출 ,계통 추출(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Systematic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sampling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표본 추출</a:t>
            </a:r>
          </a:p>
        </p:txBody>
      </p:sp>
    </p:spTree>
    <p:extLst>
      <p:ext uri="{BB962C8B-B14F-4D97-AF65-F5344CB8AC3E}">
        <p14:creationId xmlns:p14="http://schemas.microsoft.com/office/powerpoint/2010/main" val="541147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422640" y="0"/>
            <a:ext cx="3494867" cy="64479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1300" dirty="0">
                <a:solidFill>
                  <a:schemeClr val="accent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5</a:t>
            </a:r>
            <a:endParaRPr lang="ko-KR" altLang="en-US" sz="41300" dirty="0">
              <a:solidFill>
                <a:schemeClr val="accent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3120775" y="3751944"/>
            <a:ext cx="4196080" cy="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545921" y="2931571"/>
            <a:ext cx="33457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/>
              <a:t>통계적 가설 검정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761685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199" y="375920"/>
            <a:ext cx="54060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통계적 추론의</a:t>
            </a:r>
            <a:r>
              <a:rPr lang="en-US" altLang="ko-KR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이해</a:t>
            </a:r>
          </a:p>
        </p:txBody>
      </p:sp>
      <p:cxnSp>
        <p:nvCxnSpPr>
          <p:cNvPr id="12" name="직선 연결선 11"/>
          <p:cNvCxnSpPr/>
          <p:nvPr/>
        </p:nvCxnSpPr>
        <p:spPr>
          <a:xfrm>
            <a:off x="476415" y="6335583"/>
            <a:ext cx="419741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그룹 20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6" name="Picture 2">
            <a:extLst>
              <a:ext uri="{FF2B5EF4-FFF2-40B4-BE49-F238E27FC236}">
                <a16:creationId xmlns:a16="http://schemas.microsoft.com/office/drawing/2014/main" id="{EE41F0E2-26E5-0187-C139-B2E0DCBA2E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" y="1398169"/>
            <a:ext cx="10945732" cy="5299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44682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199" y="375920"/>
            <a:ext cx="54060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T </a:t>
            </a:r>
            <a:r>
              <a:rPr lang="ko-KR" altLang="en-US" sz="36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분포란</a:t>
            </a:r>
            <a:r>
              <a:rPr lang="en-US" altLang="ko-KR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?</a:t>
            </a:r>
            <a:endParaRPr lang="ko-KR" altLang="en-US" sz="36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21" name="그룹 20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1F22234D-0611-557C-8812-CE0D07B64CD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31839"/>
            <a:ext cx="12192000" cy="102616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CE490C8-8C4A-40F6-87A1-6259B0449C3A}"/>
              </a:ext>
            </a:extLst>
          </p:cNvPr>
          <p:cNvSpPr txBox="1"/>
          <p:nvPr/>
        </p:nvSpPr>
        <p:spPr>
          <a:xfrm>
            <a:off x="430135" y="2428041"/>
            <a:ext cx="10578226" cy="36933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 lvl="2"/>
            <a:r>
              <a:rPr lang="ko-KR" altLang="en-US" dirty="0"/>
              <a:t>정규분포를 많이 사용하고</a:t>
            </a:r>
            <a:r>
              <a:rPr lang="en-US" altLang="ko-KR" dirty="0"/>
              <a:t>, T</a:t>
            </a:r>
            <a:r>
              <a:rPr lang="ko-KR" altLang="en-US" dirty="0"/>
              <a:t>분포나</a:t>
            </a:r>
            <a:r>
              <a:rPr lang="en-US" altLang="ko-KR" dirty="0"/>
              <a:t>, F</a:t>
            </a:r>
            <a:r>
              <a:rPr lang="ko-KR" altLang="en-US" dirty="0"/>
              <a:t>분포</a:t>
            </a:r>
            <a:r>
              <a:rPr lang="en-US" altLang="ko-KR" dirty="0"/>
              <a:t>, </a:t>
            </a:r>
            <a:r>
              <a:rPr lang="ko-KR" altLang="en-US" dirty="0" err="1"/>
              <a:t>카이제곱</a:t>
            </a:r>
            <a:r>
              <a:rPr lang="ko-KR" altLang="en-US" dirty="0"/>
              <a:t> 분포는 검정</a:t>
            </a:r>
            <a:r>
              <a:rPr lang="en-US" altLang="ko-KR" dirty="0"/>
              <a:t>(</a:t>
            </a:r>
            <a:r>
              <a:rPr lang="ko-KR" altLang="en-US" dirty="0"/>
              <a:t>가설 검증</a:t>
            </a:r>
            <a:r>
              <a:rPr lang="en-US" altLang="ko-KR" dirty="0"/>
              <a:t>)</a:t>
            </a:r>
            <a:r>
              <a:rPr lang="ko-KR" altLang="en-US" dirty="0"/>
              <a:t>에 많이 사용</a:t>
            </a:r>
            <a:endParaRPr lang="en-US" altLang="ko-K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E092F9-8E70-92E8-5E71-FD816894A876}"/>
              </a:ext>
            </a:extLst>
          </p:cNvPr>
          <p:cNvSpPr txBox="1"/>
          <p:nvPr/>
        </p:nvSpPr>
        <p:spPr>
          <a:xfrm>
            <a:off x="575328" y="3505736"/>
            <a:ext cx="10701422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/>
              <a:t>T </a:t>
            </a:r>
            <a:r>
              <a:rPr lang="ko-KR" altLang="en-US" dirty="0"/>
              <a:t>분포는 정규 분포와 형태가 비슷하지만</a:t>
            </a:r>
            <a:r>
              <a:rPr lang="en-US" altLang="ko-KR" dirty="0"/>
              <a:t>, </a:t>
            </a:r>
            <a:r>
              <a:rPr lang="ko-KR" altLang="en-US" dirty="0"/>
              <a:t>중앙의 높이는 더 낮고</a:t>
            </a:r>
            <a:r>
              <a:rPr lang="en-US" altLang="ko-KR" dirty="0"/>
              <a:t>, </a:t>
            </a:r>
            <a:r>
              <a:rPr lang="ko-KR" altLang="en-US" dirty="0" err="1"/>
              <a:t>양쪽옆의</a:t>
            </a:r>
            <a:r>
              <a:rPr lang="ko-KR" altLang="en-US" dirty="0"/>
              <a:t> 높이는 더 높은 </a:t>
            </a:r>
            <a:r>
              <a:rPr lang="ko-KR" altLang="en-US" dirty="0" err="1"/>
              <a:t>형태로데이타</a:t>
            </a:r>
            <a:r>
              <a:rPr lang="ko-KR" altLang="en-US" dirty="0"/>
              <a:t> 분포가 정규 분포에 비해서 조금 더 </a:t>
            </a:r>
            <a:r>
              <a:rPr lang="ko-KR" altLang="en-US" dirty="0" err="1"/>
              <a:t>산개된</a:t>
            </a:r>
            <a:r>
              <a:rPr lang="ko-KR" altLang="en-US" dirty="0"/>
              <a:t> 모양을 가지고 있음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B7B600-E247-A72E-7026-FB7F39CD7E5E}"/>
              </a:ext>
            </a:extLst>
          </p:cNvPr>
          <p:cNvSpPr txBox="1"/>
          <p:nvPr/>
        </p:nvSpPr>
        <p:spPr>
          <a:xfrm>
            <a:off x="575327" y="4690347"/>
            <a:ext cx="7176978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C00000"/>
                </a:solidFill>
              </a:rPr>
              <a:t>모집단의 평균이나 분산 값을 알지 </a:t>
            </a:r>
            <a:r>
              <a:rPr lang="ko-KR" altLang="en-US" dirty="0" err="1">
                <a:solidFill>
                  <a:srgbClr val="C00000"/>
                </a:solidFill>
              </a:rPr>
              <a:t>못할때</a:t>
            </a:r>
            <a:r>
              <a:rPr lang="en-US" altLang="ko-KR" dirty="0"/>
              <a:t>, </a:t>
            </a:r>
            <a:r>
              <a:rPr lang="ko-KR" altLang="en-US" dirty="0"/>
              <a:t>표본의 평균과 분산으로 모집단의 평균등의 신뢰 구간을 측정하는데 </a:t>
            </a:r>
            <a:r>
              <a:rPr lang="en-US" altLang="ko-KR" dirty="0"/>
              <a:t>T </a:t>
            </a:r>
            <a:r>
              <a:rPr lang="ko-KR" altLang="en-US" dirty="0"/>
              <a:t>분포를 사용</a:t>
            </a:r>
          </a:p>
        </p:txBody>
      </p:sp>
    </p:spTree>
    <p:extLst>
      <p:ext uri="{BB962C8B-B14F-4D97-AF65-F5344CB8AC3E}">
        <p14:creationId xmlns:p14="http://schemas.microsoft.com/office/powerpoint/2010/main" val="14593278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12" name="모서리가 둥근 직사각형 11"/>
          <p:cNvSpPr/>
          <p:nvPr/>
        </p:nvSpPr>
        <p:spPr>
          <a:xfrm>
            <a:off x="1131887" y="2789304"/>
            <a:ext cx="10293985" cy="3464560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1473199" y="375920"/>
            <a:ext cx="6746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통계적 가설 검정 절차</a:t>
            </a:r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949007" y="2657224"/>
            <a:ext cx="10293985" cy="3464560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7"/>
            <a:endParaRPr lang="en-US" altLang="ko-KR" sz="2000" b="0" i="0" dirty="0">
              <a:solidFill>
                <a:srgbClr val="666666"/>
              </a:solidFill>
              <a:effectLst/>
              <a:highlight>
                <a:srgbClr val="FFFFFF"/>
              </a:highlight>
              <a:latin typeface="Noto Sans" panose="020B0502040204020203" pitchFamily="34" charset="0"/>
            </a:endParaRPr>
          </a:p>
          <a:p>
            <a:pPr lvl="7"/>
            <a:r>
              <a:rPr lang="en-US" altLang="ko-KR" sz="2000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Noto Sans" panose="020B0502040204020203" pitchFamily="34" charset="0"/>
              </a:rPr>
              <a:t>1.</a:t>
            </a:r>
            <a:r>
              <a:rPr lang="ko-KR" altLang="en-US" sz="2000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Noto Sans" panose="020B0502040204020203" pitchFamily="34" charset="0"/>
              </a:rPr>
              <a:t>유의수준의 결정</a:t>
            </a:r>
            <a:r>
              <a:rPr lang="en-US" altLang="ko-KR" sz="2000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Noto Sans" panose="020B0502040204020203" pitchFamily="34" charset="0"/>
              </a:rPr>
              <a:t>, </a:t>
            </a:r>
            <a:r>
              <a:rPr lang="ko-KR" altLang="en-US" sz="2000" b="0" i="0" dirty="0" err="1">
                <a:solidFill>
                  <a:srgbClr val="666666"/>
                </a:solidFill>
                <a:effectLst/>
                <a:highlight>
                  <a:srgbClr val="FFFFFF"/>
                </a:highlight>
                <a:latin typeface="Noto Sans" panose="020B0502040204020203" pitchFamily="34" charset="0"/>
              </a:rPr>
              <a:t>귀무가설과</a:t>
            </a:r>
            <a:r>
              <a:rPr lang="ko-KR" altLang="en-US" sz="2000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Noto Sans" panose="020B0502040204020203" pitchFamily="34" charset="0"/>
              </a:rPr>
              <a:t> 대립가설 설정</a:t>
            </a:r>
            <a:endParaRPr lang="en-US" altLang="ko-KR" sz="2000" b="0" i="0" dirty="0">
              <a:solidFill>
                <a:srgbClr val="666666"/>
              </a:solidFill>
              <a:effectLst/>
              <a:highlight>
                <a:srgbClr val="FFFFFF"/>
              </a:highlight>
              <a:latin typeface="Noto Sans" panose="020B0502040204020203" pitchFamily="34" charset="0"/>
            </a:endParaRPr>
          </a:p>
          <a:p>
            <a:pPr marL="3657600" lvl="7" indent="-457200">
              <a:buAutoNum type="arabicPeriod"/>
            </a:pPr>
            <a:endParaRPr lang="ko-KR" altLang="en-US" sz="2000" b="0" i="0" dirty="0">
              <a:solidFill>
                <a:srgbClr val="666666"/>
              </a:solidFill>
              <a:effectLst/>
              <a:highlight>
                <a:srgbClr val="FFFFFF"/>
              </a:highlight>
              <a:latin typeface="Noto Sans" panose="020B0502040204020203" pitchFamily="34" charset="0"/>
            </a:endParaRPr>
          </a:p>
          <a:p>
            <a:pPr lvl="7"/>
            <a:r>
              <a:rPr lang="en-US" altLang="ko-KR" sz="2000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Noto Sans" panose="020B0502040204020203" pitchFamily="34" charset="0"/>
              </a:rPr>
              <a:t>2. </a:t>
            </a:r>
            <a:r>
              <a:rPr lang="ko-KR" altLang="en-US" sz="2000" b="0" i="0" dirty="0" err="1">
                <a:solidFill>
                  <a:srgbClr val="666666"/>
                </a:solidFill>
                <a:effectLst/>
                <a:highlight>
                  <a:srgbClr val="FFFFFF"/>
                </a:highlight>
                <a:latin typeface="Noto Sans" panose="020B0502040204020203" pitchFamily="34" charset="0"/>
              </a:rPr>
              <a:t>검정통계량</a:t>
            </a:r>
            <a:r>
              <a:rPr lang="ko-KR" altLang="en-US" sz="2000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Noto Sans" panose="020B0502040204020203" pitchFamily="34" charset="0"/>
              </a:rPr>
              <a:t> 결정</a:t>
            </a:r>
          </a:p>
          <a:p>
            <a:pPr lvl="7"/>
            <a:endParaRPr lang="en-US" altLang="ko-KR" sz="2000" b="0" i="0" dirty="0">
              <a:solidFill>
                <a:srgbClr val="666666"/>
              </a:solidFill>
              <a:effectLst/>
              <a:highlight>
                <a:srgbClr val="FFFFFF"/>
              </a:highlight>
              <a:latin typeface="Noto Sans" panose="020B0502040204020203" pitchFamily="34" charset="0"/>
            </a:endParaRPr>
          </a:p>
          <a:p>
            <a:pPr lvl="7"/>
            <a:r>
              <a:rPr lang="en-US" altLang="ko-KR" sz="2000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Noto Sans" panose="020B0502040204020203" pitchFamily="34" charset="0"/>
              </a:rPr>
              <a:t>3. </a:t>
            </a:r>
            <a:r>
              <a:rPr lang="ko-KR" altLang="en-US" sz="2000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Noto Sans" panose="020B0502040204020203" pitchFamily="34" charset="0"/>
              </a:rPr>
              <a:t>기각역의 설정</a:t>
            </a:r>
          </a:p>
          <a:p>
            <a:pPr lvl="7"/>
            <a:endParaRPr lang="en-US" altLang="ko-KR" sz="2000" b="0" i="0" dirty="0">
              <a:solidFill>
                <a:srgbClr val="666666"/>
              </a:solidFill>
              <a:effectLst/>
              <a:highlight>
                <a:srgbClr val="FFFFFF"/>
              </a:highlight>
              <a:latin typeface="Noto Sans" panose="020B0502040204020203" pitchFamily="34" charset="0"/>
            </a:endParaRPr>
          </a:p>
          <a:p>
            <a:pPr lvl="7"/>
            <a:r>
              <a:rPr lang="en-US" altLang="ko-KR" sz="2000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Noto Sans" panose="020B0502040204020203" pitchFamily="34" charset="0"/>
              </a:rPr>
              <a:t>4. </a:t>
            </a:r>
            <a:r>
              <a:rPr lang="ko-KR" altLang="en-US" sz="2000" b="0" i="0" dirty="0" err="1">
                <a:solidFill>
                  <a:srgbClr val="666666"/>
                </a:solidFill>
                <a:effectLst/>
                <a:highlight>
                  <a:srgbClr val="FFFFFF"/>
                </a:highlight>
                <a:latin typeface="Noto Sans" panose="020B0502040204020203" pitchFamily="34" charset="0"/>
              </a:rPr>
              <a:t>검정통계량</a:t>
            </a:r>
            <a:r>
              <a:rPr lang="ko-KR" altLang="en-US" sz="2000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Noto Sans" panose="020B0502040204020203" pitchFamily="34" charset="0"/>
              </a:rPr>
              <a:t> 계산</a:t>
            </a:r>
          </a:p>
          <a:p>
            <a:pPr lvl="7"/>
            <a:endParaRPr lang="en-US" altLang="ko-KR" sz="2000" b="0" i="0" dirty="0">
              <a:solidFill>
                <a:srgbClr val="666666"/>
              </a:solidFill>
              <a:effectLst/>
              <a:highlight>
                <a:srgbClr val="FFFFFF"/>
              </a:highlight>
              <a:latin typeface="Noto Sans" panose="020B0502040204020203" pitchFamily="34" charset="0"/>
            </a:endParaRPr>
          </a:p>
          <a:p>
            <a:pPr lvl="7"/>
            <a:r>
              <a:rPr lang="en-US" altLang="ko-KR" sz="2000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Noto Sans" panose="020B0502040204020203" pitchFamily="34" charset="0"/>
              </a:rPr>
              <a:t>5. </a:t>
            </a:r>
            <a:r>
              <a:rPr lang="ko-KR" altLang="en-US" sz="2000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Noto Sans" panose="020B0502040204020203" pitchFamily="34" charset="0"/>
              </a:rPr>
              <a:t>통계적인 의사결정</a:t>
            </a:r>
          </a:p>
          <a:p>
            <a:pPr marL="471476" marR="0" lvl="2" indent="-135728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E8456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ko-KR" altLang="en-US" sz="2000" dirty="0"/>
          </a:p>
        </p:txBody>
      </p:sp>
      <p:sp>
        <p:nvSpPr>
          <p:cNvPr id="16" name="타원 15"/>
          <p:cNvSpPr/>
          <p:nvPr/>
        </p:nvSpPr>
        <p:spPr>
          <a:xfrm>
            <a:off x="4495800" y="1813560"/>
            <a:ext cx="320040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1) </a:t>
            </a:r>
            <a:r>
              <a:rPr lang="ko-KR" altLang="en-US" b="1" dirty="0"/>
              <a:t>가설 검정 절차</a:t>
            </a:r>
          </a:p>
        </p:txBody>
      </p:sp>
      <p:grpSp>
        <p:nvGrpSpPr>
          <p:cNvPr id="24" name="그룹 23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932522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473199" y="375920"/>
            <a:ext cx="6746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통계적 가설 검정 예제</a:t>
            </a:r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F5444CAC-8B53-40E0-3358-501DCEF1DD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8058" y="2068073"/>
            <a:ext cx="9144000" cy="4550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타원 2">
            <a:extLst>
              <a:ext uri="{FF2B5EF4-FFF2-40B4-BE49-F238E27FC236}">
                <a16:creationId xmlns:a16="http://schemas.microsoft.com/office/drawing/2014/main" id="{640E0D4F-BB27-2794-C4D7-240C8352B035}"/>
              </a:ext>
            </a:extLst>
          </p:cNvPr>
          <p:cNvSpPr/>
          <p:nvPr/>
        </p:nvSpPr>
        <p:spPr>
          <a:xfrm>
            <a:off x="1099456" y="1311482"/>
            <a:ext cx="5459964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1) </a:t>
            </a:r>
            <a:r>
              <a:rPr lang="ko-KR" altLang="en-US" b="1" dirty="0" err="1"/>
              <a:t>귀무가설과</a:t>
            </a:r>
            <a:r>
              <a:rPr lang="ko-KR" altLang="en-US" b="1" dirty="0"/>
              <a:t> 대립 가설 설정</a:t>
            </a:r>
          </a:p>
        </p:txBody>
      </p:sp>
    </p:spTree>
    <p:extLst>
      <p:ext uri="{BB962C8B-B14F-4D97-AF65-F5344CB8AC3E}">
        <p14:creationId xmlns:p14="http://schemas.microsoft.com/office/powerpoint/2010/main" val="29084656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473199" y="375920"/>
            <a:ext cx="6746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통계적 가설 검정 예제</a:t>
            </a:r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타원 2">
            <a:extLst>
              <a:ext uri="{FF2B5EF4-FFF2-40B4-BE49-F238E27FC236}">
                <a16:creationId xmlns:a16="http://schemas.microsoft.com/office/drawing/2014/main" id="{B9BC8690-54DB-6803-C0E8-DA1669B10035}"/>
              </a:ext>
            </a:extLst>
          </p:cNvPr>
          <p:cNvSpPr/>
          <p:nvPr/>
        </p:nvSpPr>
        <p:spPr>
          <a:xfrm>
            <a:off x="752669" y="1805054"/>
            <a:ext cx="5459964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2) </a:t>
            </a:r>
            <a:r>
              <a:rPr lang="ko-KR" altLang="en-US" b="1" dirty="0"/>
              <a:t>검정 통계량 결정 및 계산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4C4EB6-EED5-C1F7-3F12-BBC9B7C2F626}"/>
              </a:ext>
            </a:extLst>
          </p:cNvPr>
          <p:cNvSpPr txBox="1"/>
          <p:nvPr/>
        </p:nvSpPr>
        <p:spPr>
          <a:xfrm>
            <a:off x="405882" y="2740207"/>
            <a:ext cx="6153538" cy="34163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l" latinLnBrk="1"/>
            <a:r>
              <a:rPr lang="en-US" altLang="ko-KR" b="0" i="0" dirty="0">
                <a:solidFill>
                  <a:srgbClr val="555555"/>
                </a:solidFill>
                <a:effectLst/>
                <a:latin typeface="AppleSDGothicNeo"/>
              </a:rPr>
              <a:t>: </a:t>
            </a:r>
            <a:r>
              <a:rPr lang="ko-KR" altLang="en-US" b="0" i="0" dirty="0" err="1">
                <a:solidFill>
                  <a:srgbClr val="555555"/>
                </a:solidFill>
                <a:effectLst/>
                <a:latin typeface="AppleSDGothicNeo"/>
              </a:rPr>
              <a:t>귀무가설이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AppleSDGothicNeo"/>
              </a:rPr>
              <a:t> 참이라는 가정 아래 얻은 통계량 </a:t>
            </a:r>
            <a:endParaRPr lang="en-US" altLang="ko-KR" b="0" i="0" dirty="0">
              <a:solidFill>
                <a:srgbClr val="555555"/>
              </a:solidFill>
              <a:effectLst/>
              <a:latin typeface="AppleSDGothicNeo"/>
            </a:endParaRPr>
          </a:p>
          <a:p>
            <a:pPr algn="l" latinLnBrk="1"/>
            <a:endParaRPr lang="ko-KR" altLang="en-US" b="0" i="0" dirty="0">
              <a:solidFill>
                <a:srgbClr val="555555"/>
              </a:solidFill>
              <a:effectLst/>
              <a:latin typeface="AppleSDGothicNeo"/>
            </a:endParaRPr>
          </a:p>
          <a:p>
            <a:pPr algn="l" latinLnBrk="1"/>
            <a:r>
              <a:rPr lang="en-US" altLang="ko-KR" b="0" i="0" dirty="0">
                <a:solidFill>
                  <a:srgbClr val="555555"/>
                </a:solidFill>
                <a:effectLst/>
                <a:latin typeface="AppleSDGothicNeo"/>
              </a:rPr>
              <a:t>: t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AppleSDGothicNeo"/>
              </a:rPr>
              <a:t>분포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AppleSDGothicNeo"/>
              </a:rPr>
              <a:t>, </a:t>
            </a:r>
            <a:r>
              <a:rPr lang="ko-KR" altLang="en-US" b="0" i="0" dirty="0" err="1">
                <a:solidFill>
                  <a:srgbClr val="555555"/>
                </a:solidFill>
                <a:effectLst/>
                <a:latin typeface="AppleSDGothicNeo"/>
              </a:rPr>
              <a:t>표분정규분포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AppleSDGothicNeo"/>
              </a:rPr>
              <a:t>, F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AppleSDGothicNeo"/>
              </a:rPr>
              <a:t>분포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AppleSDGothicNeo"/>
              </a:rPr>
              <a:t>, </a:t>
            </a:r>
            <a:r>
              <a:rPr lang="ko-KR" altLang="en-US" b="0" i="0" dirty="0" err="1">
                <a:solidFill>
                  <a:srgbClr val="555555"/>
                </a:solidFill>
                <a:effectLst/>
                <a:latin typeface="AppleSDGothicNeo"/>
              </a:rPr>
              <a:t>카이제곱분포를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AppleSDGothicNeo"/>
              </a:rPr>
              <a:t> 사용하고 이를 일컬어 검정 </a:t>
            </a:r>
            <a:r>
              <a:rPr lang="ko-KR" altLang="en-US" b="0" i="0" dirty="0" err="1">
                <a:solidFill>
                  <a:srgbClr val="555555"/>
                </a:solidFill>
                <a:effectLst/>
                <a:latin typeface="AppleSDGothicNeo"/>
              </a:rPr>
              <a:t>통계량이라함</a:t>
            </a:r>
            <a:endParaRPr lang="ko-KR" altLang="en-US" b="0" i="0" dirty="0">
              <a:solidFill>
                <a:srgbClr val="555555"/>
              </a:solidFill>
              <a:effectLst/>
              <a:latin typeface="AppleSDGothicNeo"/>
            </a:endParaRPr>
          </a:p>
          <a:p>
            <a:pPr algn="l" latinLnBrk="1"/>
            <a:endParaRPr lang="en-US" altLang="ko-KR" b="0" i="0" dirty="0">
              <a:solidFill>
                <a:srgbClr val="555555"/>
              </a:solidFill>
              <a:effectLst/>
              <a:latin typeface="AppleSDGothicNeo"/>
            </a:endParaRPr>
          </a:p>
          <a:p>
            <a:pPr algn="l" latinLnBrk="1"/>
            <a:r>
              <a:rPr lang="en-US" altLang="ko-KR" b="0" i="0" dirty="0">
                <a:solidFill>
                  <a:srgbClr val="555555"/>
                </a:solidFill>
                <a:effectLst/>
                <a:latin typeface="AppleSDGothicNeo"/>
              </a:rPr>
              <a:t>: 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AppleSDGothicNeo"/>
              </a:rPr>
              <a:t>통계적 가설의 진위여부를 검정하기 위해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AppleSDGothicNeo"/>
              </a:rPr>
              <a:t>, 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AppleSDGothicNeo"/>
              </a:rPr>
              <a:t>표본으로부터 계산하는 통계량 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AppleSDGothicNeo"/>
              </a:rPr>
              <a:t>--&gt; 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AppleSDGothicNeo"/>
              </a:rPr>
              <a:t>즉 표본 통계량을 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AppleSDGothicNeo"/>
              </a:rPr>
              <a:t>2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AppleSDGothicNeo"/>
              </a:rPr>
              <a:t>차 가공한 것 </a:t>
            </a:r>
          </a:p>
          <a:p>
            <a:pPr algn="l" latinLnBrk="1"/>
            <a:endParaRPr lang="en-US" altLang="ko-KR" b="0" i="0" dirty="0">
              <a:solidFill>
                <a:srgbClr val="555555"/>
              </a:solidFill>
              <a:effectLst/>
              <a:latin typeface="AppleSDGothicNeo"/>
            </a:endParaRPr>
          </a:p>
          <a:p>
            <a:pPr algn="l" latinLnBrk="1"/>
            <a:r>
              <a:rPr lang="en-US" altLang="ko-KR" b="0" i="0" dirty="0">
                <a:solidFill>
                  <a:srgbClr val="555555"/>
                </a:solidFill>
                <a:effectLst/>
                <a:latin typeface="AppleSDGothicNeo"/>
              </a:rPr>
              <a:t>+) 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AppleSDGothicNeo"/>
              </a:rPr>
              <a:t>표본 통계량과의 차이점 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AppleSDGothicNeo"/>
              </a:rPr>
              <a:t>: 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AppleSDGothicNeo"/>
              </a:rPr>
              <a:t>검정 통계량의 목적은 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AppleSDGothicNeo"/>
              </a:rPr>
              <a:t>2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AppleSDGothicNeo"/>
              </a:rPr>
              <a:t>표본을 비교 분석 하는 것에 초점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AppleSDGothicNeo"/>
              </a:rPr>
              <a:t>, 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AppleSDGothicNeo"/>
              </a:rPr>
              <a:t>표본 통계량에서 가공한 것 </a:t>
            </a:r>
          </a:p>
          <a:p>
            <a:pPr algn="l" latinLnBrk="1"/>
            <a:endParaRPr lang="en-US" altLang="ko-KR" b="0" i="0" dirty="0">
              <a:solidFill>
                <a:srgbClr val="555555"/>
              </a:solidFill>
              <a:effectLst/>
              <a:latin typeface="AppleSDGothicNeo"/>
            </a:endParaRPr>
          </a:p>
          <a:p>
            <a:pPr algn="l" latinLnBrk="1"/>
            <a:r>
              <a:rPr lang="ko-KR" altLang="en-US" b="0" i="0" dirty="0">
                <a:solidFill>
                  <a:srgbClr val="555555"/>
                </a:solidFill>
                <a:effectLst/>
                <a:latin typeface="AppleSDGothicNeo"/>
              </a:rPr>
              <a:t> 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AppleSDGothicNeo"/>
              </a:rPr>
              <a:t>: </a:t>
            </a:r>
            <a:r>
              <a:rPr lang="ko-KR" altLang="en-US" b="0" i="0" dirty="0" err="1">
                <a:solidFill>
                  <a:srgbClr val="555555"/>
                </a:solidFill>
                <a:effectLst/>
                <a:latin typeface="AppleSDGothicNeo"/>
              </a:rPr>
              <a:t>검정통계량의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AppleSDGothicNeo"/>
              </a:rPr>
              <a:t> 종류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B9F2401-A526-8260-1B18-834142C158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5302" y="3577258"/>
            <a:ext cx="4945223" cy="2103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81295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473199" y="375920"/>
            <a:ext cx="6746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통계적 가설 검정 예제</a:t>
            </a:r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타원 2">
            <a:extLst>
              <a:ext uri="{FF2B5EF4-FFF2-40B4-BE49-F238E27FC236}">
                <a16:creationId xmlns:a16="http://schemas.microsoft.com/office/drawing/2014/main" id="{B9BC8690-54DB-6803-C0E8-DA1669B10035}"/>
              </a:ext>
            </a:extLst>
          </p:cNvPr>
          <p:cNvSpPr/>
          <p:nvPr/>
        </p:nvSpPr>
        <p:spPr>
          <a:xfrm>
            <a:off x="538065" y="1413869"/>
            <a:ext cx="5459964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3) p-value </a:t>
            </a:r>
            <a:r>
              <a:rPr lang="ko-KR" altLang="en-US" b="1" dirty="0"/>
              <a:t>계산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E782DBBF-1728-D680-E3E3-F5A5666BF1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897" y="2272847"/>
            <a:ext cx="9696450" cy="4261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56798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473199" y="375920"/>
            <a:ext cx="6746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검정 통계량</a:t>
            </a:r>
            <a:r>
              <a:rPr lang="en-US" altLang="ko-KR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확률 변수</a:t>
            </a:r>
            <a:r>
              <a:rPr lang="en-US" altLang="ko-KR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C114B3DD-D591-3E61-DFD8-C2FE4DD4A8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2652" y="1766547"/>
            <a:ext cx="7306695" cy="471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023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탬플릿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CA9AE"/>
      </a:accent1>
      <a:accent2>
        <a:srgbClr val="93C9D4"/>
      </a:accent2>
      <a:accent3>
        <a:srgbClr val="EBE2D9"/>
      </a:accent3>
      <a:accent4>
        <a:srgbClr val="FFC000"/>
      </a:accent4>
      <a:accent5>
        <a:srgbClr val="FECCB3"/>
      </a:accent5>
      <a:accent6>
        <a:srgbClr val="FF9763"/>
      </a:accent6>
      <a:hlink>
        <a:srgbClr val="0563C1"/>
      </a:hlink>
      <a:folHlink>
        <a:srgbClr val="954F72"/>
      </a:folHlink>
    </a:clrScheme>
    <a:fontScheme name="사용자 지정 3">
      <a:majorFont>
        <a:latin typeface="나눔고딕 ExtraBold"/>
        <a:ea typeface="맑은 고딕"/>
        <a:cs typeface=""/>
      </a:majorFont>
      <a:minorFont>
        <a:latin typeface="나눔바른고딕 Light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3200" b="1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1836</TotalTime>
  <Words>1791</Words>
  <Application>Microsoft Office PowerPoint</Application>
  <PresentationFormat>와이드스크린</PresentationFormat>
  <Paragraphs>206</Paragraphs>
  <Slides>34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45" baseType="lpstr">
      <vt:lpstr>AppleSDGothicNeo</vt:lpstr>
      <vt:lpstr>-apple-system</vt:lpstr>
      <vt:lpstr>Arial Unicode MS</vt:lpstr>
      <vt:lpstr>HY견고딕</vt:lpstr>
      <vt:lpstr>Pretendard JP</vt:lpstr>
      <vt:lpstr>나눔바른고딕</vt:lpstr>
      <vt:lpstr>맑은 고딕</vt:lpstr>
      <vt:lpstr>Arial</vt:lpstr>
      <vt:lpstr>Cambria Math</vt:lpstr>
      <vt:lpstr>Noto Sans</vt:lpstr>
      <vt:lpstr>Office 테마</vt:lpstr>
      <vt:lpstr> 너(통알못)를 위한 통계적 분석  (파이썬)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최웅비</dc:creator>
  <cp:lastModifiedBy>user220</cp:lastModifiedBy>
  <cp:revision>232</cp:revision>
  <dcterms:created xsi:type="dcterms:W3CDTF">2017-06-16T14:09:50Z</dcterms:created>
  <dcterms:modified xsi:type="dcterms:W3CDTF">2026-06-09T13:55:27Z</dcterms:modified>
</cp:coreProperties>
</file>