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1" r:id="rId3"/>
    <p:sldId id="263" r:id="rId4"/>
    <p:sldId id="364" r:id="rId5"/>
    <p:sldId id="363" r:id="rId6"/>
    <p:sldId id="365" r:id="rId7"/>
    <p:sldId id="366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3C9D4"/>
    <a:srgbClr val="FECCB3"/>
    <a:srgbClr val="EBE2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0780" autoAdjust="0"/>
  </p:normalViewPr>
  <p:slideViewPr>
    <p:cSldViewPr snapToGrid="0">
      <p:cViewPr varScale="1">
        <p:scale>
          <a:sx n="90" d="100"/>
          <a:sy n="90" d="100"/>
        </p:scale>
        <p:origin x="66" y="3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19C5A5-FB7C-4404-8A54-1ABAD078A835}" type="datetimeFigureOut">
              <a:rPr lang="ko-KR" altLang="en-US" smtClean="0"/>
              <a:t>2024-09-24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3DFDED-2E9F-41DA-A9FA-780DFF4193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4430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68739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https://post-blog.insilicogen.com/blog/361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61057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https://post-blog.insilicogen.com/blog/361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34644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https://post-blog.insilicogen.com/blog/361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DFDED-2E9F-41DA-A9FA-780DFF41939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0909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26" name="텍스트 개체 틀 25"/>
          <p:cNvSpPr>
            <a:spLocks noGrp="1"/>
          </p:cNvSpPr>
          <p:nvPr>
            <p:ph type="body" sz="quarter" idx="10"/>
          </p:nvPr>
        </p:nvSpPr>
        <p:spPr>
          <a:xfrm>
            <a:off x="838200" y="2041525"/>
            <a:ext cx="10515600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08305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/>
          <p:cNvSpPr>
            <a:spLocks noGrp="1"/>
          </p:cNvSpPr>
          <p:nvPr>
            <p:ph type="title"/>
          </p:nvPr>
        </p:nvSpPr>
        <p:spPr>
          <a:xfrm>
            <a:off x="1500325" y="302895"/>
            <a:ext cx="10515600" cy="71945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117979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5" name="직선 연결선 4"/>
          <p:cNvCxnSpPr/>
          <p:nvPr userDrawn="1"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383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5698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jpe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그림 6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67" name="직선 연결선 66"/>
          <p:cNvCxnSpPr/>
          <p:nvPr/>
        </p:nvCxnSpPr>
        <p:spPr>
          <a:xfrm>
            <a:off x="1282007" y="3297382"/>
            <a:ext cx="530352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제목 1"/>
          <p:cNvSpPr>
            <a:spLocks noGrp="1"/>
          </p:cNvSpPr>
          <p:nvPr>
            <p:ph type="title"/>
          </p:nvPr>
        </p:nvSpPr>
        <p:spPr>
          <a:xfrm>
            <a:off x="-681134" y="2007510"/>
            <a:ext cx="8024326" cy="1280159"/>
          </a:xfrm>
        </p:spPr>
        <p:txBody>
          <a:bodyPr/>
          <a:lstStyle/>
          <a:p>
            <a:pPr algn="ctr"/>
            <a:r>
              <a:rPr lang="en-US" altLang="ko-KR" sz="3600" dirty="0"/>
              <a:t>	</a:t>
            </a:r>
            <a:r>
              <a:rPr lang="ko-KR" altLang="en-US" sz="3600" dirty="0">
                <a:latin typeface="HY견고딕" panose="02030600000101010101" pitchFamily="18" charset="-127"/>
                <a:ea typeface="HY견고딕" panose="02030600000101010101" pitchFamily="18" charset="-127"/>
              </a:rPr>
              <a:t>너를 위한 탐색적 분석</a:t>
            </a:r>
            <a:r>
              <a:rPr lang="en-US" altLang="ko-KR" sz="3600" dirty="0">
                <a:latin typeface="HY견고딕" panose="02030600000101010101" pitchFamily="18" charset="-127"/>
                <a:ea typeface="HY견고딕" panose="02030600000101010101" pitchFamily="18" charset="-127"/>
              </a:rPr>
              <a:t>(EDA)</a:t>
            </a:r>
            <a:r>
              <a:rPr lang="ko-KR" altLang="en-US" sz="3600" dirty="0">
                <a:latin typeface="HY견고딕" panose="02030600000101010101" pitchFamily="18" charset="-127"/>
                <a:ea typeface="HY견고딕" panose="02030600000101010101" pitchFamily="18" charset="-127"/>
              </a:rPr>
              <a:t> </a:t>
            </a:r>
            <a:br>
              <a:rPr lang="en-US" altLang="ko-KR" sz="3600" dirty="0">
                <a:latin typeface="HY견고딕" panose="02030600000101010101" pitchFamily="18" charset="-127"/>
                <a:ea typeface="HY견고딕" panose="02030600000101010101" pitchFamily="18" charset="-127"/>
              </a:rPr>
            </a:br>
            <a:endParaRPr lang="ko-KR" altLang="en-US" sz="36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71" name="텍스트 개체 틀 70"/>
          <p:cNvSpPr>
            <a:spLocks noGrp="1"/>
          </p:cNvSpPr>
          <p:nvPr>
            <p:ph type="body" sz="quarter" idx="10"/>
          </p:nvPr>
        </p:nvSpPr>
        <p:spPr>
          <a:xfrm>
            <a:off x="1155007" y="3581689"/>
            <a:ext cx="5430520" cy="462914"/>
          </a:xfrm>
        </p:spPr>
        <p:txBody>
          <a:bodyPr/>
          <a:lstStyle/>
          <a:p>
            <a:pPr algn="ctr"/>
            <a:r>
              <a:rPr lang="ko-KR" altLang="en-US" sz="1800" dirty="0">
                <a:latin typeface="+mn-ea"/>
              </a:rPr>
              <a:t>강사 </a:t>
            </a:r>
            <a:r>
              <a:rPr lang="en-US" altLang="ko-KR" sz="1800" dirty="0">
                <a:latin typeface="+mn-ea"/>
              </a:rPr>
              <a:t>: </a:t>
            </a:r>
            <a:r>
              <a:rPr lang="ko-KR" altLang="en-US" sz="1800" dirty="0" err="1">
                <a:latin typeface="+mn-ea"/>
              </a:rPr>
              <a:t>쿵스보이</a:t>
            </a:r>
            <a:r>
              <a:rPr lang="ko-KR" altLang="en-US" sz="1800" dirty="0">
                <a:latin typeface="+mn-ea"/>
              </a:rPr>
              <a:t> </a:t>
            </a:r>
            <a:r>
              <a:rPr lang="en-US" altLang="ko-KR" sz="1800" dirty="0">
                <a:latin typeface="+mn-ea"/>
              </a:rPr>
              <a:t>(</a:t>
            </a:r>
            <a:r>
              <a:rPr lang="ko-KR" altLang="en-US" sz="1800" dirty="0">
                <a:latin typeface="+mn-ea"/>
              </a:rPr>
              <a:t>얼짱 뮤지션</a:t>
            </a:r>
            <a:r>
              <a:rPr lang="en-US" altLang="ko-KR" sz="1800" dirty="0">
                <a:latin typeface="+mn-ea"/>
              </a:rPr>
              <a:t>)</a:t>
            </a:r>
            <a:endParaRPr lang="ko-KR" altLang="en-US" sz="1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84204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0" y="0"/>
            <a:ext cx="278384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665172" y="317083"/>
            <a:ext cx="14534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800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 </a:t>
            </a:r>
            <a:r>
              <a:rPr lang="ko-KR" altLang="en-US" sz="4800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례</a:t>
            </a:r>
            <a:endParaRPr lang="ko-KR" altLang="en-US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cxnSp>
        <p:nvCxnSpPr>
          <p:cNvPr id="21" name="직선 연결선 20"/>
          <p:cNvCxnSpPr/>
          <p:nvPr/>
        </p:nvCxnSpPr>
        <p:spPr>
          <a:xfrm>
            <a:off x="210820" y="1148080"/>
            <a:ext cx="23622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/>
          <p:cNvSpPr/>
          <p:nvPr/>
        </p:nvSpPr>
        <p:spPr>
          <a:xfrm>
            <a:off x="2783840" y="2030"/>
            <a:ext cx="940816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3280122" y="1505866"/>
            <a:ext cx="7425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001</a:t>
            </a:r>
            <a:endParaRPr lang="ko-KR" altLang="en-US" sz="24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280119" y="2654784"/>
            <a:ext cx="7232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002</a:t>
            </a:r>
            <a:endParaRPr lang="ko-KR" altLang="en-US" sz="24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58" name="그룹 57"/>
          <p:cNvGrpSpPr/>
          <p:nvPr/>
        </p:nvGrpSpPr>
        <p:grpSpPr>
          <a:xfrm>
            <a:off x="9530105" y="3282811"/>
            <a:ext cx="1002625" cy="1002625"/>
            <a:chOff x="7843891" y="896970"/>
            <a:chExt cx="1002625" cy="1002625"/>
          </a:xfrm>
          <a:effectLst>
            <a:outerShdw blurRad="50800" dist="50800" dir="5400000" algn="ctr" rotWithShape="0">
              <a:srgbClr val="000000">
                <a:alpha val="99000"/>
              </a:srgbClr>
            </a:outerShdw>
          </a:effectLst>
        </p:grpSpPr>
        <p:sp>
          <p:nvSpPr>
            <p:cNvPr id="59" name="타원 58"/>
            <p:cNvSpPr/>
            <p:nvPr/>
          </p:nvSpPr>
          <p:spPr>
            <a:xfrm>
              <a:off x="7910432" y="972344"/>
              <a:ext cx="861703" cy="861703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0" name="그림 5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843891" y="896970"/>
              <a:ext cx="1002625" cy="1002625"/>
            </a:xfrm>
            <a:prstGeom prst="rect">
              <a:avLst/>
            </a:prstGeom>
          </p:spPr>
        </p:pic>
      </p:grpSp>
      <p:grpSp>
        <p:nvGrpSpPr>
          <p:cNvPr id="61" name="그룹 60"/>
          <p:cNvGrpSpPr/>
          <p:nvPr/>
        </p:nvGrpSpPr>
        <p:grpSpPr>
          <a:xfrm>
            <a:off x="9119238" y="1331958"/>
            <a:ext cx="1126436" cy="1161619"/>
            <a:chOff x="9235480" y="796119"/>
            <a:chExt cx="1126436" cy="1161619"/>
          </a:xfrm>
          <a:effectLst>
            <a:outerShdw blurRad="50800" dist="50800" dir="5400000" algn="ctr" rotWithShape="0">
              <a:srgbClr val="000000">
                <a:alpha val="99000"/>
              </a:srgbClr>
            </a:outerShdw>
          </a:effectLst>
        </p:grpSpPr>
        <p:sp>
          <p:nvSpPr>
            <p:cNvPr id="62" name="타원 61"/>
            <p:cNvSpPr/>
            <p:nvPr/>
          </p:nvSpPr>
          <p:spPr>
            <a:xfrm>
              <a:off x="9235480" y="796119"/>
              <a:ext cx="1126436" cy="116161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3" name="그림 6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816476">
              <a:off x="9330610" y="874558"/>
              <a:ext cx="903180" cy="903180"/>
            </a:xfrm>
            <a:prstGeom prst="rect">
              <a:avLst/>
            </a:prstGeom>
          </p:spPr>
        </p:pic>
      </p:grpSp>
      <p:grpSp>
        <p:nvGrpSpPr>
          <p:cNvPr id="64" name="그룹 63"/>
          <p:cNvGrpSpPr/>
          <p:nvPr/>
        </p:nvGrpSpPr>
        <p:grpSpPr>
          <a:xfrm>
            <a:off x="10532730" y="2216387"/>
            <a:ext cx="945641" cy="945641"/>
            <a:chOff x="10598624" y="1250741"/>
            <a:chExt cx="1554480" cy="1554480"/>
          </a:xfrm>
          <a:effectLst>
            <a:outerShdw blurRad="50800" dist="50800" dir="5400000" algn="ctr" rotWithShape="0">
              <a:srgbClr val="000000">
                <a:alpha val="99000"/>
              </a:srgbClr>
            </a:outerShdw>
          </a:effectLst>
        </p:grpSpPr>
        <p:sp>
          <p:nvSpPr>
            <p:cNvPr id="65" name="타원 64"/>
            <p:cNvSpPr/>
            <p:nvPr/>
          </p:nvSpPr>
          <p:spPr>
            <a:xfrm>
              <a:off x="10598624" y="1250741"/>
              <a:ext cx="1554480" cy="155448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6" name="그림 6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096085" flipH="1">
              <a:off x="10659225" y="1313972"/>
              <a:ext cx="1428019" cy="1428019"/>
            </a:xfrm>
            <a:prstGeom prst="rect">
              <a:avLst/>
            </a:prstGeom>
          </p:spPr>
        </p:pic>
      </p:grpSp>
      <p:grpSp>
        <p:nvGrpSpPr>
          <p:cNvPr id="67" name="그룹 66"/>
          <p:cNvGrpSpPr/>
          <p:nvPr/>
        </p:nvGrpSpPr>
        <p:grpSpPr>
          <a:xfrm rot="20306595">
            <a:off x="10624080" y="4282562"/>
            <a:ext cx="759741" cy="759741"/>
            <a:chOff x="7234606" y="2818164"/>
            <a:chExt cx="1299384" cy="1299384"/>
          </a:xfrm>
          <a:effectLst>
            <a:outerShdw blurRad="50800" dist="50800" dir="5400000" algn="ctr" rotWithShape="0">
              <a:srgbClr val="000000">
                <a:alpha val="99000"/>
              </a:srgbClr>
            </a:outerShdw>
          </a:effectLst>
        </p:grpSpPr>
        <p:sp>
          <p:nvSpPr>
            <p:cNvPr id="68" name="타원 67"/>
            <p:cNvSpPr/>
            <p:nvPr/>
          </p:nvSpPr>
          <p:spPr>
            <a:xfrm>
              <a:off x="7234606" y="2818164"/>
              <a:ext cx="1299384" cy="1299384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69" name="그림 68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068018">
              <a:off x="7348859" y="2906585"/>
              <a:ext cx="1028390" cy="1028390"/>
            </a:xfrm>
            <a:prstGeom prst="rect">
              <a:avLst/>
            </a:prstGeom>
          </p:spPr>
        </p:pic>
      </p:grpSp>
      <p:grpSp>
        <p:nvGrpSpPr>
          <p:cNvPr id="70" name="그룹 69"/>
          <p:cNvGrpSpPr/>
          <p:nvPr/>
        </p:nvGrpSpPr>
        <p:grpSpPr>
          <a:xfrm>
            <a:off x="10452677" y="43225"/>
            <a:ext cx="1384615" cy="1421211"/>
            <a:chOff x="6525279" y="4005131"/>
            <a:chExt cx="1384615" cy="1421211"/>
          </a:xfrm>
          <a:effectLst>
            <a:outerShdw blurRad="50800" dist="50800" dir="5400000" algn="ctr" rotWithShape="0">
              <a:srgbClr val="000000">
                <a:alpha val="99000"/>
              </a:srgbClr>
            </a:outerShdw>
          </a:effectLst>
        </p:grpSpPr>
        <p:sp>
          <p:nvSpPr>
            <p:cNvPr id="71" name="타원 70"/>
            <p:cNvSpPr/>
            <p:nvPr/>
          </p:nvSpPr>
          <p:spPr>
            <a:xfrm rot="20906056">
              <a:off x="6536395" y="4005131"/>
              <a:ext cx="1373499" cy="1421211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2" name="그룹 71"/>
            <p:cNvGrpSpPr/>
            <p:nvPr/>
          </p:nvGrpSpPr>
          <p:grpSpPr>
            <a:xfrm rot="21039598">
              <a:off x="6525279" y="4253758"/>
              <a:ext cx="1271708" cy="937561"/>
              <a:chOff x="8426887" y="595056"/>
              <a:chExt cx="1484025" cy="1094091"/>
            </a:xfrm>
          </p:grpSpPr>
          <p:pic>
            <p:nvPicPr>
              <p:cNvPr id="73" name="그림 72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26887" y="595056"/>
                <a:ext cx="965288" cy="965288"/>
              </a:xfrm>
              <a:prstGeom prst="rect">
                <a:avLst/>
              </a:prstGeom>
            </p:spPr>
          </p:pic>
          <p:pic>
            <p:nvPicPr>
              <p:cNvPr id="74" name="그림 73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207929" y="644056"/>
                <a:ext cx="702983" cy="702983"/>
              </a:xfrm>
              <a:prstGeom prst="rect">
                <a:avLst/>
              </a:prstGeom>
            </p:spPr>
          </p:pic>
          <p:pic>
            <p:nvPicPr>
              <p:cNvPr id="75" name="그림 74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185081" y="1318496"/>
                <a:ext cx="370651" cy="370651"/>
              </a:xfrm>
              <a:prstGeom prst="rect">
                <a:avLst/>
              </a:prstGeom>
            </p:spPr>
          </p:pic>
        </p:grpSp>
      </p:grpSp>
      <p:pic>
        <p:nvPicPr>
          <p:cNvPr id="76" name="그림 75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866"/>
          <a:stretch/>
        </p:blipFill>
        <p:spPr>
          <a:xfrm>
            <a:off x="9530105" y="5088077"/>
            <a:ext cx="2307788" cy="1780083"/>
          </a:xfrm>
          <a:prstGeom prst="rect">
            <a:avLst/>
          </a:prstGeom>
        </p:spPr>
      </p:pic>
      <p:cxnSp>
        <p:nvCxnSpPr>
          <p:cNvPr id="78" name="직선 연결선 77"/>
          <p:cNvCxnSpPr/>
          <p:nvPr/>
        </p:nvCxnSpPr>
        <p:spPr>
          <a:xfrm>
            <a:off x="3367206" y="1896411"/>
            <a:ext cx="49784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/>
          <p:cNvCxnSpPr/>
          <p:nvPr/>
        </p:nvCxnSpPr>
        <p:spPr>
          <a:xfrm>
            <a:off x="3377366" y="3048733"/>
            <a:ext cx="49784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157D04D-67E5-41EA-95DA-C4B2AA7A093E}"/>
              </a:ext>
            </a:extLst>
          </p:cNvPr>
          <p:cNvSpPr txBox="1"/>
          <p:nvPr/>
        </p:nvSpPr>
        <p:spPr>
          <a:xfrm>
            <a:off x="4167752" y="1505866"/>
            <a:ext cx="20976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rPr>
              <a:t>EDA</a:t>
            </a:r>
            <a:r>
              <a:rPr lang="ko-KR" altLang="en-US" sz="2800" b="1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rPr>
              <a:t>의 이해</a:t>
            </a:r>
          </a:p>
        </p:txBody>
      </p:sp>
    </p:spTree>
    <p:extLst>
      <p:ext uri="{BB962C8B-B14F-4D97-AF65-F5344CB8AC3E}">
        <p14:creationId xmlns:p14="http://schemas.microsoft.com/office/powerpoint/2010/main" val="1502462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422640" y="0"/>
            <a:ext cx="3494867" cy="64479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1300" dirty="0">
                <a:solidFill>
                  <a:schemeClr val="accent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1</a:t>
            </a:r>
            <a:endParaRPr lang="ko-KR" altLang="en-US" sz="41300" dirty="0">
              <a:solidFill>
                <a:schemeClr val="accent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3394385" y="2666409"/>
            <a:ext cx="4196080" cy="0"/>
          </a:xfrm>
          <a:prstGeom prst="line">
            <a:avLst/>
          </a:prstGeom>
          <a:ln w="539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>
            <a:cxnSpLocks/>
          </p:cNvCxnSpPr>
          <p:nvPr/>
        </p:nvCxnSpPr>
        <p:spPr>
          <a:xfrm>
            <a:off x="3225101" y="5070548"/>
            <a:ext cx="5055772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779709" y="1882314"/>
            <a:ext cx="348505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탐색적 분석</a:t>
            </a:r>
            <a:r>
              <a:rPr lang="en-US" altLang="ko-KR" sz="3200" b="1" dirty="0"/>
              <a:t>(EDA)</a:t>
            </a:r>
            <a:endParaRPr lang="ko-KR" altLang="en-US" sz="32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3380216" y="3015320"/>
            <a:ext cx="21003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u="sng" dirty="0">
                <a:solidFill>
                  <a:schemeClr val="bg2">
                    <a:lumMod val="25000"/>
                  </a:schemeClr>
                </a:solidFill>
              </a:rPr>
              <a:t>001 EDA</a:t>
            </a:r>
            <a:r>
              <a:rPr lang="ko-KR" altLang="en-US" sz="2800" u="sng" dirty="0">
                <a:solidFill>
                  <a:schemeClr val="bg2">
                    <a:lumMod val="25000"/>
                  </a:schemeClr>
                </a:solidFill>
              </a:rPr>
              <a:t>란</a:t>
            </a:r>
            <a:r>
              <a:rPr lang="en-US" altLang="ko-KR" sz="2800" u="sng" dirty="0">
                <a:solidFill>
                  <a:schemeClr val="bg2">
                    <a:lumMod val="25000"/>
                  </a:schemeClr>
                </a:solidFill>
              </a:rPr>
              <a:t>?</a:t>
            </a:r>
            <a:endParaRPr lang="ko-KR" altLang="en-US" sz="28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380216" y="3826279"/>
            <a:ext cx="776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u="sn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002</a:t>
            </a:r>
            <a:endParaRPr lang="ko-KR" altLang="en-US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75748B-980D-5894-188D-8EB2BDB640D7}"/>
              </a:ext>
            </a:extLst>
          </p:cNvPr>
          <p:cNvSpPr txBox="1"/>
          <p:nvPr/>
        </p:nvSpPr>
        <p:spPr>
          <a:xfrm>
            <a:off x="3369515" y="4554743"/>
            <a:ext cx="776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u="sn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003</a:t>
            </a:r>
            <a:endParaRPr lang="ko-KR" altLang="en-US" sz="2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1816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199" y="375920"/>
            <a:ext cx="7096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EDA(Exploratory Data Analysis)</a:t>
            </a:r>
            <a:endParaRPr lang="ko-KR" altLang="en-US" sz="36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>
          <a:xfrm>
            <a:off x="575942" y="6151153"/>
            <a:ext cx="419741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그룹 20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모서리가 둥근 직사각형 13">
            <a:extLst>
              <a:ext uri="{FF2B5EF4-FFF2-40B4-BE49-F238E27FC236}">
                <a16:creationId xmlns:a16="http://schemas.microsoft.com/office/drawing/2014/main" id="{B6B754FE-C67E-A390-8963-9067367CC0C2}"/>
              </a:ext>
            </a:extLst>
          </p:cNvPr>
          <p:cNvSpPr/>
          <p:nvPr/>
        </p:nvSpPr>
        <p:spPr>
          <a:xfrm>
            <a:off x="6617295" y="2666274"/>
            <a:ext cx="5535335" cy="2737602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모서리가 둥근 직사각형 12">
            <a:extLst>
              <a:ext uri="{FF2B5EF4-FFF2-40B4-BE49-F238E27FC236}">
                <a16:creationId xmlns:a16="http://schemas.microsoft.com/office/drawing/2014/main" id="{ED16A17F-A431-FB06-1CA1-80B1837DCE07}"/>
              </a:ext>
            </a:extLst>
          </p:cNvPr>
          <p:cNvSpPr/>
          <p:nvPr/>
        </p:nvSpPr>
        <p:spPr>
          <a:xfrm>
            <a:off x="646508" y="2666274"/>
            <a:ext cx="5060718" cy="2737602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모서리가 둥근 직사각형 7">
            <a:extLst>
              <a:ext uri="{FF2B5EF4-FFF2-40B4-BE49-F238E27FC236}">
                <a16:creationId xmlns:a16="http://schemas.microsoft.com/office/drawing/2014/main" id="{301599C8-366C-E331-94E8-81F54D0E413C}"/>
              </a:ext>
            </a:extLst>
          </p:cNvPr>
          <p:cNvSpPr/>
          <p:nvPr/>
        </p:nvSpPr>
        <p:spPr>
          <a:xfrm>
            <a:off x="463628" y="2534194"/>
            <a:ext cx="5060718" cy="2737602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71476" marR="0" lvl="2" indent="-135728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E8456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탐색적 데이터 분석이란</a:t>
            </a:r>
            <a:r>
              <a:rPr lang="en-US" altLang="ko-KR" sz="200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?</a:t>
            </a:r>
          </a:p>
          <a:p>
            <a:pPr marL="471476" marR="0" lvl="2" indent="-135728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E8456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600" b="0" i="0" dirty="0">
                <a:solidFill>
                  <a:srgbClr val="757F8B"/>
                </a:solidFill>
                <a:effectLst/>
                <a:highlight>
                  <a:srgbClr val="FFFFFF"/>
                </a:highlight>
                <a:latin typeface="Tahoma" panose="020B0604030504040204" pitchFamily="34" charset="0"/>
              </a:rPr>
              <a:t>탐색적 데이터 분석</a:t>
            </a:r>
            <a:r>
              <a:rPr lang="en-US" altLang="ko-KR" sz="1600" b="0" i="0" dirty="0">
                <a:solidFill>
                  <a:srgbClr val="757F8B"/>
                </a:solidFill>
                <a:effectLst/>
                <a:highlight>
                  <a:srgbClr val="FFFFFF"/>
                </a:highlight>
                <a:latin typeface="Tahoma" panose="020B0604030504040204" pitchFamily="34" charset="0"/>
              </a:rPr>
              <a:t>(EDA)’</a:t>
            </a:r>
            <a:r>
              <a:rPr lang="ko-KR" altLang="en-US" sz="1600" b="0" i="0" dirty="0">
                <a:solidFill>
                  <a:srgbClr val="757F8B"/>
                </a:solidFill>
                <a:effectLst/>
                <a:highlight>
                  <a:srgbClr val="FFFFFF"/>
                </a:highlight>
                <a:latin typeface="Tahoma" panose="020B0604030504040204" pitchFamily="34" charset="0"/>
              </a:rPr>
              <a:t>은 우리가 존재한다고 믿는 것들은 물론이고 존재하지 않는다고 믿는 것들을 발견하려는 태도</a:t>
            </a:r>
            <a:r>
              <a:rPr lang="en-US" altLang="ko-KR" sz="1600" b="0" i="0" dirty="0">
                <a:solidFill>
                  <a:srgbClr val="757F8B"/>
                </a:solidFill>
                <a:effectLst/>
                <a:highlight>
                  <a:srgbClr val="FFFFFF"/>
                </a:highlight>
                <a:latin typeface="Tahoma" panose="020B0604030504040204" pitchFamily="34" charset="0"/>
              </a:rPr>
              <a:t>, </a:t>
            </a:r>
            <a:r>
              <a:rPr lang="ko-KR" altLang="en-US" sz="1600" b="0" i="0" dirty="0">
                <a:solidFill>
                  <a:srgbClr val="757F8B"/>
                </a:solidFill>
                <a:effectLst/>
                <a:highlight>
                  <a:srgbClr val="FFFFFF"/>
                </a:highlight>
                <a:latin typeface="Tahoma" panose="020B0604030504040204" pitchFamily="34" charset="0"/>
              </a:rPr>
              <a:t>유연성</a:t>
            </a:r>
            <a:r>
              <a:rPr lang="en-US" altLang="ko-KR" sz="1600" b="0" i="0" dirty="0">
                <a:solidFill>
                  <a:srgbClr val="757F8B"/>
                </a:solidFill>
                <a:effectLst/>
                <a:highlight>
                  <a:srgbClr val="FFFFFF"/>
                </a:highlight>
                <a:latin typeface="Tahoma" panose="020B0604030504040204" pitchFamily="34" charset="0"/>
              </a:rPr>
              <a:t>, </a:t>
            </a:r>
            <a:r>
              <a:rPr lang="ko-KR" altLang="en-US" sz="1600" b="0" i="0" dirty="0">
                <a:solidFill>
                  <a:srgbClr val="757F8B"/>
                </a:solidFill>
                <a:effectLst/>
                <a:highlight>
                  <a:srgbClr val="FFFFFF"/>
                </a:highlight>
                <a:latin typeface="Tahoma" panose="020B0604030504040204" pitchFamily="34" charset="0"/>
              </a:rPr>
              <a:t>그리고 자발성이다</a:t>
            </a:r>
            <a:r>
              <a:rPr lang="en-US" altLang="ko-KR" sz="1600" b="0" i="0" dirty="0">
                <a:solidFill>
                  <a:srgbClr val="757F8B"/>
                </a:solidFill>
                <a:effectLst/>
                <a:highlight>
                  <a:srgbClr val="FFFFFF"/>
                </a:highlight>
                <a:latin typeface="Tahoma" panose="020B0604030504040204" pitchFamily="34" charset="0"/>
              </a:rPr>
              <a:t>. - </a:t>
            </a:r>
            <a:r>
              <a:rPr lang="ko-KR" altLang="en-US" sz="1600" b="0" i="0" dirty="0">
                <a:solidFill>
                  <a:srgbClr val="757F8B"/>
                </a:solidFill>
                <a:effectLst/>
                <a:highlight>
                  <a:srgbClr val="FFFFFF"/>
                </a:highlight>
                <a:latin typeface="Tahoma" panose="020B0604030504040204" pitchFamily="34" charset="0"/>
              </a:rPr>
              <a:t>존 </a:t>
            </a:r>
            <a:r>
              <a:rPr lang="ko-KR" altLang="en-US" sz="1600" b="0" i="0" dirty="0" err="1">
                <a:solidFill>
                  <a:srgbClr val="757F8B"/>
                </a:solidFill>
                <a:effectLst/>
                <a:highlight>
                  <a:srgbClr val="FFFFFF"/>
                </a:highlight>
                <a:latin typeface="Tahoma" panose="020B0604030504040204" pitchFamily="34" charset="0"/>
              </a:rPr>
              <a:t>튜키</a:t>
            </a:r>
            <a:r>
              <a:rPr lang="ko-KR" altLang="en-US" sz="1600" b="0" i="0" dirty="0">
                <a:solidFill>
                  <a:srgbClr val="757F8B"/>
                </a:solidFill>
                <a:effectLst/>
                <a:highlight>
                  <a:srgbClr val="FFFFFF"/>
                </a:highlight>
                <a:latin typeface="Tahoma" panose="020B0604030504040204" pitchFamily="34" charset="0"/>
              </a:rPr>
              <a:t> </a:t>
            </a:r>
            <a:r>
              <a:rPr lang="en-US" altLang="ko-KR" sz="1600" b="0" i="0" dirty="0">
                <a:solidFill>
                  <a:srgbClr val="757F8B"/>
                </a:solidFill>
                <a:effectLst/>
                <a:highlight>
                  <a:srgbClr val="FFFFFF"/>
                </a:highlight>
                <a:latin typeface="Tahoma" panose="020B0604030504040204" pitchFamily="34" charset="0"/>
              </a:rPr>
              <a:t>(</a:t>
            </a:r>
            <a:r>
              <a:rPr lang="ko-KR" altLang="en-US" sz="1600" b="0" i="0" dirty="0">
                <a:solidFill>
                  <a:srgbClr val="757F8B"/>
                </a:solidFill>
                <a:effectLst/>
                <a:highlight>
                  <a:srgbClr val="FFFFFF"/>
                </a:highlight>
                <a:latin typeface="Tahoma" panose="020B0604030504040204" pitchFamily="34" charset="0"/>
              </a:rPr>
              <a:t>도서 </a:t>
            </a:r>
            <a:r>
              <a:rPr lang="en-US" altLang="ko-KR" sz="1600" b="0" i="0" dirty="0">
                <a:solidFill>
                  <a:srgbClr val="757F8B"/>
                </a:solidFill>
                <a:effectLst/>
                <a:highlight>
                  <a:srgbClr val="FFFFFF"/>
                </a:highlight>
                <a:latin typeface="Tahoma" panose="020B0604030504040204" pitchFamily="34" charset="0"/>
              </a:rPr>
              <a:t>Doing Data Science </a:t>
            </a:r>
            <a:r>
              <a:rPr lang="ko-KR" altLang="en-US" sz="1600" b="0" i="0" dirty="0">
                <a:solidFill>
                  <a:srgbClr val="757F8B"/>
                </a:solidFill>
                <a:effectLst/>
                <a:highlight>
                  <a:srgbClr val="FFFFFF"/>
                </a:highlight>
                <a:latin typeface="Tahoma" panose="020B0604030504040204" pitchFamily="34" charset="0"/>
              </a:rPr>
              <a:t>중</a:t>
            </a:r>
            <a:r>
              <a:rPr lang="en-US" altLang="ko-KR" sz="1600" b="0" i="0" dirty="0">
                <a:solidFill>
                  <a:srgbClr val="757F8B"/>
                </a:solidFill>
                <a:effectLst/>
                <a:highlight>
                  <a:srgbClr val="FFFFFF"/>
                </a:highlight>
                <a:latin typeface="Tahoma" panose="020B0604030504040204" pitchFamily="34" charset="0"/>
              </a:rPr>
              <a:t>)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모서리가 둥근 직사각형 8">
            <a:extLst>
              <a:ext uri="{FF2B5EF4-FFF2-40B4-BE49-F238E27FC236}">
                <a16:creationId xmlns:a16="http://schemas.microsoft.com/office/drawing/2014/main" id="{C90D84B3-68C8-CBA8-E0C0-44519F778CCF}"/>
              </a:ext>
            </a:extLst>
          </p:cNvPr>
          <p:cNvSpPr/>
          <p:nvPr/>
        </p:nvSpPr>
        <p:spPr>
          <a:xfrm>
            <a:off x="6434415" y="2534194"/>
            <a:ext cx="5535335" cy="2737602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71476" marR="0" lvl="2" indent="-135728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E8456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400" b="0" i="0" dirty="0">
                <a:solidFill>
                  <a:srgbClr val="757F8B"/>
                </a:solidFill>
                <a:effectLst/>
                <a:highlight>
                  <a:srgbClr val="FFFFFF"/>
                </a:highlight>
                <a:latin typeface="Tahoma" panose="020B0604030504040204" pitchFamily="34" charset="0"/>
              </a:rPr>
              <a:t>탐색적 데이터 분석이란 벨 연구소의 수학자 존 </a:t>
            </a:r>
            <a:r>
              <a:rPr lang="ko-KR" altLang="en-US" sz="1400" b="0" i="0" dirty="0" err="1">
                <a:solidFill>
                  <a:srgbClr val="757F8B"/>
                </a:solidFill>
                <a:effectLst/>
                <a:highlight>
                  <a:srgbClr val="FFFFFF"/>
                </a:highlight>
                <a:latin typeface="Tahoma" panose="020B0604030504040204" pitchFamily="34" charset="0"/>
              </a:rPr>
              <a:t>튜키가</a:t>
            </a:r>
            <a:r>
              <a:rPr lang="ko-KR" altLang="en-US" sz="1400" b="0" i="0" dirty="0">
                <a:solidFill>
                  <a:srgbClr val="757F8B"/>
                </a:solidFill>
                <a:effectLst/>
                <a:highlight>
                  <a:srgbClr val="FFFFFF"/>
                </a:highlight>
                <a:latin typeface="Tahoma" panose="020B0604030504040204" pitchFamily="34" charset="0"/>
              </a:rPr>
              <a:t> 제안한 데이터 분석 방법으로 통계적 가설 검정 등에 의존한 기존 통계학으로는 새롭게 나오는 많은 양의 데이터의 핵심 의미를 파악하는 데 어려움이 있다고 생각하여 이를 보완한 탐색적 데이터 분석을 도입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F22234D-0611-557C-8812-CE0D07B64CD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31839"/>
            <a:ext cx="12192000" cy="1026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817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119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0" t="33911" r="16569" b="16584"/>
          <a:stretch/>
        </p:blipFill>
        <p:spPr>
          <a:xfrm>
            <a:off x="138886" y="-60960"/>
            <a:ext cx="1222553" cy="1280160"/>
          </a:xfrm>
          <a:prstGeom prst="rect">
            <a:avLst/>
          </a:prstGeom>
        </p:spPr>
      </p:pic>
      <p:cxnSp>
        <p:nvCxnSpPr>
          <p:cNvPr id="4" name="직선 연결선 3"/>
          <p:cNvCxnSpPr/>
          <p:nvPr/>
        </p:nvCxnSpPr>
        <p:spPr>
          <a:xfrm>
            <a:off x="1285239" y="1117600"/>
            <a:ext cx="10932161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473199" y="375920"/>
            <a:ext cx="70966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CDA </a:t>
            </a:r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와 </a:t>
            </a:r>
            <a:r>
              <a:rPr lang="en-US" altLang="ko-KR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EDA </a:t>
            </a:r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차이</a:t>
            </a:r>
          </a:p>
        </p:txBody>
      </p:sp>
      <p:grpSp>
        <p:nvGrpSpPr>
          <p:cNvPr id="21" name="그룹 20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1F22234D-0611-557C-8812-CE0D07B64CD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31839"/>
            <a:ext cx="12192000" cy="1026161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1925BECB-BD12-6CDF-55B4-B2CD83B1CB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674" y="2336800"/>
            <a:ext cx="4895850" cy="2581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E002645-3D23-DE53-048B-CBACF7F65C79}"/>
              </a:ext>
            </a:extLst>
          </p:cNvPr>
          <p:cNvSpPr txBox="1"/>
          <p:nvPr/>
        </p:nvSpPr>
        <p:spPr>
          <a:xfrm>
            <a:off x="5786771" y="2885880"/>
            <a:ext cx="615093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757F8B"/>
                </a:solidFill>
                <a:effectLst/>
                <a:highlight>
                  <a:srgbClr val="FFFFFF"/>
                </a:highlight>
                <a:latin typeface="Tahoma" panose="020B0604030504040204" pitchFamily="34" charset="0"/>
              </a:rPr>
              <a:t>추론통계 </a:t>
            </a:r>
            <a:r>
              <a:rPr lang="en-US" altLang="ko-KR" b="0" i="0" dirty="0">
                <a:solidFill>
                  <a:srgbClr val="757F8B"/>
                </a:solidFill>
                <a:effectLst/>
                <a:highlight>
                  <a:srgbClr val="FFFFFF"/>
                </a:highlight>
                <a:latin typeface="Tahoma" panose="020B0604030504040204" pitchFamily="34" charset="0"/>
              </a:rPr>
              <a:t>– </a:t>
            </a:r>
            <a:r>
              <a:rPr lang="ko-KR" altLang="en-US" b="0" i="0" dirty="0">
                <a:solidFill>
                  <a:srgbClr val="757F8B"/>
                </a:solidFill>
                <a:effectLst/>
                <a:highlight>
                  <a:srgbClr val="FFFFFF"/>
                </a:highlight>
                <a:latin typeface="Tahoma" panose="020B0604030504040204" pitchFamily="34" charset="0"/>
              </a:rPr>
              <a:t>수집한 데이터를 이용하여 추론 예측하는 통계 기법으로 신뢰구간 추정</a:t>
            </a:r>
            <a:r>
              <a:rPr lang="en-US" altLang="ko-KR" b="0" i="0" dirty="0">
                <a:solidFill>
                  <a:srgbClr val="757F8B"/>
                </a:solidFill>
                <a:effectLst/>
                <a:highlight>
                  <a:srgbClr val="FFFFFF"/>
                </a:highlight>
                <a:latin typeface="Tahoma" panose="020B0604030504040204" pitchFamily="34" charset="0"/>
              </a:rPr>
              <a:t>, </a:t>
            </a:r>
            <a:r>
              <a:rPr lang="ko-KR" altLang="en-US" b="0" i="0" dirty="0">
                <a:solidFill>
                  <a:srgbClr val="757F8B"/>
                </a:solidFill>
                <a:effectLst/>
                <a:highlight>
                  <a:srgbClr val="FFFFFF"/>
                </a:highlight>
                <a:latin typeface="Tahoma" panose="020B0604030504040204" pitchFamily="34" charset="0"/>
              </a:rPr>
              <a:t>유의성 검정 기법 등을 이용함</a:t>
            </a:r>
            <a:endParaRPr lang="en-US" altLang="ko-KR" b="0" i="0" dirty="0">
              <a:solidFill>
                <a:srgbClr val="757F8B"/>
              </a:solidFill>
              <a:effectLst/>
              <a:highlight>
                <a:srgbClr val="FFFFFF"/>
              </a:highlight>
              <a:latin typeface="Tahoma" panose="020B0604030504040204" pitchFamily="34" charset="0"/>
            </a:endParaRPr>
          </a:p>
          <a:p>
            <a:pPr algn="just"/>
            <a:endParaRPr lang="en-US" altLang="ko-KR" dirty="0">
              <a:solidFill>
                <a:srgbClr val="757F8B"/>
              </a:solidFill>
              <a:highlight>
                <a:srgbClr val="FFFFFF"/>
              </a:highlight>
              <a:latin typeface="Tahoma" panose="020B0604030504040204" pitchFamily="34" charset="0"/>
            </a:endParaRPr>
          </a:p>
          <a:p>
            <a:pPr algn="just"/>
            <a:endParaRPr lang="en-US" altLang="ko-KR" b="0" i="0" dirty="0">
              <a:solidFill>
                <a:srgbClr val="757F8B"/>
              </a:solidFill>
              <a:effectLst/>
              <a:highlight>
                <a:srgbClr val="FFFFFF"/>
              </a:highlight>
              <a:latin typeface="Tahoma" panose="020B0604030504040204" pitchFamily="34" charset="0"/>
            </a:endParaRPr>
          </a:p>
          <a:p>
            <a:pPr algn="just"/>
            <a:endParaRPr lang="ko-KR" altLang="en-US" b="0" i="0" dirty="0">
              <a:solidFill>
                <a:srgbClr val="757F8B"/>
              </a:solidFill>
              <a:effectLst/>
              <a:highlight>
                <a:srgbClr val="FFFFFF"/>
              </a:highlight>
              <a:latin typeface="Tahoma" panose="020B060403050404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757F8B"/>
                </a:solidFill>
                <a:effectLst/>
                <a:highlight>
                  <a:srgbClr val="FFFFFF"/>
                </a:highlight>
                <a:latin typeface="Tahoma" panose="020B0604030504040204" pitchFamily="34" charset="0"/>
              </a:rPr>
              <a:t>기술통계 </a:t>
            </a:r>
            <a:r>
              <a:rPr lang="en-US" altLang="ko-KR" b="0" i="0" dirty="0">
                <a:solidFill>
                  <a:srgbClr val="757F8B"/>
                </a:solidFill>
                <a:effectLst/>
                <a:highlight>
                  <a:srgbClr val="FFFFFF"/>
                </a:highlight>
                <a:latin typeface="Tahoma" panose="020B0604030504040204" pitchFamily="34" charset="0"/>
              </a:rPr>
              <a:t>– </a:t>
            </a:r>
            <a:r>
              <a:rPr lang="ko-KR" altLang="en-US" b="0" i="0" dirty="0">
                <a:solidFill>
                  <a:srgbClr val="757F8B"/>
                </a:solidFill>
                <a:effectLst/>
                <a:highlight>
                  <a:srgbClr val="FFFFFF"/>
                </a:highlight>
                <a:latin typeface="Tahoma" panose="020B0604030504040204" pitchFamily="34" charset="0"/>
              </a:rPr>
              <a:t>수집한 데이터를 요약 묘사 설명하는 통계 기법으로 데이터의 대푯값</a:t>
            </a:r>
            <a:r>
              <a:rPr lang="en-US" altLang="ko-KR" b="0" i="0" dirty="0">
                <a:solidFill>
                  <a:srgbClr val="757F8B"/>
                </a:solidFill>
                <a:effectLst/>
                <a:highlight>
                  <a:srgbClr val="FFFFFF"/>
                </a:highlight>
                <a:latin typeface="Tahoma" panose="020B0604030504040204" pitchFamily="34" charset="0"/>
              </a:rPr>
              <a:t>, </a:t>
            </a:r>
            <a:r>
              <a:rPr lang="ko-KR" altLang="en-US" b="0" i="0" dirty="0">
                <a:solidFill>
                  <a:srgbClr val="757F8B"/>
                </a:solidFill>
                <a:effectLst/>
                <a:highlight>
                  <a:srgbClr val="FFFFFF"/>
                </a:highlight>
                <a:latin typeface="Tahoma" panose="020B0604030504040204" pitchFamily="34" charset="0"/>
              </a:rPr>
              <a:t>분포 등을 이용함</a:t>
            </a:r>
          </a:p>
          <a:p>
            <a:br>
              <a:rPr lang="ko-KR" altLang="en-US" dirty="0"/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5046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14" name="모서리가 둥근 직사각형 13"/>
          <p:cNvSpPr/>
          <p:nvPr/>
        </p:nvSpPr>
        <p:spPr>
          <a:xfrm>
            <a:off x="8544560" y="3220720"/>
            <a:ext cx="3200400" cy="3464560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4673600" y="3220720"/>
            <a:ext cx="3200400" cy="3464560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모서리가 둥근 직사각형 11"/>
          <p:cNvSpPr/>
          <p:nvPr/>
        </p:nvSpPr>
        <p:spPr>
          <a:xfrm>
            <a:off x="802640" y="3220720"/>
            <a:ext cx="3200400" cy="3464560"/>
          </a:xfrm>
          <a:prstGeom prst="roundRect">
            <a:avLst/>
          </a:prstGeom>
          <a:solidFill>
            <a:srgbClr val="93C9D4"/>
          </a:solidFill>
          <a:ln w="19050" cmpd="sng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1473199" y="375920"/>
            <a:ext cx="6746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탐색적 분석 순서</a:t>
            </a:r>
          </a:p>
        </p:txBody>
      </p:sp>
      <p:sp>
        <p:nvSpPr>
          <p:cNvPr id="7" name="모서리가 둥근 직사각형 6"/>
          <p:cNvSpPr/>
          <p:nvPr/>
        </p:nvSpPr>
        <p:spPr>
          <a:xfrm>
            <a:off x="619760" y="3088640"/>
            <a:ext cx="3200400" cy="3464560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71476" marR="0" lvl="2" indent="-135728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E8456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600" b="0" i="0" dirty="0">
                <a:solidFill>
                  <a:srgbClr val="757F8B"/>
                </a:solidFill>
                <a:effectLst/>
                <a:highlight>
                  <a:srgbClr val="FFFFFF"/>
                </a:highlight>
                <a:latin typeface="Tahoma" panose="020B0604030504040204" pitchFamily="34" charset="0"/>
              </a:rPr>
              <a:t>데이터 항목의 개수</a:t>
            </a:r>
            <a:r>
              <a:rPr lang="en-US" altLang="ko-KR" sz="1600" b="0" i="0" dirty="0">
                <a:solidFill>
                  <a:srgbClr val="757F8B"/>
                </a:solidFill>
                <a:effectLst/>
                <a:highlight>
                  <a:srgbClr val="FFFFFF"/>
                </a:highlight>
                <a:latin typeface="Tahoma" panose="020B0604030504040204" pitchFamily="34" charset="0"/>
              </a:rPr>
              <a:t>, </a:t>
            </a:r>
            <a:r>
              <a:rPr lang="ko-KR" altLang="en-US" sz="1600" b="0" i="0" dirty="0">
                <a:solidFill>
                  <a:srgbClr val="757F8B"/>
                </a:solidFill>
                <a:effectLst/>
                <a:highlight>
                  <a:srgbClr val="FFFFFF"/>
                </a:highlight>
                <a:latin typeface="Tahoma" panose="020B0604030504040204" pitchFamily="34" charset="0"/>
              </a:rPr>
              <a:t>속성 목록</a:t>
            </a:r>
            <a:r>
              <a:rPr lang="en-US" altLang="ko-KR" sz="1600" b="0" i="0" dirty="0">
                <a:solidFill>
                  <a:srgbClr val="757F8B"/>
                </a:solidFill>
                <a:effectLst/>
                <a:highlight>
                  <a:srgbClr val="FFFFFF"/>
                </a:highlight>
                <a:latin typeface="Tahoma" panose="020B0604030504040204" pitchFamily="34" charset="0"/>
              </a:rPr>
              <a:t>, NAN </a:t>
            </a:r>
            <a:r>
              <a:rPr lang="ko-KR" altLang="en-US" sz="1600" b="0" i="0" dirty="0">
                <a:solidFill>
                  <a:srgbClr val="757F8B"/>
                </a:solidFill>
                <a:effectLst/>
                <a:highlight>
                  <a:srgbClr val="FFFFFF"/>
                </a:highlight>
                <a:latin typeface="Tahoma" panose="020B0604030504040204" pitchFamily="34" charset="0"/>
              </a:rPr>
              <a:t>값</a:t>
            </a:r>
            <a:r>
              <a:rPr lang="en-US" altLang="ko-KR" sz="1600" b="0" i="0" dirty="0">
                <a:solidFill>
                  <a:srgbClr val="757F8B"/>
                </a:solidFill>
                <a:effectLst/>
                <a:highlight>
                  <a:srgbClr val="FFFFFF"/>
                </a:highlight>
                <a:latin typeface="Tahoma" panose="020B0604030504040204" pitchFamily="34" charset="0"/>
              </a:rPr>
              <a:t>, </a:t>
            </a:r>
            <a:r>
              <a:rPr lang="ko-KR" altLang="en-US" sz="1600" b="0" i="0" dirty="0">
                <a:solidFill>
                  <a:srgbClr val="757F8B"/>
                </a:solidFill>
                <a:effectLst/>
                <a:highlight>
                  <a:srgbClr val="FFFFFF"/>
                </a:highlight>
                <a:latin typeface="Tahoma" panose="020B0604030504040204" pitchFamily="34" charset="0"/>
              </a:rPr>
              <a:t>각 속성이 가지는 데이터형 등을 확인</a:t>
            </a:r>
            <a:endParaRPr lang="en-US" altLang="ko-KR" sz="1600" b="0" i="0" dirty="0">
              <a:solidFill>
                <a:srgbClr val="757F8B"/>
              </a:solidFill>
              <a:effectLst/>
              <a:highlight>
                <a:srgbClr val="FFFFFF"/>
              </a:highlight>
              <a:latin typeface="Tahoma" panose="020B0604030504040204" pitchFamily="34" charset="0"/>
            </a:endParaRPr>
          </a:p>
          <a:p>
            <a:pPr marL="471476" marR="0" lvl="2" indent="-135728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E8456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600" b="0" i="0" dirty="0">
                <a:solidFill>
                  <a:srgbClr val="757F8B"/>
                </a:solidFill>
                <a:effectLst/>
                <a:highlight>
                  <a:srgbClr val="FFFFFF"/>
                </a:highlight>
                <a:latin typeface="Tahoma" panose="020B0604030504040204" pitchFamily="34" charset="0"/>
              </a:rPr>
              <a:t> 데이터 가공 과정에서 데이터의 오류나 누락이 없는지 데이터의 </a:t>
            </a:r>
            <a:r>
              <a:rPr lang="en-US" altLang="ko-KR" sz="1600" b="0" i="0" dirty="0">
                <a:solidFill>
                  <a:srgbClr val="757F8B"/>
                </a:solidFill>
                <a:effectLst/>
                <a:highlight>
                  <a:srgbClr val="FFFFFF"/>
                </a:highlight>
                <a:latin typeface="Tahoma" panose="020B0604030504040204" pitchFamily="34" charset="0"/>
              </a:rPr>
              <a:t>head</a:t>
            </a:r>
            <a:r>
              <a:rPr lang="ko-KR" altLang="en-US" sz="1600" b="0" i="0" dirty="0">
                <a:solidFill>
                  <a:srgbClr val="757F8B"/>
                </a:solidFill>
                <a:effectLst/>
                <a:highlight>
                  <a:srgbClr val="FFFFFF"/>
                </a:highlight>
                <a:latin typeface="Tahoma" panose="020B0604030504040204" pitchFamily="34" charset="0"/>
              </a:rPr>
              <a:t>와 </a:t>
            </a:r>
            <a:r>
              <a:rPr lang="en-US" altLang="ko-KR" sz="1600" b="0" i="0" dirty="0">
                <a:solidFill>
                  <a:srgbClr val="757F8B"/>
                </a:solidFill>
                <a:effectLst/>
                <a:highlight>
                  <a:srgbClr val="FFFFFF"/>
                </a:highlight>
                <a:latin typeface="Tahoma" panose="020B0604030504040204" pitchFamily="34" charset="0"/>
              </a:rPr>
              <a:t>tail</a:t>
            </a:r>
            <a:r>
              <a:rPr lang="ko-KR" altLang="en-US" sz="1600" b="0" i="0" dirty="0">
                <a:solidFill>
                  <a:srgbClr val="757F8B"/>
                </a:solidFill>
                <a:effectLst/>
                <a:highlight>
                  <a:srgbClr val="FFFFFF"/>
                </a:highlight>
                <a:latin typeface="Tahoma" panose="020B0604030504040204" pitchFamily="34" charset="0"/>
              </a:rPr>
              <a:t>을 확인</a:t>
            </a:r>
            <a:endParaRPr lang="ko-KR" altLang="en-US" sz="1600" dirty="0"/>
          </a:p>
        </p:txBody>
      </p:sp>
      <p:sp>
        <p:nvSpPr>
          <p:cNvPr id="8" name="모서리가 둥근 직사각형 7"/>
          <p:cNvSpPr/>
          <p:nvPr/>
        </p:nvSpPr>
        <p:spPr>
          <a:xfrm>
            <a:off x="4490720" y="3088640"/>
            <a:ext cx="3200400" cy="3464560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71476" marR="0" lvl="2" indent="-135728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E8456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600" b="0" i="0" dirty="0">
                <a:solidFill>
                  <a:srgbClr val="757F8B"/>
                </a:solidFill>
                <a:effectLst/>
                <a:highlight>
                  <a:srgbClr val="FFFFFF"/>
                </a:highlight>
                <a:latin typeface="Tahoma" panose="020B0604030504040204" pitchFamily="34" charset="0"/>
              </a:rPr>
              <a:t>개별 데이터를 관찰하여 전체적인 추세와 특이사항을 관찰</a:t>
            </a:r>
            <a:endParaRPr lang="en-US" altLang="ko-KR" sz="1600" b="0" i="0" dirty="0">
              <a:solidFill>
                <a:srgbClr val="757F8B"/>
              </a:solidFill>
              <a:effectLst/>
              <a:highlight>
                <a:srgbClr val="FFFFFF"/>
              </a:highlight>
              <a:latin typeface="Tahoma" panose="020B0604030504040204" pitchFamily="34" charset="0"/>
            </a:endParaRPr>
          </a:p>
          <a:p>
            <a:pPr marL="471476" marR="0" lvl="2" indent="-135728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E8456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ko-KR" sz="1600" b="0" i="0" dirty="0">
              <a:solidFill>
                <a:srgbClr val="757F8B"/>
              </a:solidFill>
              <a:effectLst/>
              <a:highlight>
                <a:srgbClr val="FFFFFF"/>
              </a:highlight>
              <a:latin typeface="Tahoma" panose="020B0604030504040204" pitchFamily="34" charset="0"/>
            </a:endParaRPr>
          </a:p>
          <a:p>
            <a:pPr marL="471476" marR="0" lvl="2" indent="-135728" algn="l" defTabSz="914400" rtl="0" eaLnBrk="0" fontAlgn="base" latinLnBrk="1" hangingPunct="0">
              <a:lnSpc>
                <a:spcPct val="150000"/>
              </a:lnSpc>
              <a:spcBef>
                <a:spcPct val="20000"/>
              </a:spcBef>
              <a:spcAft>
                <a:spcPts val="225"/>
              </a:spcAft>
              <a:buClr>
                <a:srgbClr val="E8456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600" u="none" strike="noStrike" kern="1200" cap="none" spc="0" normalizeH="0" baseline="0" noProof="0" dirty="0">
                <a:ln>
                  <a:noFill/>
                </a:ln>
                <a:solidFill>
                  <a:srgbClr val="757F8B"/>
                </a:solidFill>
                <a:highlight>
                  <a:srgbClr val="FFFFFF"/>
                </a:highlight>
                <a:uLnTx/>
                <a:uFillTx/>
                <a:latin typeface="Tahoma" panose="020B0604030504040204" pitchFamily="34" charset="0"/>
                <a:ea typeface="맑은 고딕" panose="020B0503020000020004" pitchFamily="50" charset="-127"/>
                <a:cs typeface="+mn-cs"/>
              </a:rPr>
              <a:t>대부분 시각화를 통한 데이터의 통계지표 활용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8361680" y="3088640"/>
            <a:ext cx="3200400" cy="3464560"/>
          </a:xfrm>
          <a:prstGeom prst="roundRect">
            <a:avLst/>
          </a:prstGeom>
          <a:solidFill>
            <a:schemeClr val="bg1"/>
          </a:solidFill>
          <a:ln w="19050" cmpd="sng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ko-KR" altLang="en-US" sz="2000" dirty="0"/>
            </a:br>
            <a:endParaRPr lang="en-US" altLang="ko-KR" sz="2000" b="0" i="0" dirty="0">
              <a:solidFill>
                <a:srgbClr val="FF0000"/>
              </a:solidFill>
              <a:effectLst/>
              <a:latin typeface="+mn-ea"/>
            </a:endParaRPr>
          </a:p>
        </p:txBody>
      </p:sp>
      <p:sp>
        <p:nvSpPr>
          <p:cNvPr id="16" name="타원 15"/>
          <p:cNvSpPr/>
          <p:nvPr/>
        </p:nvSpPr>
        <p:spPr>
          <a:xfrm>
            <a:off x="723014" y="2084754"/>
            <a:ext cx="3200400" cy="64633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AutoNum type="arabicParenR"/>
            </a:pPr>
            <a:r>
              <a:rPr lang="ko-KR" altLang="en-US" b="1" dirty="0"/>
              <a:t>전체적 데이터</a:t>
            </a:r>
            <a:endParaRPr lang="en-US" altLang="ko-KR" b="1" dirty="0"/>
          </a:p>
          <a:p>
            <a:pPr algn="ctr"/>
            <a:r>
              <a:rPr lang="ko-KR" altLang="en-US" b="1" dirty="0"/>
              <a:t>살펴보기</a:t>
            </a:r>
          </a:p>
        </p:txBody>
      </p:sp>
      <p:sp>
        <p:nvSpPr>
          <p:cNvPr id="17" name="타원 16"/>
          <p:cNvSpPr/>
          <p:nvPr/>
        </p:nvSpPr>
        <p:spPr>
          <a:xfrm>
            <a:off x="4445000" y="2179935"/>
            <a:ext cx="320040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2) </a:t>
            </a:r>
            <a:r>
              <a:rPr lang="ko-KR" altLang="en-US" b="1" dirty="0"/>
              <a:t>이상치 분석</a:t>
            </a:r>
          </a:p>
        </p:txBody>
      </p:sp>
      <p:sp>
        <p:nvSpPr>
          <p:cNvPr id="18" name="타원 17"/>
          <p:cNvSpPr/>
          <p:nvPr/>
        </p:nvSpPr>
        <p:spPr>
          <a:xfrm>
            <a:off x="8361680" y="2174240"/>
            <a:ext cx="3383280" cy="4673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3)</a:t>
            </a:r>
            <a:r>
              <a:rPr lang="ko-KR" altLang="en-US" b="1" dirty="0" err="1"/>
              <a:t>속성간의</a:t>
            </a:r>
            <a:r>
              <a:rPr lang="ko-KR" altLang="en-US" b="1" dirty="0"/>
              <a:t> 관계 분석</a:t>
            </a:r>
          </a:p>
        </p:txBody>
      </p:sp>
      <p:grpSp>
        <p:nvGrpSpPr>
          <p:cNvPr id="24" name="그룹 23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2050" name="Picture 2">
            <a:extLst>
              <a:ext uri="{FF2B5EF4-FFF2-40B4-BE49-F238E27FC236}">
                <a16:creationId xmlns:a16="http://schemas.microsoft.com/office/drawing/2014/main" id="{5B85D9C9-1F1F-74C7-DF57-D72D89A0E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000" y="3429000"/>
            <a:ext cx="2753360" cy="2737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9789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/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5569"/>
            <a:ext cx="12192000" cy="147243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473199" y="375920"/>
            <a:ext cx="6746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존 </a:t>
            </a:r>
            <a:r>
              <a:rPr lang="ko-KR" altLang="en-US" sz="36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튜키의</a:t>
            </a:r>
            <a:r>
              <a:rPr lang="ko-KR" altLang="en-US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36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EDA.</a:t>
            </a:r>
            <a:endParaRPr lang="ko-KR" altLang="en-US" sz="36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24" name="그룹 23"/>
          <p:cNvGrpSpPr/>
          <p:nvPr/>
        </p:nvGrpSpPr>
        <p:grpSpPr>
          <a:xfrm>
            <a:off x="10971530" y="345440"/>
            <a:ext cx="1332231" cy="863600"/>
            <a:chOff x="10971530" y="345440"/>
            <a:chExt cx="1332231" cy="863600"/>
          </a:xfrm>
        </p:grpSpPr>
        <p:pic>
          <p:nvPicPr>
            <p:cNvPr id="22" name="그림 2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8361" y="345440"/>
              <a:ext cx="1295400" cy="863600"/>
            </a:xfrm>
            <a:prstGeom prst="rect">
              <a:avLst/>
            </a:prstGeom>
            <a:effectLst>
              <a:outerShdw sx="1000" sy="1000" algn="ctr" rotWithShape="0">
                <a:srgbClr val="000000"/>
              </a:outerShdw>
              <a:reflection endPos="0" dir="5400000" sy="-100000" algn="bl" rotWithShape="0"/>
            </a:effectLst>
          </p:spPr>
        </p:pic>
        <p:sp>
          <p:nvSpPr>
            <p:cNvPr id="23" name="직사각형 22"/>
            <p:cNvSpPr/>
            <p:nvPr/>
          </p:nvSpPr>
          <p:spPr>
            <a:xfrm>
              <a:off x="10971530" y="375919"/>
              <a:ext cx="1181100" cy="646331"/>
            </a:xfrm>
            <a:prstGeom prst="rect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90D8AB82-C490-C6DC-DD77-811B365F22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374" y="2474182"/>
            <a:ext cx="5624324" cy="3057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31A4871-8E98-F179-E3F5-5F2241A2B4C7}"/>
              </a:ext>
            </a:extLst>
          </p:cNvPr>
          <p:cNvSpPr txBox="1"/>
          <p:nvPr/>
        </p:nvSpPr>
        <p:spPr>
          <a:xfrm>
            <a:off x="7153386" y="3125995"/>
            <a:ext cx="466849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altLang="ko-KR" b="0" i="1" dirty="0">
                <a:solidFill>
                  <a:srgbClr val="6D6D6D"/>
                </a:solidFill>
                <a:effectLst/>
                <a:highlight>
                  <a:srgbClr val="FFFFFF"/>
                </a:highlight>
                <a:latin typeface="var(--se-quotation-default-value-font-family)"/>
              </a:rPr>
              <a:t>'</a:t>
            </a:r>
            <a:r>
              <a:rPr lang="ko-KR" altLang="en-US" b="0" i="1" dirty="0">
                <a:solidFill>
                  <a:srgbClr val="6D6D6D"/>
                </a:solidFill>
                <a:effectLst/>
                <a:highlight>
                  <a:srgbClr val="FFFFFF"/>
                </a:highlight>
                <a:latin typeface="var(--se-quotation-default-value-font-family)"/>
              </a:rPr>
              <a:t>탐색적 데이터 분석</a:t>
            </a:r>
            <a:r>
              <a:rPr lang="en-US" altLang="ko-KR" b="0" i="1" dirty="0">
                <a:solidFill>
                  <a:srgbClr val="6D6D6D"/>
                </a:solidFill>
                <a:effectLst/>
                <a:highlight>
                  <a:srgbClr val="FFFFFF"/>
                </a:highlight>
                <a:latin typeface="var(--se-quotation-default-value-font-family)"/>
              </a:rPr>
              <a:t>(EDA)‘</a:t>
            </a:r>
            <a:r>
              <a:rPr lang="ko-KR" altLang="en-US" b="0" i="1" dirty="0">
                <a:solidFill>
                  <a:srgbClr val="6D6D6D"/>
                </a:solidFill>
                <a:effectLst/>
                <a:highlight>
                  <a:srgbClr val="FFFFFF"/>
                </a:highlight>
                <a:latin typeface="var(--se-quotation-default-value-font-family)"/>
              </a:rPr>
              <a:t>은 </a:t>
            </a:r>
            <a:endParaRPr lang="ko-KR" altLang="en-US" b="0" i="0" dirty="0">
              <a:solidFill>
                <a:srgbClr val="6D6D6D"/>
              </a:solidFill>
              <a:effectLst/>
              <a:highlight>
                <a:srgbClr val="FFFFFF"/>
              </a:highlight>
              <a:latin typeface="se-nanumgothic"/>
            </a:endParaRPr>
          </a:p>
          <a:p>
            <a:pPr algn="l" fontAlgn="base"/>
            <a:r>
              <a:rPr lang="ko-KR" altLang="en-US" b="0" i="1" dirty="0">
                <a:solidFill>
                  <a:srgbClr val="6D6D6D"/>
                </a:solidFill>
                <a:effectLst/>
                <a:highlight>
                  <a:srgbClr val="FFFFFF"/>
                </a:highlight>
                <a:latin typeface="var(--se-quotation-default-value-font-family)"/>
              </a:rPr>
              <a:t>우리가 존재한다고 믿는 것들은 물론이고 </a:t>
            </a:r>
            <a:endParaRPr lang="ko-KR" altLang="en-US" b="0" i="0" dirty="0">
              <a:solidFill>
                <a:srgbClr val="6D6D6D"/>
              </a:solidFill>
              <a:effectLst/>
              <a:highlight>
                <a:srgbClr val="FFFFFF"/>
              </a:highlight>
              <a:latin typeface="se-nanumgothic"/>
            </a:endParaRPr>
          </a:p>
          <a:p>
            <a:pPr algn="l" fontAlgn="base"/>
            <a:r>
              <a:rPr lang="ko-KR" altLang="en-US" b="0" i="1" dirty="0">
                <a:solidFill>
                  <a:srgbClr val="6D6D6D"/>
                </a:solidFill>
                <a:effectLst/>
                <a:highlight>
                  <a:srgbClr val="FFFFFF"/>
                </a:highlight>
                <a:latin typeface="var(--se-quotation-default-value-font-family)"/>
              </a:rPr>
              <a:t>존재하지 않는다고 믿는 것들을 발견하려는 </a:t>
            </a:r>
            <a:endParaRPr lang="ko-KR" altLang="en-US" b="0" i="0" dirty="0">
              <a:solidFill>
                <a:srgbClr val="6D6D6D"/>
              </a:solidFill>
              <a:effectLst/>
              <a:highlight>
                <a:srgbClr val="FFFFFF"/>
              </a:highlight>
              <a:latin typeface="se-nanumgothic"/>
            </a:endParaRPr>
          </a:p>
          <a:p>
            <a:pPr algn="l" fontAlgn="base"/>
            <a:r>
              <a:rPr lang="ko-KR" altLang="en-US" b="0" i="1" dirty="0">
                <a:solidFill>
                  <a:srgbClr val="6D6D6D"/>
                </a:solidFill>
                <a:effectLst/>
                <a:highlight>
                  <a:srgbClr val="FFFFFF"/>
                </a:highlight>
                <a:latin typeface="var(--se-quotation-default-value-font-family)"/>
              </a:rPr>
              <a:t>태도</a:t>
            </a:r>
            <a:r>
              <a:rPr lang="en-US" altLang="ko-KR" b="0" i="1" dirty="0">
                <a:solidFill>
                  <a:srgbClr val="6D6D6D"/>
                </a:solidFill>
                <a:effectLst/>
                <a:highlight>
                  <a:srgbClr val="FFFFFF"/>
                </a:highlight>
                <a:latin typeface="var(--se-quotation-default-value-font-family)"/>
              </a:rPr>
              <a:t>, </a:t>
            </a:r>
            <a:r>
              <a:rPr lang="ko-KR" altLang="en-US" b="0" i="1" dirty="0">
                <a:solidFill>
                  <a:srgbClr val="6D6D6D"/>
                </a:solidFill>
                <a:effectLst/>
                <a:highlight>
                  <a:srgbClr val="FFFFFF"/>
                </a:highlight>
                <a:latin typeface="var(--se-quotation-default-value-font-family)"/>
              </a:rPr>
              <a:t>유연성</a:t>
            </a:r>
            <a:r>
              <a:rPr lang="en-US" altLang="ko-KR" b="0" i="1" dirty="0">
                <a:solidFill>
                  <a:srgbClr val="6D6D6D"/>
                </a:solidFill>
                <a:effectLst/>
                <a:highlight>
                  <a:srgbClr val="FFFFFF"/>
                </a:highlight>
                <a:latin typeface="var(--se-quotation-default-value-font-family)"/>
              </a:rPr>
              <a:t>, </a:t>
            </a:r>
            <a:r>
              <a:rPr lang="ko-KR" altLang="en-US" b="0" i="1" dirty="0">
                <a:solidFill>
                  <a:srgbClr val="6D6D6D"/>
                </a:solidFill>
                <a:effectLst/>
                <a:highlight>
                  <a:srgbClr val="FFFFFF"/>
                </a:highlight>
                <a:latin typeface="var(--se-quotation-default-value-font-family)"/>
              </a:rPr>
              <a:t>그리고 자발성이다</a:t>
            </a:r>
            <a:r>
              <a:rPr lang="en-US" altLang="ko-KR" b="0" i="1" dirty="0">
                <a:solidFill>
                  <a:srgbClr val="6D6D6D"/>
                </a:solidFill>
                <a:effectLst/>
                <a:highlight>
                  <a:srgbClr val="FFFFFF"/>
                </a:highlight>
                <a:latin typeface="var(--se-quotation-default-value-font-family)"/>
              </a:rPr>
              <a:t>. </a:t>
            </a:r>
            <a:endParaRPr lang="ko-KR" altLang="en-US" b="0" i="0" dirty="0">
              <a:solidFill>
                <a:srgbClr val="6D6D6D"/>
              </a:solidFill>
              <a:effectLst/>
              <a:highlight>
                <a:srgbClr val="FFFFFF"/>
              </a:highlight>
              <a:latin typeface="se-nanumgothic"/>
            </a:endParaRPr>
          </a:p>
          <a:p>
            <a:pPr algn="l" fontAlgn="base"/>
            <a:r>
              <a:rPr lang="ko-KR" altLang="en-US" b="0" i="1" dirty="0">
                <a:solidFill>
                  <a:srgbClr val="6D6D6D"/>
                </a:solidFill>
                <a:effectLst/>
                <a:highlight>
                  <a:srgbClr val="FFFFFF"/>
                </a:highlight>
                <a:latin typeface="var(--se-quotation-default-value-font-family)"/>
              </a:rPr>
              <a:t>​</a:t>
            </a:r>
            <a:endParaRPr lang="ko-KR" altLang="en-US" b="0" i="0" dirty="0">
              <a:solidFill>
                <a:srgbClr val="6D6D6D"/>
              </a:solidFill>
              <a:effectLst/>
              <a:highlight>
                <a:srgbClr val="FFFFFF"/>
              </a:highlight>
              <a:latin typeface="se-nanumgothic"/>
            </a:endParaRPr>
          </a:p>
          <a:p>
            <a:pPr algn="l" fontAlgn="base"/>
            <a:r>
              <a:rPr lang="ko-KR" altLang="en-US" b="0" i="1" dirty="0">
                <a:solidFill>
                  <a:srgbClr val="6D6D6D"/>
                </a:solidFill>
                <a:effectLst/>
                <a:highlight>
                  <a:srgbClr val="FFFFFF"/>
                </a:highlight>
                <a:latin typeface="var(--se-quotation-default-value-font-family)"/>
              </a:rPr>
              <a:t>존 </a:t>
            </a:r>
            <a:r>
              <a:rPr lang="ko-KR" altLang="en-US" b="0" i="1" dirty="0" err="1">
                <a:solidFill>
                  <a:srgbClr val="6D6D6D"/>
                </a:solidFill>
                <a:effectLst/>
                <a:highlight>
                  <a:srgbClr val="FFFFFF"/>
                </a:highlight>
                <a:latin typeface="var(--se-quotation-default-value-font-family)"/>
              </a:rPr>
              <a:t>튜키</a:t>
            </a:r>
            <a:r>
              <a:rPr lang="ko-KR" altLang="en-US" b="0" i="1" dirty="0">
                <a:solidFill>
                  <a:srgbClr val="6D6D6D"/>
                </a:solidFill>
                <a:effectLst/>
                <a:highlight>
                  <a:srgbClr val="FFFFFF"/>
                </a:highlight>
                <a:latin typeface="var(--se-quotation-default-value-font-family)"/>
              </a:rPr>
              <a:t> </a:t>
            </a:r>
            <a:r>
              <a:rPr lang="en-US" altLang="ko-KR" b="0" i="1" dirty="0">
                <a:solidFill>
                  <a:srgbClr val="6D6D6D"/>
                </a:solidFill>
                <a:effectLst/>
                <a:highlight>
                  <a:srgbClr val="FFFFFF"/>
                </a:highlight>
                <a:latin typeface="var(--se-quotation-default-value-font-family)"/>
              </a:rPr>
              <a:t>(</a:t>
            </a:r>
            <a:r>
              <a:rPr lang="ko-KR" altLang="en-US" b="0" i="1" dirty="0">
                <a:solidFill>
                  <a:srgbClr val="6D6D6D"/>
                </a:solidFill>
                <a:effectLst/>
                <a:highlight>
                  <a:srgbClr val="FFFFFF"/>
                </a:highlight>
                <a:latin typeface="var(--se-quotation-default-value-font-family)"/>
              </a:rPr>
              <a:t>도서 </a:t>
            </a:r>
            <a:r>
              <a:rPr lang="en-US" altLang="ko-KR" b="0" i="1" dirty="0">
                <a:solidFill>
                  <a:srgbClr val="6D6D6D"/>
                </a:solidFill>
                <a:effectLst/>
                <a:highlight>
                  <a:srgbClr val="FFFFFF"/>
                </a:highlight>
                <a:latin typeface="var(--se-quotation-default-value-font-family)"/>
              </a:rPr>
              <a:t>Doing Data Science </a:t>
            </a:r>
            <a:r>
              <a:rPr lang="ko-KR" altLang="en-US" b="0" i="1" dirty="0">
                <a:solidFill>
                  <a:srgbClr val="6D6D6D"/>
                </a:solidFill>
                <a:effectLst/>
                <a:highlight>
                  <a:srgbClr val="FFFFFF"/>
                </a:highlight>
                <a:latin typeface="var(--se-quotation-default-value-font-family)"/>
              </a:rPr>
              <a:t>중</a:t>
            </a:r>
            <a:r>
              <a:rPr lang="en-US" altLang="ko-KR" b="0" i="1" dirty="0">
                <a:solidFill>
                  <a:srgbClr val="6D6D6D"/>
                </a:solidFill>
                <a:effectLst/>
                <a:highlight>
                  <a:srgbClr val="FFFFFF"/>
                </a:highlight>
                <a:latin typeface="var(--se-quotation-default-value-font-family)"/>
              </a:rPr>
              <a:t>)</a:t>
            </a:r>
            <a:endParaRPr lang="ko-KR" altLang="en-US" b="0" i="0" dirty="0">
              <a:solidFill>
                <a:srgbClr val="6D6D6D"/>
              </a:solidFill>
              <a:effectLst/>
              <a:highlight>
                <a:srgbClr val="FFFFFF"/>
              </a:highlight>
              <a:latin typeface="se-nanumgothic"/>
            </a:endParaRPr>
          </a:p>
        </p:txBody>
      </p:sp>
    </p:spTree>
    <p:extLst>
      <p:ext uri="{BB962C8B-B14F-4D97-AF65-F5344CB8AC3E}">
        <p14:creationId xmlns:p14="http://schemas.microsoft.com/office/powerpoint/2010/main" val="1667145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탬플릿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CA9AE"/>
      </a:accent1>
      <a:accent2>
        <a:srgbClr val="93C9D4"/>
      </a:accent2>
      <a:accent3>
        <a:srgbClr val="EBE2D9"/>
      </a:accent3>
      <a:accent4>
        <a:srgbClr val="FFC000"/>
      </a:accent4>
      <a:accent5>
        <a:srgbClr val="FECCB3"/>
      </a:accent5>
      <a:accent6>
        <a:srgbClr val="FF9763"/>
      </a:accent6>
      <a:hlink>
        <a:srgbClr val="0563C1"/>
      </a:hlink>
      <a:folHlink>
        <a:srgbClr val="954F72"/>
      </a:folHlink>
    </a:clrScheme>
    <a:fontScheme name="사용자 지정 3">
      <a:majorFont>
        <a:latin typeface="나눔고딕 ExtraBold"/>
        <a:ea typeface="맑은 고딕"/>
        <a:cs typeface=""/>
      </a:majorFont>
      <a:minorFont>
        <a:latin typeface="나눔바른고딕 Light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3200" b="1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1653</TotalTime>
  <Words>288</Words>
  <Application>Microsoft Office PowerPoint</Application>
  <PresentationFormat>와이드스크린</PresentationFormat>
  <Paragraphs>47</Paragraphs>
  <Slides>7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5" baseType="lpstr">
      <vt:lpstr>HY견고딕</vt:lpstr>
      <vt:lpstr>se-nanumgothic</vt:lpstr>
      <vt:lpstr>var(--se-quotation-default-value-font-family)</vt:lpstr>
      <vt:lpstr>나눔바른고딕</vt:lpstr>
      <vt:lpstr>맑은 고딕</vt:lpstr>
      <vt:lpstr>Arial</vt:lpstr>
      <vt:lpstr>Tahoma</vt:lpstr>
      <vt:lpstr>Office 테마</vt:lpstr>
      <vt:lpstr> 너를 위한 탐색적 분석(EDA) 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최웅비</dc:creator>
  <cp:lastModifiedBy>tom</cp:lastModifiedBy>
  <cp:revision>232</cp:revision>
  <dcterms:created xsi:type="dcterms:W3CDTF">2017-06-16T14:09:50Z</dcterms:created>
  <dcterms:modified xsi:type="dcterms:W3CDTF">2024-09-24T11:55:42Z</dcterms:modified>
</cp:coreProperties>
</file>