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1" r:id="rId3"/>
    <p:sldId id="289" r:id="rId4"/>
    <p:sldId id="292" r:id="rId5"/>
    <p:sldId id="338" r:id="rId6"/>
    <p:sldId id="342" r:id="rId7"/>
    <p:sldId id="343" r:id="rId8"/>
    <p:sldId id="344" r:id="rId9"/>
    <p:sldId id="345" r:id="rId10"/>
    <p:sldId id="346" r:id="rId11"/>
    <p:sldId id="347" r:id="rId12"/>
    <p:sldId id="348" r:id="rId13"/>
    <p:sldId id="349" r:id="rId14"/>
    <p:sldId id="350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C9D4"/>
    <a:srgbClr val="FECCB3"/>
    <a:srgbClr val="EBE2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8820" autoAdjust="0"/>
  </p:normalViewPr>
  <p:slideViewPr>
    <p:cSldViewPr snapToGrid="0">
      <p:cViewPr varScale="1">
        <p:scale>
          <a:sx n="100" d="100"/>
          <a:sy n="100" d="100"/>
        </p:scale>
        <p:origin x="9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9C5A5-FB7C-4404-8A54-1ABAD078A835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3DFDED-2E9F-41DA-A9FA-780DFF4193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430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https://wikidocs.net/193852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833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https://datascienceschool.net/01%20python/03.01%20%EB%84%98%ED%8C%8C%EC%9D%B4%20%EB%B0%B0%EC%97%B4.html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2519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https://velog.io/@ganta/%ED%8C%8C%EC%9D%B4%EC%8D%AC-%EA%B8%B0%EC%B4%886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799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https://velog.io/@ganta/%ED%8C%8C%EC%9D%B4%EC%8D%AC-%EA%B8%B0%EC%B4%886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70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https://velog.io/@ganta/%ED%8C%8C%EC%9D%B4%EC%8D%AC-%EA%B8%B0%EC%B4%886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63822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https://velog.io/@ganta/%ED%8C%8C%EC%9D%B4%EC%8D%AC-%EA%B8%B0%EC%B4%886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6874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https://velog.io/@ganta/%ED%8C%8C%EC%9D%B4%EC%8D%AC-%EA%B8%B0%EC%B4%886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https://velog.io/@ganta/%ED%8C%8C%EC%9D%B4%EC%8D%AC-%EA%B8%B0%EC%B4%886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439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https://www.youtube.com/watch?v=hqqmIemBbvw&amp;t=5s</a:t>
            </a:r>
          </a:p>
          <a:p>
            <a:r>
              <a:rPr lang="en-US" altLang="ko-KR" dirty="0"/>
              <a:t>https://velog.io/@ganta/%ED%8C%8C%EC%9D%B4%EC%8D%AC-%EA%B8%B0%EC%B4%886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3377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https://datascienceschool.net/01%20python/03.01%20%EB%84%98%ED%8C%8C%EC%9D%B4%20%EB%B0%B0%EC%97%B4.html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2519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EC04A-D07F-59E5-23F9-889BDB5E3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9DDB67-254E-E1A2-092F-113F965988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C02C63-035B-FBFD-79B9-FE652AB7B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https://www.youtube.com/watch?v=gNSdCSFWqts&amp;list=PLaTc2c6yEwmq1yBe7O_iianrYAwT8X2xz&amp;index=5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AAC337-A1E2-E0F0-D10C-B61C1C7C4B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5895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9D0C5-38AF-4B6E-8765-051A6F0B1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4A303C-E4DA-6F09-4CC7-A85F761B1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FE4580-BA21-A015-BCA8-C9B7A3961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https://velog.io/@jhdai_ly/%EB%84%98%ED%8C%8C%EC%9D%B4Numpy%EB%B8%8C%EB%A1%9C%EB%93%9C%EC%BA%90%EC%8A%A4%ED%8C%85Broadcasting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1469C3-6AD3-E98C-8BF6-EB56009104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391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26" name="텍스트 개체 틀 25"/>
          <p:cNvSpPr>
            <a:spLocks noGrp="1"/>
          </p:cNvSpPr>
          <p:nvPr>
            <p:ph type="body" sz="quarter" idx="10"/>
          </p:nvPr>
        </p:nvSpPr>
        <p:spPr>
          <a:xfrm>
            <a:off x="838200" y="2041525"/>
            <a:ext cx="105156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08305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1500325" y="302895"/>
            <a:ext cx="10515600" cy="71945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117979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5" name="직선 연결선 4"/>
          <p:cNvCxnSpPr/>
          <p:nvPr userDrawn="1"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383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569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그림 6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67" name="직선 연결선 66"/>
          <p:cNvCxnSpPr/>
          <p:nvPr/>
        </p:nvCxnSpPr>
        <p:spPr>
          <a:xfrm>
            <a:off x="1282007" y="3297382"/>
            <a:ext cx="530352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제목 1"/>
          <p:cNvSpPr>
            <a:spLocks noGrp="1"/>
          </p:cNvSpPr>
          <p:nvPr>
            <p:ph type="title"/>
          </p:nvPr>
        </p:nvSpPr>
        <p:spPr>
          <a:xfrm>
            <a:off x="561975" y="1856935"/>
            <a:ext cx="6359330" cy="1280159"/>
          </a:xfrm>
        </p:spPr>
        <p:txBody>
          <a:bodyPr/>
          <a:lstStyle/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너를 위한 </a:t>
            </a:r>
            <a:r>
              <a:rPr lang="ko-KR" altLang="en-US" sz="4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넘파이</a:t>
            </a:r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br>
              <a:rPr lang="en-US" altLang="ko-KR" sz="4000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en-US" altLang="ko-KR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파이썬</a:t>
            </a:r>
            <a:r>
              <a:rPr lang="en-US" altLang="ko-KR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endParaRPr lang="ko-KR" altLang="en-US" sz="4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1" name="텍스트 개체 틀 70"/>
          <p:cNvSpPr>
            <a:spLocks noGrp="1"/>
          </p:cNvSpPr>
          <p:nvPr>
            <p:ph type="body" sz="quarter" idx="10"/>
          </p:nvPr>
        </p:nvSpPr>
        <p:spPr>
          <a:xfrm>
            <a:off x="1155007" y="3581689"/>
            <a:ext cx="5430520" cy="462914"/>
          </a:xfrm>
        </p:spPr>
        <p:txBody>
          <a:bodyPr/>
          <a:lstStyle/>
          <a:p>
            <a:pPr algn="ctr"/>
            <a:r>
              <a:rPr lang="ko-KR" altLang="en-US" sz="1800" dirty="0">
                <a:latin typeface="+mn-ea"/>
              </a:rPr>
              <a:t>강사 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 err="1">
                <a:latin typeface="+mn-ea"/>
              </a:rPr>
              <a:t>쿵스보이</a:t>
            </a:r>
            <a:r>
              <a:rPr lang="ko-KR" altLang="en-US" sz="1800" dirty="0">
                <a:latin typeface="+mn-ea"/>
              </a:rPr>
              <a:t> 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얼짱 뮤지션</a:t>
            </a:r>
            <a:r>
              <a:rPr lang="en-US" altLang="ko-KR" sz="1800" dirty="0">
                <a:latin typeface="+mn-ea"/>
              </a:rPr>
              <a:t>)</a:t>
            </a:r>
            <a:endParaRPr lang="ko-KR" altLang="en-US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84204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0" y="0"/>
            <a:ext cx="278384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665172" y="317083"/>
            <a:ext cx="1453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 </a:t>
            </a:r>
            <a:r>
              <a:rPr lang="ko-KR" altLang="en-US" sz="48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례</a:t>
            </a:r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210820" y="1148080"/>
            <a:ext cx="23622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2783840" y="2030"/>
            <a:ext cx="940816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3280122" y="1505866"/>
            <a:ext cx="7425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001</a:t>
            </a:r>
            <a:endParaRPr lang="ko-KR" altLang="en-US" sz="2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280119" y="2654784"/>
            <a:ext cx="723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002</a:t>
            </a:r>
            <a:endParaRPr lang="ko-KR" altLang="en-US" sz="2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58" name="그룹 57"/>
          <p:cNvGrpSpPr/>
          <p:nvPr/>
        </p:nvGrpSpPr>
        <p:grpSpPr>
          <a:xfrm>
            <a:off x="9530105" y="3282811"/>
            <a:ext cx="1002625" cy="1002625"/>
            <a:chOff x="7843891" y="896970"/>
            <a:chExt cx="1002625" cy="1002625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59" name="타원 58"/>
            <p:cNvSpPr/>
            <p:nvPr/>
          </p:nvSpPr>
          <p:spPr>
            <a:xfrm>
              <a:off x="7910432" y="972344"/>
              <a:ext cx="861703" cy="86170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0" name="그림 5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843891" y="896970"/>
              <a:ext cx="1002625" cy="1002625"/>
            </a:xfrm>
            <a:prstGeom prst="rect">
              <a:avLst/>
            </a:prstGeom>
          </p:spPr>
        </p:pic>
      </p:grpSp>
      <p:grpSp>
        <p:nvGrpSpPr>
          <p:cNvPr id="61" name="그룹 60"/>
          <p:cNvGrpSpPr/>
          <p:nvPr/>
        </p:nvGrpSpPr>
        <p:grpSpPr>
          <a:xfrm>
            <a:off x="9119238" y="1331958"/>
            <a:ext cx="1126436" cy="1161619"/>
            <a:chOff x="9235480" y="796119"/>
            <a:chExt cx="1126436" cy="1161619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62" name="타원 61"/>
            <p:cNvSpPr/>
            <p:nvPr/>
          </p:nvSpPr>
          <p:spPr>
            <a:xfrm>
              <a:off x="9235480" y="796119"/>
              <a:ext cx="1126436" cy="11616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3" name="그림 6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816476">
              <a:off x="9330610" y="874558"/>
              <a:ext cx="903180" cy="903180"/>
            </a:xfrm>
            <a:prstGeom prst="rect">
              <a:avLst/>
            </a:prstGeom>
          </p:spPr>
        </p:pic>
      </p:grpSp>
      <p:grpSp>
        <p:nvGrpSpPr>
          <p:cNvPr id="64" name="그룹 63"/>
          <p:cNvGrpSpPr/>
          <p:nvPr/>
        </p:nvGrpSpPr>
        <p:grpSpPr>
          <a:xfrm>
            <a:off x="10532730" y="2216387"/>
            <a:ext cx="945641" cy="945641"/>
            <a:chOff x="10598624" y="1250741"/>
            <a:chExt cx="1554480" cy="1554480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65" name="타원 64"/>
            <p:cNvSpPr/>
            <p:nvPr/>
          </p:nvSpPr>
          <p:spPr>
            <a:xfrm>
              <a:off x="10598624" y="1250741"/>
              <a:ext cx="1554480" cy="155448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6" name="그림 6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96085" flipH="1">
              <a:off x="10659225" y="1313972"/>
              <a:ext cx="1428019" cy="1428019"/>
            </a:xfrm>
            <a:prstGeom prst="rect">
              <a:avLst/>
            </a:prstGeom>
          </p:spPr>
        </p:pic>
      </p:grpSp>
      <p:grpSp>
        <p:nvGrpSpPr>
          <p:cNvPr id="67" name="그룹 66"/>
          <p:cNvGrpSpPr/>
          <p:nvPr/>
        </p:nvGrpSpPr>
        <p:grpSpPr>
          <a:xfrm rot="20306595">
            <a:off x="10624080" y="4282562"/>
            <a:ext cx="759741" cy="759741"/>
            <a:chOff x="7234606" y="2818164"/>
            <a:chExt cx="1299384" cy="1299384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68" name="타원 67"/>
            <p:cNvSpPr/>
            <p:nvPr/>
          </p:nvSpPr>
          <p:spPr>
            <a:xfrm>
              <a:off x="7234606" y="2818164"/>
              <a:ext cx="1299384" cy="129938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9" name="그림 68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68018">
              <a:off x="7348859" y="2906585"/>
              <a:ext cx="1028390" cy="1028390"/>
            </a:xfrm>
            <a:prstGeom prst="rect">
              <a:avLst/>
            </a:prstGeom>
          </p:spPr>
        </p:pic>
      </p:grpSp>
      <p:grpSp>
        <p:nvGrpSpPr>
          <p:cNvPr id="70" name="그룹 69"/>
          <p:cNvGrpSpPr/>
          <p:nvPr/>
        </p:nvGrpSpPr>
        <p:grpSpPr>
          <a:xfrm>
            <a:off x="10452677" y="43225"/>
            <a:ext cx="1384615" cy="1421211"/>
            <a:chOff x="6525279" y="4005131"/>
            <a:chExt cx="1384615" cy="1421211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71" name="타원 70"/>
            <p:cNvSpPr/>
            <p:nvPr/>
          </p:nvSpPr>
          <p:spPr>
            <a:xfrm rot="20906056">
              <a:off x="6536395" y="4005131"/>
              <a:ext cx="1373499" cy="142121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2" name="그룹 71"/>
            <p:cNvGrpSpPr/>
            <p:nvPr/>
          </p:nvGrpSpPr>
          <p:grpSpPr>
            <a:xfrm rot="21039598">
              <a:off x="6525279" y="4253758"/>
              <a:ext cx="1271708" cy="937561"/>
              <a:chOff x="8426887" y="595056"/>
              <a:chExt cx="1484025" cy="1094091"/>
            </a:xfrm>
          </p:grpSpPr>
          <p:pic>
            <p:nvPicPr>
              <p:cNvPr id="73" name="그림 72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26887" y="595056"/>
                <a:ext cx="965288" cy="965288"/>
              </a:xfrm>
              <a:prstGeom prst="rect">
                <a:avLst/>
              </a:prstGeom>
            </p:spPr>
          </p:pic>
          <p:pic>
            <p:nvPicPr>
              <p:cNvPr id="74" name="그림 73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07929" y="644056"/>
                <a:ext cx="702983" cy="702983"/>
              </a:xfrm>
              <a:prstGeom prst="rect">
                <a:avLst/>
              </a:prstGeom>
            </p:spPr>
          </p:pic>
          <p:pic>
            <p:nvPicPr>
              <p:cNvPr id="75" name="그림 74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85081" y="1318496"/>
                <a:ext cx="370651" cy="370651"/>
              </a:xfrm>
              <a:prstGeom prst="rect">
                <a:avLst/>
              </a:prstGeom>
            </p:spPr>
          </p:pic>
        </p:grpSp>
      </p:grpSp>
      <p:pic>
        <p:nvPicPr>
          <p:cNvPr id="76" name="그림 75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866"/>
          <a:stretch/>
        </p:blipFill>
        <p:spPr>
          <a:xfrm>
            <a:off x="9530105" y="5088077"/>
            <a:ext cx="2307788" cy="1780083"/>
          </a:xfrm>
          <a:prstGeom prst="rect">
            <a:avLst/>
          </a:prstGeom>
        </p:spPr>
      </p:pic>
      <p:cxnSp>
        <p:nvCxnSpPr>
          <p:cNvPr id="78" name="직선 연결선 77"/>
          <p:cNvCxnSpPr/>
          <p:nvPr/>
        </p:nvCxnSpPr>
        <p:spPr>
          <a:xfrm>
            <a:off x="3367206" y="1896411"/>
            <a:ext cx="4978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/>
          <p:cNvCxnSpPr/>
          <p:nvPr/>
        </p:nvCxnSpPr>
        <p:spPr>
          <a:xfrm>
            <a:off x="3377366" y="3048733"/>
            <a:ext cx="4978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157D04D-67E5-41EA-95DA-C4B2AA7A093E}"/>
              </a:ext>
            </a:extLst>
          </p:cNvPr>
          <p:cNvSpPr txBox="1"/>
          <p:nvPr/>
        </p:nvSpPr>
        <p:spPr>
          <a:xfrm>
            <a:off x="4167752" y="1505866"/>
            <a:ext cx="36166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넘파이</a:t>
            </a:r>
            <a:r>
              <a:rPr lang="en-US" altLang="ko-KR" sz="2800" b="1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(</a:t>
            </a:r>
            <a:r>
              <a:rPr lang="en-US" altLang="ko-KR" sz="2800" b="1" dirty="0" err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Numpy</a:t>
            </a:r>
            <a:r>
              <a:rPr lang="en-US" altLang="ko-KR" sz="2800" b="1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)</a:t>
            </a:r>
            <a:r>
              <a:rPr lang="ko-KR" altLang="en-US" sz="2800" b="1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 이해</a:t>
            </a:r>
          </a:p>
        </p:txBody>
      </p:sp>
    </p:spTree>
    <p:extLst>
      <p:ext uri="{BB962C8B-B14F-4D97-AF65-F5344CB8AC3E}">
        <p14:creationId xmlns:p14="http://schemas.microsoft.com/office/powerpoint/2010/main" val="1502462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937730" y="166227"/>
            <a:ext cx="3494867" cy="64479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1300" dirty="0">
                <a:solidFill>
                  <a:schemeClr val="accent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endParaRPr lang="ko-KR" altLang="en-US" sz="41300" dirty="0">
              <a:solidFill>
                <a:schemeClr val="accent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3263885" y="3625272"/>
            <a:ext cx="419608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76019" y="2805411"/>
            <a:ext cx="32800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1.</a:t>
            </a:r>
            <a:r>
              <a:rPr lang="ko-KR" altLang="en-US" sz="3200" b="1" dirty="0"/>
              <a:t> </a:t>
            </a:r>
            <a:r>
              <a:rPr lang="ko-KR" altLang="en-US" sz="3200" b="1" dirty="0" err="1"/>
              <a:t>넘파이의</a:t>
            </a:r>
            <a:r>
              <a:rPr lang="ko-KR" altLang="en-US" sz="3200" b="1" dirty="0"/>
              <a:t> 이해</a:t>
            </a:r>
          </a:p>
        </p:txBody>
      </p:sp>
    </p:spTree>
    <p:extLst>
      <p:ext uri="{BB962C8B-B14F-4D97-AF65-F5344CB8AC3E}">
        <p14:creationId xmlns:p14="http://schemas.microsoft.com/office/powerpoint/2010/main" val="1629508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369987" y="375920"/>
            <a:ext cx="5424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0" i="0" dirty="0" err="1">
                <a:solidFill>
                  <a:schemeClr val="bg1"/>
                </a:solidFill>
                <a:effectLst/>
                <a:latin typeface="-apple-system"/>
              </a:rPr>
              <a:t>Numpy</a:t>
            </a:r>
            <a:r>
              <a:rPr lang="en-US" altLang="ko-KR" sz="3600" b="0" i="0" dirty="0">
                <a:solidFill>
                  <a:schemeClr val="bg1"/>
                </a:solidFill>
                <a:effectLst/>
                <a:latin typeface="-apple-system"/>
              </a:rPr>
              <a:t>(</a:t>
            </a:r>
            <a:r>
              <a:rPr lang="ko-KR" altLang="en-US" sz="3600" b="0" i="0" dirty="0">
                <a:solidFill>
                  <a:schemeClr val="bg1"/>
                </a:solidFill>
                <a:effectLst/>
                <a:latin typeface="-apple-system"/>
              </a:rPr>
              <a:t>배열</a:t>
            </a:r>
            <a:r>
              <a:rPr lang="en-US" altLang="ko-KR" sz="3600" b="0" i="0" dirty="0">
                <a:solidFill>
                  <a:schemeClr val="bg1"/>
                </a:solidFill>
                <a:effectLst/>
                <a:latin typeface="-apple-system"/>
              </a:rPr>
              <a:t>)</a:t>
            </a:r>
            <a:r>
              <a:rPr lang="ko-KR" altLang="en-US" sz="3600" dirty="0">
                <a:solidFill>
                  <a:schemeClr val="bg1"/>
                </a:solidFill>
                <a:latin typeface="-apple-system"/>
              </a:rPr>
              <a:t> </a:t>
            </a:r>
            <a:r>
              <a:rPr lang="en-US" altLang="ko-KR" sz="3600" dirty="0">
                <a:solidFill>
                  <a:schemeClr val="bg1"/>
                </a:solidFill>
                <a:latin typeface="-apple-system"/>
              </a:rPr>
              <a:t>vs</a:t>
            </a:r>
            <a:r>
              <a:rPr lang="ko-KR" altLang="en-US" sz="3600" dirty="0">
                <a:solidFill>
                  <a:schemeClr val="bg1"/>
                </a:solidFill>
                <a:latin typeface="-apple-system"/>
              </a:rPr>
              <a:t> </a:t>
            </a:r>
            <a:r>
              <a:rPr lang="en-US" altLang="ko-KR" sz="3600" dirty="0">
                <a:solidFill>
                  <a:schemeClr val="bg1"/>
                </a:solidFill>
                <a:latin typeface="-apple-system"/>
              </a:rPr>
              <a:t>list(</a:t>
            </a:r>
            <a:r>
              <a:rPr lang="ko-KR" altLang="en-US" sz="3600" dirty="0">
                <a:solidFill>
                  <a:schemeClr val="bg1"/>
                </a:solidFill>
                <a:latin typeface="-apple-system"/>
              </a:rPr>
              <a:t>리스트</a:t>
            </a:r>
            <a:r>
              <a:rPr lang="en-US" altLang="ko-KR" sz="3600" dirty="0">
                <a:solidFill>
                  <a:schemeClr val="bg1"/>
                </a:solidFill>
                <a:latin typeface="-apple-system"/>
              </a:rPr>
              <a:t>)</a:t>
            </a:r>
            <a:r>
              <a:rPr lang="ko-KR" altLang="en-US" sz="3600" dirty="0">
                <a:solidFill>
                  <a:schemeClr val="bg1"/>
                </a:solidFill>
                <a:latin typeface="-apple-system"/>
              </a:rPr>
              <a:t> </a:t>
            </a:r>
            <a:endParaRPr lang="ko-KR" altLang="en-US" sz="36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2">
            <a:extLst>
              <a:ext uri="{FF2B5EF4-FFF2-40B4-BE49-F238E27FC236}">
                <a16:creationId xmlns:a16="http://schemas.microsoft.com/office/drawing/2014/main" id="{14528F02-0185-15B1-DCC4-C4522E39A368}"/>
              </a:ext>
            </a:extLst>
          </p:cNvPr>
          <p:cNvSpPr/>
          <p:nvPr/>
        </p:nvSpPr>
        <p:spPr>
          <a:xfrm>
            <a:off x="5158242" y="2737625"/>
            <a:ext cx="6860932" cy="3464560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모서리가 둥근 직사각형 11">
            <a:extLst>
              <a:ext uri="{FF2B5EF4-FFF2-40B4-BE49-F238E27FC236}">
                <a16:creationId xmlns:a16="http://schemas.microsoft.com/office/drawing/2014/main" id="{EE4569B4-3DAF-5C86-FD61-48B3429EBCAD}"/>
              </a:ext>
            </a:extLst>
          </p:cNvPr>
          <p:cNvSpPr/>
          <p:nvPr/>
        </p:nvSpPr>
        <p:spPr>
          <a:xfrm>
            <a:off x="878053" y="2737625"/>
            <a:ext cx="3448849" cy="3464560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모서리가 둥근 직사각형 6">
            <a:extLst>
              <a:ext uri="{FF2B5EF4-FFF2-40B4-BE49-F238E27FC236}">
                <a16:creationId xmlns:a16="http://schemas.microsoft.com/office/drawing/2014/main" id="{80381ED7-C4C7-45A1-0499-4705266661B0}"/>
              </a:ext>
            </a:extLst>
          </p:cNvPr>
          <p:cNvSpPr/>
          <p:nvPr/>
        </p:nvSpPr>
        <p:spPr>
          <a:xfrm>
            <a:off x="695173" y="2605545"/>
            <a:ext cx="3448849" cy="3464560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71476" marR="0" lvl="3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F79646">
                  <a:lumMod val="75000"/>
                </a:srgbClr>
              </a:buClr>
              <a:buSzPct val="96000"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471476" marR="0" lvl="3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F79646">
                  <a:lumMod val="75000"/>
                </a:srgbClr>
              </a:buClr>
              <a:buSzPct val="96000"/>
              <a:tabLst/>
              <a:defRPr/>
            </a:pPr>
            <a:endParaRPr lang="en-US" altLang="ko-KR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Font typeface="+mj-lt"/>
              <a:buAutoNum type="arabicPeriod"/>
            </a:pPr>
            <a:r>
              <a:rPr lang="ko-KR" altLang="en-US" sz="2000" b="0" i="0" dirty="0">
                <a:solidFill>
                  <a:srgbClr val="333333"/>
                </a:solidFill>
                <a:effectLst/>
                <a:latin typeface="Noto Serif KR"/>
              </a:rPr>
              <a:t>모든 원소가 같은 </a:t>
            </a:r>
            <a:r>
              <a:rPr lang="ko-KR" altLang="en-US" sz="2000" b="0" i="0" dirty="0" err="1">
                <a:solidFill>
                  <a:srgbClr val="333333"/>
                </a:solidFill>
                <a:effectLst/>
                <a:latin typeface="Noto Serif KR"/>
              </a:rPr>
              <a:t>자료형이어야</a:t>
            </a:r>
            <a:r>
              <a:rPr lang="ko-KR" altLang="en-US" sz="2000" b="0" i="0" dirty="0">
                <a:solidFill>
                  <a:srgbClr val="333333"/>
                </a:solidFill>
                <a:effectLst/>
                <a:latin typeface="Noto Serif KR"/>
              </a:rPr>
              <a:t> 한다</a:t>
            </a:r>
            <a:r>
              <a:rPr lang="en-US" altLang="ko-KR" sz="2000" b="0" i="0" dirty="0">
                <a:solidFill>
                  <a:srgbClr val="333333"/>
                </a:solidFill>
                <a:effectLst/>
                <a:latin typeface="Noto Serif KR"/>
              </a:rPr>
              <a:t>.</a:t>
            </a:r>
          </a:p>
          <a:p>
            <a:pPr algn="l">
              <a:buFont typeface="+mj-lt"/>
              <a:buAutoNum type="arabicPeriod"/>
            </a:pPr>
            <a:endParaRPr lang="en-US" altLang="ko-KR" sz="2000" b="0" i="0" dirty="0">
              <a:solidFill>
                <a:srgbClr val="333333"/>
              </a:solidFill>
              <a:effectLst/>
              <a:latin typeface="Noto Serif KR"/>
            </a:endParaRPr>
          </a:p>
          <a:p>
            <a:pPr algn="l">
              <a:buFont typeface="+mj-lt"/>
              <a:buAutoNum type="arabicPeriod"/>
            </a:pPr>
            <a:r>
              <a:rPr lang="ko-KR" altLang="en-US" sz="2000" b="0" i="0" dirty="0">
                <a:solidFill>
                  <a:srgbClr val="333333"/>
                </a:solidFill>
                <a:effectLst/>
                <a:latin typeface="Noto Serif KR"/>
              </a:rPr>
              <a:t>원소의 </a:t>
            </a:r>
            <a:r>
              <a:rPr lang="ko-KR" altLang="en-US" sz="2000" b="0" i="0" dirty="0" err="1">
                <a:solidFill>
                  <a:srgbClr val="333333"/>
                </a:solidFill>
                <a:effectLst/>
                <a:latin typeface="Noto Serif KR"/>
              </a:rPr>
              <a:t>갯수를</a:t>
            </a:r>
            <a:r>
              <a:rPr lang="ko-KR" altLang="en-US" sz="2000" b="0" i="0" dirty="0">
                <a:solidFill>
                  <a:srgbClr val="333333"/>
                </a:solidFill>
                <a:effectLst/>
                <a:latin typeface="Noto Serif KR"/>
              </a:rPr>
              <a:t> 바꿀 수 없다</a:t>
            </a:r>
            <a:r>
              <a:rPr lang="en-US" altLang="ko-KR" sz="2000" b="0" i="0" dirty="0">
                <a:solidFill>
                  <a:srgbClr val="333333"/>
                </a:solidFill>
                <a:effectLst/>
                <a:latin typeface="Noto Serif KR"/>
              </a:rPr>
              <a:t>.</a:t>
            </a:r>
          </a:p>
          <a:p>
            <a:pPr marL="471476" marR="0" lvl="3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F79646">
                  <a:lumMod val="75000"/>
                </a:srgbClr>
              </a:buClr>
              <a:buSzPct val="96000"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35748" marR="0" lvl="2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E84560"/>
              </a:buClr>
              <a:buSzTx/>
              <a:tabLst/>
              <a:defRPr/>
            </a:pPr>
            <a:endParaRPr lang="ko-KR" altLang="en-US" dirty="0"/>
          </a:p>
        </p:txBody>
      </p:sp>
      <p:sp>
        <p:nvSpPr>
          <p:cNvPr id="6" name="모서리가 둥근 직사각형 7">
            <a:extLst>
              <a:ext uri="{FF2B5EF4-FFF2-40B4-BE49-F238E27FC236}">
                <a16:creationId xmlns:a16="http://schemas.microsoft.com/office/drawing/2014/main" id="{ADFB12B4-86B7-C600-C4F2-EB07CC4900E0}"/>
              </a:ext>
            </a:extLst>
          </p:cNvPr>
          <p:cNvSpPr/>
          <p:nvPr/>
        </p:nvSpPr>
        <p:spPr>
          <a:xfrm>
            <a:off x="4975362" y="2605545"/>
            <a:ext cx="6860932" cy="3464560"/>
          </a:xfrm>
          <a:prstGeom prst="roundRect">
            <a:avLst>
              <a:gd name="adj" fmla="val 11794"/>
            </a:avLst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71476" marR="0" lvl="3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F79646">
                  <a:lumMod val="75000"/>
                </a:srgbClr>
              </a:buClr>
              <a:buSzPct val="96000"/>
              <a:tabLst/>
              <a:defRPr/>
            </a:pPr>
            <a:endParaRPr lang="en-US" altLang="ko-KR" b="0" i="0" dirty="0">
              <a:solidFill>
                <a:srgbClr val="333333"/>
              </a:solidFill>
              <a:effectLst/>
              <a:latin typeface="Noto Serif KR"/>
            </a:endParaRPr>
          </a:p>
          <a:p>
            <a:pPr marL="471476" marR="0" lvl="3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F79646">
                  <a:lumMod val="75000"/>
                </a:srgbClr>
              </a:buClr>
              <a:buSzPct val="96000"/>
              <a:tabLst/>
              <a:defRPr/>
            </a:pPr>
            <a:endParaRPr lang="en-US" altLang="ko-KR" dirty="0">
              <a:solidFill>
                <a:srgbClr val="333333"/>
              </a:solidFill>
              <a:latin typeface="Noto Serif KR"/>
            </a:endParaRPr>
          </a:p>
          <a:p>
            <a:pPr marL="471476" marR="0" lvl="3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F79646">
                  <a:lumMod val="75000"/>
                </a:srgbClr>
              </a:buClr>
              <a:buSzPct val="96000"/>
              <a:tabLst/>
              <a:defRPr/>
            </a:pPr>
            <a:r>
              <a:rPr lang="ko-KR" altLang="en-US" b="0" i="0" dirty="0" err="1">
                <a:solidFill>
                  <a:srgbClr val="333333"/>
                </a:solidFill>
                <a:effectLst/>
                <a:latin typeface="Noto Serif KR"/>
              </a:rPr>
              <a:t>파이썬은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erif KR"/>
              </a:rPr>
              <a:t> 자체적으로 배열 자료형을 제공하지 않는다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erif KR"/>
              </a:rPr>
              <a:t>.</a:t>
            </a:r>
          </a:p>
          <a:p>
            <a:pPr marL="471476" marR="0" lvl="3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F79646">
                  <a:lumMod val="75000"/>
                </a:srgbClr>
              </a:buClr>
              <a:buSzPct val="96000"/>
              <a:tabLst/>
              <a:defRPr/>
            </a:pPr>
            <a:r>
              <a:rPr lang="ko-KR" altLang="en-US" b="0" i="0" dirty="0">
                <a:solidFill>
                  <a:srgbClr val="333333"/>
                </a:solidFill>
                <a:effectLst/>
                <a:latin typeface="Noto Serif KR"/>
              </a:rPr>
              <a:t>따라서 배열을 구현한 다른 패키지를 임포트해야 한다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erif KR"/>
              </a:rPr>
              <a:t>. </a:t>
            </a:r>
          </a:p>
          <a:p>
            <a:pPr marL="471476" marR="0" lvl="3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F79646">
                  <a:lumMod val="75000"/>
                </a:srgbClr>
              </a:buClr>
              <a:buSzPct val="96000"/>
              <a:tabLst/>
              <a:defRPr/>
            </a:pPr>
            <a:r>
              <a:rPr lang="ko-KR" altLang="en-US" b="0" i="0" dirty="0" err="1">
                <a:solidFill>
                  <a:srgbClr val="333333"/>
                </a:solidFill>
                <a:effectLst/>
                <a:latin typeface="Noto Serif KR"/>
              </a:rPr>
              <a:t>파이썬에서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erif KR"/>
              </a:rPr>
              <a:t> 배열을 사용하기 위한 표준 패키지는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latin typeface="Noto Serif KR"/>
              </a:rPr>
              <a:t>넘파이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erif KR"/>
              </a:rPr>
              <a:t>(NumPy)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erif KR"/>
              </a:rPr>
              <a:t>다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erif KR"/>
              </a:rPr>
              <a:t>.</a:t>
            </a:r>
          </a:p>
          <a:p>
            <a:pPr marL="471476" marR="0" lvl="3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F79646">
                  <a:lumMod val="75000"/>
                </a:srgbClr>
              </a:buClr>
              <a:buSzPct val="96000"/>
              <a:tabLst/>
              <a:defRPr/>
            </a:pPr>
            <a:endParaRPr lang="en-US" altLang="ko-KR" b="0" i="0" dirty="0">
              <a:solidFill>
                <a:srgbClr val="333333"/>
              </a:solidFill>
              <a:effectLst/>
              <a:latin typeface="Noto Serif KR"/>
            </a:endParaRPr>
          </a:p>
          <a:p>
            <a:pPr marL="471476" marR="0" lvl="3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F79646">
                  <a:lumMod val="75000"/>
                </a:srgbClr>
              </a:buClr>
              <a:buSzPct val="96000"/>
              <a:tabLst/>
              <a:defRPr/>
            </a:pPr>
            <a:endParaRPr lang="en-US" altLang="ko-KR" b="0" i="0" dirty="0">
              <a:solidFill>
                <a:srgbClr val="333333"/>
              </a:solidFill>
              <a:effectLst/>
              <a:latin typeface="Noto Serif KR"/>
            </a:endParaRPr>
          </a:p>
          <a:p>
            <a:pPr marL="471476" marR="0" lvl="3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F79646">
                  <a:lumMod val="75000"/>
                </a:srgbClr>
              </a:buClr>
              <a:buSzPct val="96000"/>
              <a:tabLst/>
              <a:defRPr/>
            </a:pPr>
            <a:endParaRPr kumimoji="0" lang="en-US" altLang="ko-K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561C3C4-FF4C-3F24-F93F-41E2EAF609F8}"/>
              </a:ext>
            </a:extLst>
          </p:cNvPr>
          <p:cNvSpPr/>
          <p:nvPr/>
        </p:nvSpPr>
        <p:spPr>
          <a:xfrm>
            <a:off x="1619124" y="1819267"/>
            <a:ext cx="503641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A</a:t>
            </a:r>
            <a:endParaRPr lang="ko-KR" altLang="en-US" b="1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8A32A004-F30F-2845-2E1D-3D0BED6073A8}"/>
              </a:ext>
            </a:extLst>
          </p:cNvPr>
          <p:cNvSpPr/>
          <p:nvPr/>
        </p:nvSpPr>
        <p:spPr>
          <a:xfrm>
            <a:off x="6714885" y="1692258"/>
            <a:ext cx="441053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CA4AF5-C445-4126-F95A-52D604B560AF}"/>
              </a:ext>
            </a:extLst>
          </p:cNvPr>
          <p:cNvSpPr txBox="1"/>
          <p:nvPr/>
        </p:nvSpPr>
        <p:spPr>
          <a:xfrm>
            <a:off x="2105320" y="1817650"/>
            <a:ext cx="2035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다른 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030AB5-6267-2A10-99FC-21B4C4A7CB64}"/>
              </a:ext>
            </a:extLst>
          </p:cNvPr>
          <p:cNvSpPr txBox="1"/>
          <p:nvPr/>
        </p:nvSpPr>
        <p:spPr>
          <a:xfrm>
            <a:off x="7359918" y="1703648"/>
            <a:ext cx="2726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solidFill>
                  <a:srgbClr val="212529"/>
                </a:solidFill>
                <a:latin typeface="-apple-system"/>
              </a:rPr>
              <a:t>넘파이</a:t>
            </a:r>
            <a:r>
              <a:rPr lang="ko-KR" altLang="en-US" sz="2400" dirty="0">
                <a:solidFill>
                  <a:srgbClr val="212529"/>
                </a:solidFill>
                <a:latin typeface="-apple-system"/>
              </a:rPr>
              <a:t> 배열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06290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13" name="모서리가 둥근 직사각형 12"/>
          <p:cNvSpPr/>
          <p:nvPr/>
        </p:nvSpPr>
        <p:spPr>
          <a:xfrm>
            <a:off x="5158242" y="2737625"/>
            <a:ext cx="6860932" cy="3464560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878053" y="2737625"/>
            <a:ext cx="3448849" cy="3464560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473200" y="375920"/>
            <a:ext cx="51389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0" i="0" dirty="0">
                <a:solidFill>
                  <a:schemeClr val="bg1"/>
                </a:solidFill>
                <a:effectLst/>
                <a:latin typeface="-apple-system"/>
              </a:rPr>
              <a:t>왜 </a:t>
            </a:r>
            <a:r>
              <a:rPr lang="en-US" altLang="ko-KR" sz="3600" b="0" i="0" dirty="0" err="1">
                <a:solidFill>
                  <a:schemeClr val="bg1"/>
                </a:solidFill>
                <a:effectLst/>
                <a:latin typeface="-apple-system"/>
              </a:rPr>
              <a:t>numpy</a:t>
            </a:r>
            <a:r>
              <a:rPr lang="ko-KR" altLang="en-US" sz="3600" b="0" i="0" dirty="0">
                <a:solidFill>
                  <a:schemeClr val="bg1"/>
                </a:solidFill>
                <a:effectLst/>
                <a:latin typeface="-apple-system"/>
              </a:rPr>
              <a:t>를 사용하는가</a:t>
            </a:r>
            <a:r>
              <a:rPr lang="en-US" altLang="ko-KR" sz="3600" b="0" i="0" dirty="0">
                <a:solidFill>
                  <a:schemeClr val="bg1"/>
                </a:solidFill>
                <a:effectLst/>
                <a:latin typeface="-apple-system"/>
              </a:rPr>
              <a:t>?</a:t>
            </a:r>
            <a:endParaRPr lang="ko-KR" altLang="en-US" sz="36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695173" y="2605545"/>
            <a:ext cx="3448849" cy="3464560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71476" marR="0" lvl="3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F79646">
                  <a:lumMod val="75000"/>
                </a:srgbClr>
              </a:buClr>
              <a:buSzPct val="96000"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471476" marR="0" lvl="3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F79646">
                  <a:lumMod val="75000"/>
                </a:srgbClr>
              </a:buClr>
              <a:buSzPct val="96000"/>
              <a:tabLst/>
              <a:defRPr/>
            </a:pPr>
            <a:endParaRPr lang="en-US" altLang="ko-KR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600" b="0" i="0" dirty="0">
                <a:solidFill>
                  <a:srgbClr val="212529"/>
                </a:solidFill>
                <a:effectLst/>
                <a:latin typeface="-apple-system"/>
              </a:rPr>
              <a:t>굉장히 큰 </a:t>
            </a:r>
            <a:r>
              <a:rPr lang="en-US" altLang="ko-KR" sz="1600" b="0" i="0" dirty="0">
                <a:solidFill>
                  <a:srgbClr val="212529"/>
                </a:solidFill>
                <a:effectLst/>
                <a:latin typeface="-apple-system"/>
              </a:rPr>
              <a:t>matrix</a:t>
            </a:r>
            <a:r>
              <a:rPr lang="ko-KR" altLang="en-US" sz="1600" b="0" i="0" dirty="0">
                <a:solidFill>
                  <a:srgbClr val="212529"/>
                </a:solidFill>
                <a:effectLst/>
                <a:latin typeface="-apple-system"/>
              </a:rPr>
              <a:t>처리 및 다양한 연산 기능 제공</a:t>
            </a:r>
            <a:endParaRPr lang="en-US" altLang="ko-KR" sz="16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ko-KR" altLang="en-US" sz="16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600" b="0" i="0" dirty="0" err="1">
                <a:solidFill>
                  <a:srgbClr val="212529"/>
                </a:solidFill>
                <a:effectLst/>
                <a:latin typeface="-apple-system"/>
              </a:rPr>
              <a:t>반복문</a:t>
            </a:r>
            <a:r>
              <a:rPr lang="ko-KR" altLang="en-US" sz="1600" b="0" i="0" dirty="0">
                <a:solidFill>
                  <a:srgbClr val="212529"/>
                </a:solidFill>
                <a:effectLst/>
                <a:latin typeface="-apple-system"/>
              </a:rPr>
              <a:t> 없이 데이터 배열에 대한 처리 지원</a:t>
            </a:r>
            <a:endParaRPr lang="en-US" altLang="ko-KR" sz="16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ko-KR" altLang="en-US" sz="16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600" b="0" i="0" dirty="0">
                <a:solidFill>
                  <a:srgbClr val="212529"/>
                </a:solidFill>
                <a:effectLst/>
                <a:latin typeface="-apple-system"/>
              </a:rPr>
              <a:t>선형대수와 관련된 다양한 기능 제공</a:t>
            </a:r>
            <a:endParaRPr lang="en-US" altLang="ko-KR" sz="16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ko-KR" altLang="en-US" sz="16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212529"/>
                </a:solidFill>
                <a:effectLst/>
                <a:latin typeface="-apple-system"/>
              </a:rPr>
              <a:t>python</a:t>
            </a:r>
            <a:r>
              <a:rPr lang="ko-KR" altLang="en-US" sz="1600" b="0" i="0" dirty="0">
                <a:solidFill>
                  <a:srgbClr val="212529"/>
                </a:solidFill>
                <a:effectLst/>
                <a:latin typeface="-apple-system"/>
              </a:rPr>
              <a:t>은 인터프리터 언어이므로 리스트로 처리 시 속도가 느린 단점이 있다</a:t>
            </a:r>
            <a:r>
              <a:rPr lang="en-US" altLang="ko-KR" sz="1600" b="0" i="0" dirty="0">
                <a:solidFill>
                  <a:srgbClr val="212529"/>
                </a:solidFill>
                <a:effectLst/>
                <a:latin typeface="-apple-system"/>
              </a:rPr>
              <a:t>, </a:t>
            </a:r>
            <a:r>
              <a:rPr lang="ko-KR" altLang="en-US" sz="1600" b="0" i="0" dirty="0" err="1">
                <a:solidFill>
                  <a:srgbClr val="212529"/>
                </a:solidFill>
                <a:effectLst/>
                <a:latin typeface="-apple-system"/>
              </a:rPr>
              <a:t>넘파이는</a:t>
            </a:r>
            <a:r>
              <a:rPr lang="ko-KR" altLang="en-US" sz="1600" b="0" i="0" dirty="0">
                <a:solidFill>
                  <a:srgbClr val="212529"/>
                </a:solidFill>
                <a:effectLst/>
                <a:latin typeface="-apple-system"/>
              </a:rPr>
              <a:t> 이러한 단점을 보완해준다</a:t>
            </a:r>
          </a:p>
          <a:p>
            <a:pPr marL="471476" marR="0" lvl="3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F79646">
                  <a:lumMod val="75000"/>
                </a:srgbClr>
              </a:buClr>
              <a:buSzPct val="96000"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35748" marR="0" lvl="2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E84560"/>
              </a:buClr>
              <a:buSzTx/>
              <a:tabLst/>
              <a:defRPr/>
            </a:pPr>
            <a:endParaRPr lang="ko-KR" altLang="en-US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4975362" y="2605545"/>
            <a:ext cx="6860932" cy="3464560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71476" marR="0" lvl="3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F79646">
                  <a:lumMod val="75000"/>
                </a:srgbClr>
              </a:buClr>
              <a:buSzPct val="96000"/>
              <a:tabLst/>
              <a:defRPr/>
            </a:pP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1, </a:t>
            </a:r>
            <a:r>
              <a:rPr lang="en-US" altLang="ko-KR" b="0" i="0" dirty="0" err="1">
                <a:solidFill>
                  <a:srgbClr val="212529"/>
                </a:solidFill>
                <a:effectLst/>
                <a:latin typeface="-apple-system"/>
              </a:rPr>
              <a:t>numpy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는 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C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언어로 구현되어 있음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2, </a:t>
            </a:r>
            <a:r>
              <a:rPr lang="en-US" altLang="ko-KR" b="0" i="0" dirty="0" err="1">
                <a:solidFill>
                  <a:srgbClr val="212529"/>
                </a:solidFill>
                <a:effectLst/>
                <a:latin typeface="-apple-system"/>
              </a:rPr>
              <a:t>numpy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는 한 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task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를 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subtask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로 알아서 나눠 병렬적으로 처리한다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3,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메모리 접근 방식에 대한 차이로 인하여 속도가 빠르다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(</a:t>
            </a:r>
            <a:r>
              <a:rPr lang="ko-KR" altLang="en-US" b="0" i="0" dirty="0" err="1">
                <a:solidFill>
                  <a:srgbClr val="212529"/>
                </a:solidFill>
                <a:effectLst/>
                <a:latin typeface="-apple-system"/>
              </a:rPr>
              <a:t>주소값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 저장이 아닌 실제 값을 메모리에 가지고 있어 메모리에 값이 연속적으로 저장되어 있고 이로 인하여 속도가 빠르다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.)</a:t>
            </a:r>
            <a:endParaRPr kumimoji="0" lang="en-US" altLang="ko-K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타원 15"/>
          <p:cNvSpPr/>
          <p:nvPr/>
        </p:nvSpPr>
        <p:spPr>
          <a:xfrm>
            <a:off x="1119380" y="1796736"/>
            <a:ext cx="503641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A</a:t>
            </a:r>
            <a:endParaRPr lang="ko-KR" altLang="en-US" b="1" dirty="0"/>
          </a:p>
        </p:txBody>
      </p:sp>
      <p:sp>
        <p:nvSpPr>
          <p:cNvPr id="17" name="타원 16"/>
          <p:cNvSpPr/>
          <p:nvPr/>
        </p:nvSpPr>
        <p:spPr>
          <a:xfrm>
            <a:off x="6714885" y="1692258"/>
            <a:ext cx="441053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</a:t>
            </a:r>
            <a:endParaRPr lang="ko-KR" altLang="en-US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1605576" y="1795119"/>
            <a:ext cx="2035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/>
              <a:t>Numpy</a:t>
            </a:r>
            <a:r>
              <a:rPr lang="en-US" altLang="ko-KR" sz="2400" dirty="0"/>
              <a:t> </a:t>
            </a:r>
            <a:r>
              <a:rPr lang="ko-KR" altLang="en-US" sz="2400" dirty="0"/>
              <a:t>장점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9918" y="1703648"/>
            <a:ext cx="2726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0" i="0" dirty="0">
                <a:solidFill>
                  <a:srgbClr val="212529"/>
                </a:solidFill>
                <a:effectLst/>
                <a:latin typeface="-apple-system"/>
              </a:rPr>
              <a:t>속도가 빠른 이유</a:t>
            </a:r>
            <a:endParaRPr lang="ko-KR" altLang="en-US" sz="2400" dirty="0"/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93821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13" name="모서리가 둥근 직사각형 12"/>
          <p:cNvSpPr/>
          <p:nvPr/>
        </p:nvSpPr>
        <p:spPr>
          <a:xfrm>
            <a:off x="624342" y="2794774"/>
            <a:ext cx="9443584" cy="3177401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473200" y="375920"/>
            <a:ext cx="57224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0" i="0" dirty="0">
                <a:solidFill>
                  <a:schemeClr val="bg1"/>
                </a:solidFill>
                <a:effectLst/>
                <a:latin typeface="-apple-system"/>
              </a:rPr>
              <a:t>왜 </a:t>
            </a:r>
            <a:r>
              <a:rPr lang="en-US" altLang="ko-KR" sz="3600" b="0" i="0" dirty="0" err="1">
                <a:solidFill>
                  <a:schemeClr val="bg1"/>
                </a:solidFill>
                <a:effectLst/>
                <a:latin typeface="-apple-system"/>
              </a:rPr>
              <a:t>numpy</a:t>
            </a:r>
            <a:r>
              <a:rPr lang="ko-KR" altLang="en-US" sz="3600" b="0" i="0" dirty="0">
                <a:solidFill>
                  <a:schemeClr val="bg1"/>
                </a:solidFill>
                <a:effectLst/>
                <a:latin typeface="-apple-system"/>
              </a:rPr>
              <a:t>를 사용하는가</a:t>
            </a:r>
            <a:r>
              <a:rPr lang="en-US" altLang="ko-KR" sz="3600" b="0" i="0" dirty="0">
                <a:solidFill>
                  <a:schemeClr val="bg1"/>
                </a:solidFill>
                <a:effectLst/>
                <a:latin typeface="-apple-system"/>
              </a:rPr>
              <a:t>? - 2</a:t>
            </a:r>
            <a:endParaRPr lang="ko-KR" altLang="en-US" sz="36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441462" y="2662694"/>
            <a:ext cx="9443584" cy="3177401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71476" marR="0" lvl="3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F79646">
                  <a:lumMod val="75000"/>
                </a:srgbClr>
              </a:buClr>
              <a:buSzPct val="96000"/>
              <a:tabLst/>
              <a:defRPr/>
            </a:pPr>
            <a:endParaRPr kumimoji="0" lang="en-US" altLang="ko-K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828167" y="1723055"/>
            <a:ext cx="441053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A</a:t>
            </a:r>
            <a:endParaRPr lang="ko-KR" alt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1473200" y="1734445"/>
            <a:ext cx="2726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12529"/>
                </a:solidFill>
                <a:latin typeface="-apple-system"/>
              </a:rPr>
              <a:t>행렬의 필요성</a:t>
            </a:r>
            <a:endParaRPr lang="ko-KR" altLang="en-US" sz="2400" dirty="0"/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A49FE375-F209-4086-8A1C-D6819AAC05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41" y="2992298"/>
            <a:ext cx="8691108" cy="245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689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13" name="모서리가 둥근 직사각형 12"/>
          <p:cNvSpPr/>
          <p:nvPr/>
        </p:nvSpPr>
        <p:spPr>
          <a:xfrm>
            <a:off x="624342" y="2794774"/>
            <a:ext cx="9443584" cy="3177401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473200" y="375920"/>
            <a:ext cx="57224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0" i="0" dirty="0">
                <a:solidFill>
                  <a:schemeClr val="bg1"/>
                </a:solidFill>
                <a:effectLst/>
                <a:latin typeface="-apple-system"/>
              </a:rPr>
              <a:t>왜 </a:t>
            </a:r>
            <a:r>
              <a:rPr lang="en-US" altLang="ko-KR" sz="3600" b="0" i="0" dirty="0" err="1">
                <a:solidFill>
                  <a:schemeClr val="bg1"/>
                </a:solidFill>
                <a:effectLst/>
                <a:latin typeface="-apple-system"/>
              </a:rPr>
              <a:t>numpy</a:t>
            </a:r>
            <a:r>
              <a:rPr lang="ko-KR" altLang="en-US" sz="3600" b="0" i="0" dirty="0">
                <a:solidFill>
                  <a:schemeClr val="bg1"/>
                </a:solidFill>
                <a:effectLst/>
                <a:latin typeface="-apple-system"/>
              </a:rPr>
              <a:t>를 사용하는가</a:t>
            </a:r>
            <a:r>
              <a:rPr lang="en-US" altLang="ko-KR" sz="3600" b="0" i="0" dirty="0">
                <a:solidFill>
                  <a:schemeClr val="bg1"/>
                </a:solidFill>
                <a:effectLst/>
                <a:latin typeface="-apple-system"/>
              </a:rPr>
              <a:t>? - 3</a:t>
            </a:r>
            <a:endParaRPr lang="ko-KR" altLang="en-US" sz="36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441462" y="2662694"/>
            <a:ext cx="9443584" cy="3177401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71476" marR="0" lvl="3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F79646">
                  <a:lumMod val="75000"/>
                </a:srgbClr>
              </a:buClr>
              <a:buSzPct val="96000"/>
              <a:tabLst/>
              <a:defRPr/>
            </a:pPr>
            <a:endParaRPr kumimoji="0" lang="en-US" altLang="ko-K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828167" y="1723055"/>
            <a:ext cx="441053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A</a:t>
            </a:r>
            <a:endParaRPr lang="ko-KR" alt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1473200" y="1734445"/>
            <a:ext cx="2726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12529"/>
                </a:solidFill>
                <a:latin typeface="-apple-system"/>
              </a:rPr>
              <a:t>행렬의 필요성</a:t>
            </a:r>
            <a:endParaRPr lang="ko-KR" altLang="en-US" sz="2400" dirty="0"/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90C2A74E-6733-4743-AC92-9B67FA4A65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4125" y="3150905"/>
            <a:ext cx="6286500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284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73200" y="375920"/>
            <a:ext cx="57224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0" i="0" dirty="0">
                <a:solidFill>
                  <a:schemeClr val="bg1"/>
                </a:solidFill>
                <a:effectLst/>
                <a:latin typeface="-apple-system"/>
              </a:rPr>
              <a:t>왜 </a:t>
            </a:r>
            <a:r>
              <a:rPr lang="en-US" altLang="ko-KR" sz="3600" b="0" i="0" dirty="0" err="1">
                <a:solidFill>
                  <a:schemeClr val="bg1"/>
                </a:solidFill>
                <a:effectLst/>
                <a:latin typeface="-apple-system"/>
              </a:rPr>
              <a:t>numpy</a:t>
            </a:r>
            <a:r>
              <a:rPr lang="ko-KR" altLang="en-US" sz="3600" b="0" i="0" dirty="0">
                <a:solidFill>
                  <a:schemeClr val="bg1"/>
                </a:solidFill>
                <a:effectLst/>
                <a:latin typeface="-apple-system"/>
              </a:rPr>
              <a:t>를 사용하는가</a:t>
            </a:r>
            <a:r>
              <a:rPr lang="en-US" altLang="ko-KR" sz="3600" b="0" i="0" dirty="0">
                <a:solidFill>
                  <a:schemeClr val="bg1"/>
                </a:solidFill>
                <a:effectLst/>
                <a:latin typeface="-apple-system"/>
              </a:rPr>
              <a:t>? - 4</a:t>
            </a:r>
            <a:endParaRPr lang="ko-KR" altLang="en-US" sz="36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828167" y="1723055"/>
            <a:ext cx="441053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A</a:t>
            </a:r>
            <a:endParaRPr lang="ko-KR" alt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1473200" y="1734445"/>
            <a:ext cx="2726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12529"/>
                </a:solidFill>
                <a:latin typeface="-apple-system"/>
              </a:rPr>
              <a:t>행렬의 필요성</a:t>
            </a:r>
            <a:endParaRPr lang="ko-KR" altLang="en-US" sz="2400" dirty="0"/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BA343E17-C0D5-4777-AB6C-51005DB59D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9063" y="2445134"/>
            <a:ext cx="7724775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707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73200" y="375920"/>
            <a:ext cx="57224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0" i="0" dirty="0">
                <a:solidFill>
                  <a:schemeClr val="bg1"/>
                </a:solidFill>
                <a:effectLst/>
                <a:latin typeface="-apple-system"/>
              </a:rPr>
              <a:t>왜 </a:t>
            </a:r>
            <a:r>
              <a:rPr lang="en-US" altLang="ko-KR" sz="3600" b="0" i="0" dirty="0" err="1">
                <a:solidFill>
                  <a:schemeClr val="bg1"/>
                </a:solidFill>
                <a:effectLst/>
                <a:latin typeface="-apple-system"/>
              </a:rPr>
              <a:t>numpy</a:t>
            </a:r>
            <a:r>
              <a:rPr lang="ko-KR" altLang="en-US" sz="3600" b="0" i="0" dirty="0">
                <a:solidFill>
                  <a:schemeClr val="bg1"/>
                </a:solidFill>
                <a:effectLst/>
                <a:latin typeface="-apple-system"/>
              </a:rPr>
              <a:t>를 사용하는가</a:t>
            </a:r>
            <a:r>
              <a:rPr lang="en-US" altLang="ko-KR" sz="3600" b="0" i="0" dirty="0">
                <a:solidFill>
                  <a:schemeClr val="bg1"/>
                </a:solidFill>
                <a:effectLst/>
                <a:latin typeface="-apple-system"/>
              </a:rPr>
              <a:t>? - 5</a:t>
            </a:r>
            <a:endParaRPr lang="ko-KR" altLang="en-US" sz="36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828167" y="1723055"/>
            <a:ext cx="441053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A</a:t>
            </a:r>
            <a:endParaRPr lang="ko-KR" alt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1473200" y="1734445"/>
            <a:ext cx="2726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12529"/>
                </a:solidFill>
                <a:latin typeface="-apple-system"/>
              </a:rPr>
              <a:t>행렬의 필요성</a:t>
            </a:r>
            <a:endParaRPr lang="ko-KR" altLang="en-US" sz="2400" dirty="0"/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621C5425-408D-4DC8-87C8-7B93375CDA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3237" y="2352675"/>
            <a:ext cx="8162925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891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73200" y="375920"/>
            <a:ext cx="57224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0" i="0" dirty="0">
                <a:solidFill>
                  <a:schemeClr val="bg1"/>
                </a:solidFill>
                <a:effectLst/>
                <a:latin typeface="-apple-system"/>
              </a:rPr>
              <a:t>왜 </a:t>
            </a:r>
            <a:r>
              <a:rPr lang="en-US" altLang="ko-KR" sz="3600" b="0" i="0" dirty="0" err="1">
                <a:solidFill>
                  <a:schemeClr val="bg1"/>
                </a:solidFill>
                <a:effectLst/>
                <a:latin typeface="-apple-system"/>
              </a:rPr>
              <a:t>numpy</a:t>
            </a:r>
            <a:r>
              <a:rPr lang="ko-KR" altLang="en-US" sz="3600" b="0" i="0" dirty="0">
                <a:solidFill>
                  <a:schemeClr val="bg1"/>
                </a:solidFill>
                <a:effectLst/>
                <a:latin typeface="-apple-system"/>
              </a:rPr>
              <a:t>를 사용하는가</a:t>
            </a:r>
            <a:r>
              <a:rPr lang="en-US" altLang="ko-KR" sz="3600" b="0" i="0" dirty="0">
                <a:solidFill>
                  <a:schemeClr val="bg1"/>
                </a:solidFill>
                <a:effectLst/>
                <a:latin typeface="-apple-system"/>
              </a:rPr>
              <a:t>? - 6</a:t>
            </a:r>
            <a:endParaRPr lang="ko-KR" altLang="en-US" sz="36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609092" y="1418255"/>
            <a:ext cx="441053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A</a:t>
            </a:r>
            <a:endParaRPr lang="ko-KR" alt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1254125" y="1429645"/>
            <a:ext cx="2726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12529"/>
                </a:solidFill>
                <a:latin typeface="-apple-system"/>
              </a:rPr>
              <a:t>행렬의 필요성</a:t>
            </a:r>
            <a:endParaRPr lang="ko-KR" altLang="en-US" sz="2400" dirty="0"/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37B65B8B-0E38-4932-B878-A9E876A8FD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600" y="2182885"/>
            <a:ext cx="5722400" cy="420839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2AC8711-4AEE-4B1D-B873-BB6FBC1233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448" y="2371725"/>
            <a:ext cx="57224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285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73200" y="375920"/>
            <a:ext cx="57224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0" i="0" dirty="0">
                <a:solidFill>
                  <a:schemeClr val="bg1"/>
                </a:solidFill>
                <a:effectLst/>
                <a:latin typeface="-apple-system"/>
              </a:rPr>
              <a:t>왜 </a:t>
            </a:r>
            <a:r>
              <a:rPr lang="en-US" altLang="ko-KR" sz="3600" b="0" i="0" dirty="0" err="1">
                <a:solidFill>
                  <a:schemeClr val="bg1"/>
                </a:solidFill>
                <a:effectLst/>
                <a:latin typeface="-apple-system"/>
              </a:rPr>
              <a:t>numpy</a:t>
            </a:r>
            <a:r>
              <a:rPr lang="ko-KR" altLang="en-US" sz="3600" b="0" i="0" dirty="0">
                <a:solidFill>
                  <a:schemeClr val="bg1"/>
                </a:solidFill>
                <a:effectLst/>
                <a:latin typeface="-apple-system"/>
              </a:rPr>
              <a:t>를 사용하는가</a:t>
            </a:r>
            <a:r>
              <a:rPr lang="en-US" altLang="ko-KR" sz="3600" b="0" i="0" dirty="0">
                <a:solidFill>
                  <a:schemeClr val="bg1"/>
                </a:solidFill>
                <a:effectLst/>
                <a:latin typeface="-apple-system"/>
              </a:rPr>
              <a:t>? </a:t>
            </a:r>
            <a:r>
              <a:rPr lang="en-US" altLang="ko-KR" sz="3600" b="0" i="0">
                <a:solidFill>
                  <a:schemeClr val="bg1"/>
                </a:solidFill>
                <a:effectLst/>
                <a:latin typeface="-apple-system"/>
              </a:rPr>
              <a:t>- 7</a:t>
            </a:r>
            <a:endParaRPr lang="ko-KR" altLang="en-US" sz="36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609092" y="1418255"/>
            <a:ext cx="441053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A</a:t>
            </a:r>
            <a:endParaRPr lang="ko-KR" alt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1254125" y="1429645"/>
            <a:ext cx="2726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12529"/>
                </a:solidFill>
                <a:latin typeface="-apple-system"/>
              </a:rPr>
              <a:t>행렬의 필요성</a:t>
            </a:r>
            <a:endParaRPr lang="ko-KR" altLang="en-US" sz="2400" dirty="0"/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19469515-8330-4FD9-A038-0749B85C20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524" y="2181224"/>
            <a:ext cx="9448801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109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369987" y="375920"/>
            <a:ext cx="5424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0" i="0" dirty="0" err="1">
                <a:solidFill>
                  <a:schemeClr val="bg1"/>
                </a:solidFill>
                <a:effectLst/>
                <a:latin typeface="-apple-system"/>
              </a:rPr>
              <a:t>Numpy</a:t>
            </a:r>
            <a:r>
              <a:rPr lang="en-US" altLang="ko-KR" sz="3600" b="0" i="0" dirty="0">
                <a:solidFill>
                  <a:schemeClr val="bg1"/>
                </a:solidFill>
                <a:effectLst/>
                <a:latin typeface="-apple-system"/>
              </a:rPr>
              <a:t>(</a:t>
            </a:r>
            <a:r>
              <a:rPr lang="ko-KR" altLang="en-US" sz="3600" b="0" i="0" dirty="0">
                <a:solidFill>
                  <a:schemeClr val="bg1"/>
                </a:solidFill>
                <a:effectLst/>
                <a:latin typeface="-apple-system"/>
              </a:rPr>
              <a:t>배열</a:t>
            </a:r>
            <a:r>
              <a:rPr lang="en-US" altLang="ko-KR" sz="3600" b="0" i="0" dirty="0">
                <a:solidFill>
                  <a:schemeClr val="bg1"/>
                </a:solidFill>
                <a:effectLst/>
                <a:latin typeface="-apple-system"/>
              </a:rPr>
              <a:t>)</a:t>
            </a:r>
            <a:r>
              <a:rPr lang="ko-KR" altLang="en-US" sz="3600" dirty="0">
                <a:solidFill>
                  <a:schemeClr val="bg1"/>
                </a:solidFill>
                <a:latin typeface="-apple-system"/>
              </a:rPr>
              <a:t> </a:t>
            </a:r>
            <a:r>
              <a:rPr lang="en-US" altLang="ko-KR" sz="3600" dirty="0">
                <a:solidFill>
                  <a:schemeClr val="bg1"/>
                </a:solidFill>
                <a:latin typeface="-apple-system"/>
              </a:rPr>
              <a:t>vs</a:t>
            </a:r>
            <a:r>
              <a:rPr lang="ko-KR" altLang="en-US" sz="3600" dirty="0">
                <a:solidFill>
                  <a:schemeClr val="bg1"/>
                </a:solidFill>
                <a:latin typeface="-apple-system"/>
              </a:rPr>
              <a:t> </a:t>
            </a:r>
            <a:r>
              <a:rPr lang="en-US" altLang="ko-KR" sz="3600" dirty="0">
                <a:solidFill>
                  <a:schemeClr val="bg1"/>
                </a:solidFill>
                <a:latin typeface="-apple-system"/>
              </a:rPr>
              <a:t>list(</a:t>
            </a:r>
            <a:r>
              <a:rPr lang="ko-KR" altLang="en-US" sz="3600" dirty="0">
                <a:solidFill>
                  <a:schemeClr val="bg1"/>
                </a:solidFill>
                <a:latin typeface="-apple-system"/>
              </a:rPr>
              <a:t>리스트</a:t>
            </a:r>
            <a:r>
              <a:rPr lang="en-US" altLang="ko-KR" sz="3600" dirty="0">
                <a:solidFill>
                  <a:schemeClr val="bg1"/>
                </a:solidFill>
                <a:latin typeface="-apple-system"/>
              </a:rPr>
              <a:t>)</a:t>
            </a:r>
            <a:r>
              <a:rPr lang="ko-KR" altLang="en-US" sz="3600" dirty="0">
                <a:solidFill>
                  <a:schemeClr val="bg1"/>
                </a:solidFill>
                <a:latin typeface="-apple-system"/>
              </a:rPr>
              <a:t> </a:t>
            </a:r>
            <a:endParaRPr lang="ko-KR" altLang="en-US" sz="36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2">
            <a:extLst>
              <a:ext uri="{FF2B5EF4-FFF2-40B4-BE49-F238E27FC236}">
                <a16:creationId xmlns:a16="http://schemas.microsoft.com/office/drawing/2014/main" id="{14528F02-0185-15B1-DCC4-C4522E39A368}"/>
              </a:ext>
            </a:extLst>
          </p:cNvPr>
          <p:cNvSpPr/>
          <p:nvPr/>
        </p:nvSpPr>
        <p:spPr>
          <a:xfrm>
            <a:off x="5158242" y="2737625"/>
            <a:ext cx="6860932" cy="3464560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모서리가 둥근 직사각형 11">
            <a:extLst>
              <a:ext uri="{FF2B5EF4-FFF2-40B4-BE49-F238E27FC236}">
                <a16:creationId xmlns:a16="http://schemas.microsoft.com/office/drawing/2014/main" id="{EE4569B4-3DAF-5C86-FD61-48B3429EBCAD}"/>
              </a:ext>
            </a:extLst>
          </p:cNvPr>
          <p:cNvSpPr/>
          <p:nvPr/>
        </p:nvSpPr>
        <p:spPr>
          <a:xfrm>
            <a:off x="878053" y="2737625"/>
            <a:ext cx="3448849" cy="3464560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모서리가 둥근 직사각형 6">
            <a:extLst>
              <a:ext uri="{FF2B5EF4-FFF2-40B4-BE49-F238E27FC236}">
                <a16:creationId xmlns:a16="http://schemas.microsoft.com/office/drawing/2014/main" id="{80381ED7-C4C7-45A1-0499-4705266661B0}"/>
              </a:ext>
            </a:extLst>
          </p:cNvPr>
          <p:cNvSpPr/>
          <p:nvPr/>
        </p:nvSpPr>
        <p:spPr>
          <a:xfrm>
            <a:off x="695173" y="2605545"/>
            <a:ext cx="3448849" cy="3464560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71476" marR="0" lvl="3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F79646">
                  <a:lumMod val="75000"/>
                </a:srgbClr>
              </a:buClr>
              <a:buSzPct val="96000"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471476" marR="0" lvl="3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F79646">
                  <a:lumMod val="75000"/>
                </a:srgbClr>
              </a:buClr>
              <a:buSzPct val="96000"/>
              <a:tabLst/>
              <a:defRPr/>
            </a:pPr>
            <a:endParaRPr lang="en-US" altLang="ko-KR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Font typeface="+mj-lt"/>
              <a:buAutoNum type="arabicPeriod"/>
            </a:pPr>
            <a:r>
              <a:rPr lang="ko-KR" altLang="en-US" sz="2000" b="0" i="0" dirty="0">
                <a:solidFill>
                  <a:srgbClr val="333333"/>
                </a:solidFill>
                <a:effectLst/>
                <a:latin typeface="Noto Serif KR"/>
              </a:rPr>
              <a:t>모든 원소가 같은 </a:t>
            </a:r>
            <a:r>
              <a:rPr lang="ko-KR" altLang="en-US" sz="2000" b="0" i="0" dirty="0" err="1">
                <a:solidFill>
                  <a:srgbClr val="333333"/>
                </a:solidFill>
                <a:effectLst/>
                <a:latin typeface="Noto Serif KR"/>
              </a:rPr>
              <a:t>자료형이어야</a:t>
            </a:r>
            <a:r>
              <a:rPr lang="ko-KR" altLang="en-US" sz="2000" b="0" i="0" dirty="0">
                <a:solidFill>
                  <a:srgbClr val="333333"/>
                </a:solidFill>
                <a:effectLst/>
                <a:latin typeface="Noto Serif KR"/>
              </a:rPr>
              <a:t> 한다</a:t>
            </a:r>
            <a:r>
              <a:rPr lang="en-US" altLang="ko-KR" sz="2000" b="0" i="0" dirty="0">
                <a:solidFill>
                  <a:srgbClr val="333333"/>
                </a:solidFill>
                <a:effectLst/>
                <a:latin typeface="Noto Serif KR"/>
              </a:rPr>
              <a:t>.</a:t>
            </a:r>
          </a:p>
          <a:p>
            <a:pPr algn="l">
              <a:buFont typeface="+mj-lt"/>
              <a:buAutoNum type="arabicPeriod"/>
            </a:pPr>
            <a:endParaRPr lang="en-US" altLang="ko-KR" sz="2000" b="0" i="0" dirty="0">
              <a:solidFill>
                <a:srgbClr val="333333"/>
              </a:solidFill>
              <a:effectLst/>
              <a:latin typeface="Noto Serif KR"/>
            </a:endParaRPr>
          </a:p>
          <a:p>
            <a:pPr algn="l">
              <a:buFont typeface="+mj-lt"/>
              <a:buAutoNum type="arabicPeriod"/>
            </a:pPr>
            <a:r>
              <a:rPr lang="ko-KR" altLang="en-US" sz="2000" b="0" i="0" dirty="0">
                <a:solidFill>
                  <a:srgbClr val="333333"/>
                </a:solidFill>
                <a:effectLst/>
                <a:latin typeface="Noto Serif KR"/>
              </a:rPr>
              <a:t>원소의 </a:t>
            </a:r>
            <a:r>
              <a:rPr lang="ko-KR" altLang="en-US" sz="2000" b="0" i="0" dirty="0" err="1">
                <a:solidFill>
                  <a:srgbClr val="333333"/>
                </a:solidFill>
                <a:effectLst/>
                <a:latin typeface="Noto Serif KR"/>
              </a:rPr>
              <a:t>갯수를</a:t>
            </a:r>
            <a:r>
              <a:rPr lang="ko-KR" altLang="en-US" sz="2000" b="0" i="0" dirty="0">
                <a:solidFill>
                  <a:srgbClr val="333333"/>
                </a:solidFill>
                <a:effectLst/>
                <a:latin typeface="Noto Serif KR"/>
              </a:rPr>
              <a:t> 바꿀 수 없다</a:t>
            </a:r>
            <a:r>
              <a:rPr lang="en-US" altLang="ko-KR" sz="2000" b="0" i="0" dirty="0">
                <a:solidFill>
                  <a:srgbClr val="333333"/>
                </a:solidFill>
                <a:effectLst/>
                <a:latin typeface="Noto Serif KR"/>
              </a:rPr>
              <a:t>.</a:t>
            </a:r>
          </a:p>
          <a:p>
            <a:pPr marL="471476" marR="0" lvl="3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F79646">
                  <a:lumMod val="75000"/>
                </a:srgbClr>
              </a:buClr>
              <a:buSzPct val="96000"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35748" marR="0" lvl="2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E84560"/>
              </a:buClr>
              <a:buSzTx/>
              <a:tabLst/>
              <a:defRPr/>
            </a:pPr>
            <a:endParaRPr lang="ko-KR" altLang="en-US" dirty="0"/>
          </a:p>
        </p:txBody>
      </p:sp>
      <p:sp>
        <p:nvSpPr>
          <p:cNvPr id="6" name="모서리가 둥근 직사각형 7">
            <a:extLst>
              <a:ext uri="{FF2B5EF4-FFF2-40B4-BE49-F238E27FC236}">
                <a16:creationId xmlns:a16="http://schemas.microsoft.com/office/drawing/2014/main" id="{ADFB12B4-86B7-C600-C4F2-EB07CC4900E0}"/>
              </a:ext>
            </a:extLst>
          </p:cNvPr>
          <p:cNvSpPr/>
          <p:nvPr/>
        </p:nvSpPr>
        <p:spPr>
          <a:xfrm>
            <a:off x="4975362" y="2605545"/>
            <a:ext cx="6860932" cy="3464560"/>
          </a:xfrm>
          <a:prstGeom prst="roundRect">
            <a:avLst>
              <a:gd name="adj" fmla="val 11794"/>
            </a:avLst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71476" marR="0" lvl="3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F79646">
                  <a:lumMod val="75000"/>
                </a:srgbClr>
              </a:buClr>
              <a:buSzPct val="96000"/>
              <a:tabLst/>
              <a:defRPr/>
            </a:pPr>
            <a:endParaRPr lang="en-US" altLang="ko-KR" b="0" i="0" dirty="0">
              <a:solidFill>
                <a:srgbClr val="333333"/>
              </a:solidFill>
              <a:effectLst/>
              <a:latin typeface="Noto Serif KR"/>
            </a:endParaRPr>
          </a:p>
          <a:p>
            <a:pPr marL="471476" marR="0" lvl="3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F79646">
                  <a:lumMod val="75000"/>
                </a:srgbClr>
              </a:buClr>
              <a:buSzPct val="96000"/>
              <a:tabLst/>
              <a:defRPr/>
            </a:pPr>
            <a:endParaRPr lang="en-US" altLang="ko-KR" dirty="0">
              <a:solidFill>
                <a:srgbClr val="333333"/>
              </a:solidFill>
              <a:latin typeface="Noto Serif KR"/>
            </a:endParaRPr>
          </a:p>
          <a:p>
            <a:pPr marL="471476" marR="0" lvl="3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F79646">
                  <a:lumMod val="75000"/>
                </a:srgbClr>
              </a:buClr>
              <a:buSzPct val="96000"/>
              <a:tabLst/>
              <a:defRPr/>
            </a:pPr>
            <a:r>
              <a:rPr lang="ko-KR" altLang="en-US" b="0" i="0" dirty="0" err="1">
                <a:solidFill>
                  <a:srgbClr val="333333"/>
                </a:solidFill>
                <a:effectLst/>
                <a:latin typeface="Noto Serif KR"/>
              </a:rPr>
              <a:t>파이썬은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erif KR"/>
              </a:rPr>
              <a:t> 자체적으로 배열 자료형을 제공하지 않는다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erif KR"/>
              </a:rPr>
              <a:t>.</a:t>
            </a:r>
          </a:p>
          <a:p>
            <a:pPr marL="471476" marR="0" lvl="3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F79646">
                  <a:lumMod val="75000"/>
                </a:srgbClr>
              </a:buClr>
              <a:buSzPct val="96000"/>
              <a:tabLst/>
              <a:defRPr/>
            </a:pPr>
            <a:r>
              <a:rPr lang="ko-KR" altLang="en-US" b="0" i="0" dirty="0">
                <a:solidFill>
                  <a:srgbClr val="333333"/>
                </a:solidFill>
                <a:effectLst/>
                <a:latin typeface="Noto Serif KR"/>
              </a:rPr>
              <a:t>따라서 배열을 구현한 다른 패키지를 임포트해야 한다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erif KR"/>
              </a:rPr>
              <a:t>. </a:t>
            </a:r>
          </a:p>
          <a:p>
            <a:pPr marL="471476" marR="0" lvl="3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F79646">
                  <a:lumMod val="75000"/>
                </a:srgbClr>
              </a:buClr>
              <a:buSzPct val="96000"/>
              <a:tabLst/>
              <a:defRPr/>
            </a:pPr>
            <a:r>
              <a:rPr lang="ko-KR" altLang="en-US" b="0" i="0" dirty="0" err="1">
                <a:solidFill>
                  <a:srgbClr val="333333"/>
                </a:solidFill>
                <a:effectLst/>
                <a:latin typeface="Noto Serif KR"/>
              </a:rPr>
              <a:t>파이썬에서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erif KR"/>
              </a:rPr>
              <a:t> 배열을 사용하기 위한 표준 패키지는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latin typeface="Noto Serif KR"/>
              </a:rPr>
              <a:t>넘파이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erif KR"/>
              </a:rPr>
              <a:t>(NumPy)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erif KR"/>
              </a:rPr>
              <a:t>다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erif KR"/>
              </a:rPr>
              <a:t>.</a:t>
            </a:r>
          </a:p>
          <a:p>
            <a:pPr marL="471476" marR="0" lvl="3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F79646">
                  <a:lumMod val="75000"/>
                </a:srgbClr>
              </a:buClr>
              <a:buSzPct val="96000"/>
              <a:tabLst/>
              <a:defRPr/>
            </a:pPr>
            <a:endParaRPr lang="en-US" altLang="ko-KR" b="0" i="0" dirty="0">
              <a:solidFill>
                <a:srgbClr val="333333"/>
              </a:solidFill>
              <a:effectLst/>
              <a:latin typeface="Noto Serif KR"/>
            </a:endParaRPr>
          </a:p>
          <a:p>
            <a:pPr marL="471476" marR="0" lvl="3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F79646">
                  <a:lumMod val="75000"/>
                </a:srgbClr>
              </a:buClr>
              <a:buSzPct val="96000"/>
              <a:tabLst/>
              <a:defRPr/>
            </a:pPr>
            <a:endParaRPr lang="en-US" altLang="ko-KR" b="0" i="0" dirty="0">
              <a:solidFill>
                <a:srgbClr val="333333"/>
              </a:solidFill>
              <a:effectLst/>
              <a:latin typeface="Noto Serif KR"/>
            </a:endParaRPr>
          </a:p>
          <a:p>
            <a:pPr marL="471476" marR="0" lvl="3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F79646">
                  <a:lumMod val="75000"/>
                </a:srgbClr>
              </a:buClr>
              <a:buSzPct val="96000"/>
              <a:tabLst/>
              <a:defRPr/>
            </a:pPr>
            <a:endParaRPr kumimoji="0" lang="en-US" altLang="ko-K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561C3C4-FF4C-3F24-F93F-41E2EAF609F8}"/>
              </a:ext>
            </a:extLst>
          </p:cNvPr>
          <p:cNvSpPr/>
          <p:nvPr/>
        </p:nvSpPr>
        <p:spPr>
          <a:xfrm>
            <a:off x="1119380" y="1796736"/>
            <a:ext cx="503641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A</a:t>
            </a:r>
            <a:endParaRPr lang="ko-KR" altLang="en-US" b="1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8A32A004-F30F-2845-2E1D-3D0BED6073A8}"/>
              </a:ext>
            </a:extLst>
          </p:cNvPr>
          <p:cNvSpPr/>
          <p:nvPr/>
        </p:nvSpPr>
        <p:spPr>
          <a:xfrm>
            <a:off x="6714885" y="1692258"/>
            <a:ext cx="441053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CA4AF5-C445-4126-F95A-52D604B560AF}"/>
              </a:ext>
            </a:extLst>
          </p:cNvPr>
          <p:cNvSpPr txBox="1"/>
          <p:nvPr/>
        </p:nvSpPr>
        <p:spPr>
          <a:xfrm>
            <a:off x="1605576" y="1795119"/>
            <a:ext cx="2035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다른 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030AB5-6267-2A10-99FC-21B4C4A7CB64}"/>
              </a:ext>
            </a:extLst>
          </p:cNvPr>
          <p:cNvSpPr txBox="1"/>
          <p:nvPr/>
        </p:nvSpPr>
        <p:spPr>
          <a:xfrm>
            <a:off x="7359918" y="1703648"/>
            <a:ext cx="2726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solidFill>
                  <a:srgbClr val="212529"/>
                </a:solidFill>
                <a:latin typeface="-apple-system"/>
              </a:rPr>
              <a:t>넘파이</a:t>
            </a:r>
            <a:r>
              <a:rPr lang="ko-KR" altLang="en-US" sz="2400" dirty="0">
                <a:solidFill>
                  <a:srgbClr val="212529"/>
                </a:solidFill>
                <a:latin typeface="-apple-system"/>
              </a:rPr>
              <a:t> 배열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12966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E10E3-FF0E-12B9-FEFB-1A4332466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id="{FBA852AA-048B-E3E8-513C-A5BCA6F0A1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E5B3CEA-248F-A508-5A14-C5E153963A5A}"/>
              </a:ext>
            </a:extLst>
          </p:cNvPr>
          <p:cNvSpPr txBox="1"/>
          <p:nvPr/>
        </p:nvSpPr>
        <p:spPr>
          <a:xfrm>
            <a:off x="1369987" y="375920"/>
            <a:ext cx="5424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0" i="0" dirty="0" err="1">
                <a:solidFill>
                  <a:schemeClr val="bg1"/>
                </a:solidFill>
                <a:effectLst/>
                <a:latin typeface="-apple-system"/>
              </a:rPr>
              <a:t>Numpy</a:t>
            </a:r>
            <a:r>
              <a:rPr lang="en-US" altLang="ko-KR" sz="3600" b="0" i="0" dirty="0">
                <a:solidFill>
                  <a:schemeClr val="bg1"/>
                </a:solidFill>
                <a:effectLst/>
                <a:latin typeface="-apple-system"/>
              </a:rPr>
              <a:t>(</a:t>
            </a:r>
            <a:r>
              <a:rPr lang="ko-KR" altLang="en-US" sz="3600" b="0" i="0" dirty="0">
                <a:solidFill>
                  <a:schemeClr val="bg1"/>
                </a:solidFill>
                <a:effectLst/>
                <a:latin typeface="-apple-system"/>
              </a:rPr>
              <a:t>배열</a:t>
            </a:r>
            <a:r>
              <a:rPr lang="en-US" altLang="ko-KR" sz="3600" b="0" i="0" dirty="0">
                <a:solidFill>
                  <a:schemeClr val="bg1"/>
                </a:solidFill>
                <a:effectLst/>
                <a:latin typeface="-apple-system"/>
              </a:rPr>
              <a:t>) </a:t>
            </a:r>
            <a:r>
              <a:rPr lang="ko-KR" altLang="en-US" sz="3600" b="0" i="0" dirty="0">
                <a:solidFill>
                  <a:schemeClr val="bg1"/>
                </a:solidFill>
                <a:effectLst/>
                <a:latin typeface="-apple-system"/>
              </a:rPr>
              <a:t>생성</a:t>
            </a:r>
            <a:endParaRPr lang="ko-KR" altLang="en-US" sz="36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6876FC4-F4D7-9E93-4BDA-EE6A4A715C37}"/>
              </a:ext>
            </a:extLst>
          </p:cNvPr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759DAE51-0F68-817F-01E6-167A24A2F5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32D2CD44-65E9-5C49-1F94-CD4FBA3207BF}"/>
                </a:ext>
              </a:extLst>
            </p:cNvPr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2">
            <a:extLst>
              <a:ext uri="{FF2B5EF4-FFF2-40B4-BE49-F238E27FC236}">
                <a16:creationId xmlns:a16="http://schemas.microsoft.com/office/drawing/2014/main" id="{2A956F65-64E6-C9F9-ED33-799717649B04}"/>
              </a:ext>
            </a:extLst>
          </p:cNvPr>
          <p:cNvSpPr/>
          <p:nvPr/>
        </p:nvSpPr>
        <p:spPr>
          <a:xfrm>
            <a:off x="628650" y="2268599"/>
            <a:ext cx="11390524" cy="3933586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모서리가 둥근 직사각형 7">
            <a:extLst>
              <a:ext uri="{FF2B5EF4-FFF2-40B4-BE49-F238E27FC236}">
                <a16:creationId xmlns:a16="http://schemas.microsoft.com/office/drawing/2014/main" id="{E5D1193D-1F21-805A-D4F7-8A61F6ABD6C5}"/>
              </a:ext>
            </a:extLst>
          </p:cNvPr>
          <p:cNvSpPr/>
          <p:nvPr/>
        </p:nvSpPr>
        <p:spPr>
          <a:xfrm>
            <a:off x="628650" y="2081810"/>
            <a:ext cx="11207644" cy="3988295"/>
          </a:xfrm>
          <a:prstGeom prst="roundRect">
            <a:avLst>
              <a:gd name="adj" fmla="val 11794"/>
            </a:avLst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71476" marR="0" lvl="3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F79646">
                  <a:lumMod val="75000"/>
                </a:srgbClr>
              </a:buClr>
              <a:buSzPct val="96000"/>
              <a:tabLst/>
              <a:defRPr/>
            </a:pPr>
            <a:endParaRPr lang="en-US" altLang="ko-KR" b="0" i="0" dirty="0">
              <a:solidFill>
                <a:srgbClr val="333333"/>
              </a:solidFill>
              <a:effectLst/>
              <a:latin typeface="Noto Serif KR"/>
            </a:endParaRPr>
          </a:p>
          <a:p>
            <a:pPr marL="471476" marR="0" lvl="3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F79646">
                  <a:lumMod val="75000"/>
                </a:srgbClr>
              </a:buClr>
              <a:buSzPct val="96000"/>
              <a:tabLst/>
              <a:defRPr/>
            </a:pPr>
            <a:endParaRPr lang="en-US" altLang="ko-KR" dirty="0">
              <a:solidFill>
                <a:srgbClr val="333333"/>
              </a:solidFill>
              <a:latin typeface="Noto Serif KR"/>
            </a:endParaRPr>
          </a:p>
          <a:p>
            <a:pPr marL="471476" marR="0" lvl="3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F79646">
                  <a:lumMod val="75000"/>
                </a:srgbClr>
              </a:buClr>
              <a:buSzPct val="96000"/>
              <a:tabLst/>
              <a:defRPr/>
            </a:pPr>
            <a:endParaRPr lang="en-US" altLang="ko-KR" b="0" i="0" dirty="0">
              <a:solidFill>
                <a:srgbClr val="333333"/>
              </a:solidFill>
              <a:effectLst/>
              <a:latin typeface="Noto Serif KR"/>
            </a:endParaRPr>
          </a:p>
          <a:p>
            <a:pPr marL="471476" marR="0" lvl="3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F79646">
                  <a:lumMod val="75000"/>
                </a:srgbClr>
              </a:buClr>
              <a:buSzPct val="96000"/>
              <a:tabLst/>
              <a:defRPr/>
            </a:pPr>
            <a:endParaRPr lang="en-US" altLang="ko-KR" b="0" i="0" dirty="0">
              <a:solidFill>
                <a:srgbClr val="333333"/>
              </a:solidFill>
              <a:effectLst/>
              <a:latin typeface="Noto Serif KR"/>
            </a:endParaRPr>
          </a:p>
          <a:p>
            <a:pPr marL="471476" marR="0" lvl="3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F79646">
                  <a:lumMod val="75000"/>
                </a:srgbClr>
              </a:buClr>
              <a:buSzPct val="96000"/>
              <a:tabLst/>
              <a:defRPr/>
            </a:pPr>
            <a:endParaRPr kumimoji="0" lang="en-US" altLang="ko-K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7181DE1-2744-5194-AE4D-AE8729704513}"/>
              </a:ext>
            </a:extLst>
          </p:cNvPr>
          <p:cNvSpPr/>
          <p:nvPr/>
        </p:nvSpPr>
        <p:spPr>
          <a:xfrm>
            <a:off x="4428885" y="1362502"/>
            <a:ext cx="441053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B02D64-FBFD-D2C0-A4F1-EDD292B6CEED}"/>
              </a:ext>
            </a:extLst>
          </p:cNvPr>
          <p:cNvSpPr txBox="1"/>
          <p:nvPr/>
        </p:nvSpPr>
        <p:spPr>
          <a:xfrm>
            <a:off x="5073918" y="1373892"/>
            <a:ext cx="2726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solidFill>
                  <a:srgbClr val="212529"/>
                </a:solidFill>
                <a:latin typeface="-apple-system"/>
              </a:rPr>
              <a:t>넘파이</a:t>
            </a:r>
            <a:r>
              <a:rPr lang="ko-KR" altLang="en-US" sz="2400" dirty="0">
                <a:solidFill>
                  <a:srgbClr val="212529"/>
                </a:solidFill>
                <a:latin typeface="-apple-system"/>
              </a:rPr>
              <a:t> 생성 방법</a:t>
            </a:r>
            <a:endParaRPr lang="ko-KR" altLang="en-US" sz="24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8BACE6E-042F-AD68-4CB1-18DD7E2A40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352" y="2204939"/>
            <a:ext cx="10355120" cy="374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615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DD394-9F5A-DD46-70F3-3FA4D211A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id="{DEC36103-3610-D3D9-17B6-CACFD8AF67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59F39F-FD46-1337-F2D1-FF7969A30FB9}"/>
              </a:ext>
            </a:extLst>
          </p:cNvPr>
          <p:cNvSpPr txBox="1"/>
          <p:nvPr/>
        </p:nvSpPr>
        <p:spPr>
          <a:xfrm>
            <a:off x="1369987" y="375920"/>
            <a:ext cx="5424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-apple-system"/>
                <a:ea typeface="나눔바른고딕" panose="020B0603020101020101" pitchFamily="50" charset="-127"/>
              </a:rPr>
              <a:t>브로드 캐스팅</a:t>
            </a:r>
            <a:endParaRPr lang="ko-KR" altLang="en-US" sz="36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6B33E3DA-0CD7-0929-6A43-F9C665C62F0B}"/>
              </a:ext>
            </a:extLst>
          </p:cNvPr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0DBD9B68-7F55-B47D-EC21-B8C1B0508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2DA1C56D-A6BE-B8DF-4105-773DDBD4A944}"/>
                </a:ext>
              </a:extLst>
            </p:cNvPr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2">
            <a:extLst>
              <a:ext uri="{FF2B5EF4-FFF2-40B4-BE49-F238E27FC236}">
                <a16:creationId xmlns:a16="http://schemas.microsoft.com/office/drawing/2014/main" id="{409F4995-D08C-C096-1247-0BCB52838B31}"/>
              </a:ext>
            </a:extLst>
          </p:cNvPr>
          <p:cNvSpPr/>
          <p:nvPr/>
        </p:nvSpPr>
        <p:spPr>
          <a:xfrm>
            <a:off x="628650" y="1626291"/>
            <a:ext cx="11385299" cy="4575894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모서리가 둥근 직사각형 7">
            <a:extLst>
              <a:ext uri="{FF2B5EF4-FFF2-40B4-BE49-F238E27FC236}">
                <a16:creationId xmlns:a16="http://schemas.microsoft.com/office/drawing/2014/main" id="{C85D8DF6-BB0A-A35F-4571-73147DF64744}"/>
              </a:ext>
            </a:extLst>
          </p:cNvPr>
          <p:cNvSpPr/>
          <p:nvPr/>
        </p:nvSpPr>
        <p:spPr>
          <a:xfrm>
            <a:off x="628650" y="1439502"/>
            <a:ext cx="11207644" cy="4630604"/>
          </a:xfrm>
          <a:prstGeom prst="roundRect">
            <a:avLst>
              <a:gd name="adj" fmla="val 11794"/>
            </a:avLst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71476" marR="0" lvl="3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F79646">
                  <a:lumMod val="75000"/>
                </a:srgbClr>
              </a:buClr>
              <a:buSzPct val="96000"/>
              <a:tabLst/>
              <a:defRPr/>
            </a:pPr>
            <a:r>
              <a:rPr lang="en-US" altLang="ko-KR" b="1" i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3. </a:t>
            </a:r>
            <a:r>
              <a:rPr lang="ko-KR" altLang="en-US" b="1" i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차원의 짝이 맞을때 브로드캐스팅이 가능</a:t>
            </a:r>
            <a:endParaRPr kumimoji="0" lang="en-US" altLang="ko-K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026" name="Picture 2" descr="Image result for numpy broadcasting">
            <a:extLst>
              <a:ext uri="{FF2B5EF4-FFF2-40B4-BE49-F238E27FC236}">
                <a16:creationId xmlns:a16="http://schemas.microsoft.com/office/drawing/2014/main" id="{82709624-85B1-DAA1-5AD7-AD1559DA8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1540358"/>
            <a:ext cx="4762500" cy="4249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AF1692-2048-1C38-3E48-1B842DB58A12}"/>
              </a:ext>
            </a:extLst>
          </p:cNvPr>
          <p:cNvSpPr txBox="1"/>
          <p:nvPr/>
        </p:nvSpPr>
        <p:spPr>
          <a:xfrm>
            <a:off x="6040172" y="2038137"/>
            <a:ext cx="56659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1. </a:t>
            </a:r>
            <a:r>
              <a:rPr lang="ko-KR" altLang="en-US" b="1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원소가 하나인 배열은 어떤 배열이나 </a:t>
            </a:r>
            <a:r>
              <a:rPr lang="ko-KR" altLang="en-US" b="1" i="0" dirty="0" err="1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브로드캐스팅이</a:t>
            </a:r>
            <a:r>
              <a:rPr lang="ko-KR" altLang="en-US" b="1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 가능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FD0939-5305-7A48-C03C-786F8611E1A5}"/>
              </a:ext>
            </a:extLst>
          </p:cNvPr>
          <p:cNvSpPr txBox="1"/>
          <p:nvPr/>
        </p:nvSpPr>
        <p:spPr>
          <a:xfrm>
            <a:off x="6068086" y="2900105"/>
            <a:ext cx="56659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2. </a:t>
            </a:r>
            <a:r>
              <a:rPr lang="ko-KR" altLang="en-US" b="1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하나의 배열이 </a:t>
            </a:r>
            <a:r>
              <a:rPr lang="en-US" altLang="ko-KR" b="1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1</a:t>
            </a:r>
            <a:r>
              <a:rPr lang="ko-KR" altLang="en-US" b="1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차원 배열인 경우</a:t>
            </a:r>
            <a:r>
              <a:rPr lang="en-US" altLang="ko-KR" b="1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, </a:t>
            </a:r>
            <a:r>
              <a:rPr lang="ko-KR" altLang="en-US" b="1" i="0" dirty="0" err="1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브로드캐스팅이</a:t>
            </a:r>
            <a:r>
              <a:rPr lang="ko-KR" altLang="en-US" b="1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 가능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D48312-94EB-9828-E9FA-1C6287333092}"/>
              </a:ext>
            </a:extLst>
          </p:cNvPr>
          <p:cNvSpPr txBox="1"/>
          <p:nvPr/>
        </p:nvSpPr>
        <p:spPr>
          <a:xfrm>
            <a:off x="6151933" y="3780743"/>
            <a:ext cx="6151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3. </a:t>
            </a:r>
            <a:r>
              <a:rPr lang="ko-KR" altLang="en-US" b="1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차원의 짝이 </a:t>
            </a:r>
            <a:r>
              <a:rPr lang="ko-KR" altLang="en-US" b="1" i="0" dirty="0" err="1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맞을때</a:t>
            </a:r>
            <a:r>
              <a:rPr lang="ko-KR" altLang="en-US" b="1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 </a:t>
            </a:r>
            <a:r>
              <a:rPr lang="ko-KR" altLang="en-US" b="1" i="0" dirty="0" err="1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브로드캐스팅이</a:t>
            </a:r>
            <a:r>
              <a:rPr lang="ko-KR" altLang="en-US" b="1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 가능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AEDBAD1-AFC5-8457-83C3-5AB38E2C96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7721" y="4622024"/>
            <a:ext cx="2429214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293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탬플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CA9AE"/>
      </a:accent1>
      <a:accent2>
        <a:srgbClr val="93C9D4"/>
      </a:accent2>
      <a:accent3>
        <a:srgbClr val="EBE2D9"/>
      </a:accent3>
      <a:accent4>
        <a:srgbClr val="FFC000"/>
      </a:accent4>
      <a:accent5>
        <a:srgbClr val="FECCB3"/>
      </a:accent5>
      <a:accent6>
        <a:srgbClr val="FF9763"/>
      </a:accent6>
      <a:hlink>
        <a:srgbClr val="0563C1"/>
      </a:hlink>
      <a:folHlink>
        <a:srgbClr val="954F72"/>
      </a:folHlink>
    </a:clrScheme>
    <a:fontScheme name="사용자 지정 3">
      <a:majorFont>
        <a:latin typeface="나눔고딕 ExtraBold"/>
        <a:ea typeface="맑은 고딕"/>
        <a:cs typeface=""/>
      </a:majorFont>
      <a:minorFont>
        <a:latin typeface="나눔바른고딕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3200" b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1483</TotalTime>
  <Words>779</Words>
  <Application>Microsoft Office PowerPoint</Application>
  <PresentationFormat>와이드스크린</PresentationFormat>
  <Paragraphs>109</Paragraphs>
  <Slides>14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-apple-system</vt:lpstr>
      <vt:lpstr>HY견고딕</vt:lpstr>
      <vt:lpstr>Noto Serif KR</vt:lpstr>
      <vt:lpstr>나눔바른고딕</vt:lpstr>
      <vt:lpstr>맑은 고딕</vt:lpstr>
      <vt:lpstr>Arial</vt:lpstr>
      <vt:lpstr>Office 테마</vt:lpstr>
      <vt:lpstr>너를 위한 넘파이  (파이썬)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최웅비</dc:creator>
  <cp:lastModifiedBy>jungsik heo</cp:lastModifiedBy>
  <cp:revision>193</cp:revision>
  <dcterms:created xsi:type="dcterms:W3CDTF">2017-06-16T14:09:50Z</dcterms:created>
  <dcterms:modified xsi:type="dcterms:W3CDTF">2025-07-09T11:45:30Z</dcterms:modified>
</cp:coreProperties>
</file>