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61" r:id="rId3"/>
    <p:sldId id="334" r:id="rId4"/>
    <p:sldId id="355" r:id="rId5"/>
    <p:sldId id="356" r:id="rId6"/>
    <p:sldId id="263" r:id="rId7"/>
    <p:sldId id="264" r:id="rId8"/>
    <p:sldId id="344" r:id="rId9"/>
    <p:sldId id="345" r:id="rId10"/>
    <p:sldId id="347" r:id="rId11"/>
    <p:sldId id="349" r:id="rId12"/>
    <p:sldId id="348" r:id="rId13"/>
    <p:sldId id="350" r:id="rId14"/>
    <p:sldId id="351" r:id="rId15"/>
    <p:sldId id="352" r:id="rId16"/>
    <p:sldId id="354" r:id="rId17"/>
    <p:sldId id="358" r:id="rId18"/>
    <p:sldId id="360" r:id="rId19"/>
    <p:sldId id="357" r:id="rId20"/>
    <p:sldId id="363" r:id="rId21"/>
    <p:sldId id="364" r:id="rId22"/>
    <p:sldId id="359" r:id="rId23"/>
    <p:sldId id="361" r:id="rId24"/>
    <p:sldId id="365" r:id="rId25"/>
    <p:sldId id="36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9D4"/>
    <a:srgbClr val="FECCB3"/>
    <a:srgbClr val="EBE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820" autoAdjust="0"/>
  </p:normalViewPr>
  <p:slideViewPr>
    <p:cSldViewPr snapToGrid="0">
      <p:cViewPr varScale="1">
        <p:scale>
          <a:sx n="100" d="100"/>
          <a:sy n="100" d="100"/>
        </p:scale>
        <p:origin x="9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9C5A5-FB7C-4404-8A54-1ABAD078A835}" type="datetimeFigureOut">
              <a:rPr lang="ko-KR" altLang="en-US" smtClean="0"/>
              <a:t>2024-10-09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DFDED-2E9F-41DA-A9FA-780DFF419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43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https://brunch.co.kr/@morningb/3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445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https://brunch.co.kr/@morningb/3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323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https://wikidocs.net/64066 </a:t>
            </a:r>
            <a:r>
              <a:rPr lang="ko-KR" altLang="en-US" dirty="0"/>
              <a:t>가장 좋은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901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310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https://m.blog.naver.com/jerrypoiu/221383578999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223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https://m.blog.naver.com/jerrypoiu/221383578999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061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https://blog.naver.com/jerrypoiu/221169439594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542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https://gomguard.tistory.com/188?category=712467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513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https://gomguard.tistory.com/188?category=712467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492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https://gomguard.tistory.com/188?category=712467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510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https://gomguard.tistory.com/188?category=712467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127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https://gomguard.tistory.com/188?category=712467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332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06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https://wikidocs.net/64066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061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https://david-kim2028.tistory.com/entry/%ED%95%A9%EC%84%B1%EA%B3%B1-%EC%8B%A0%EA%B2%BD%EB%A7%9D-CNN-%EC%9D%B4%EB%9E%80-%EB%AC%B4%EC%97%87%EC%9D%BC%EA%B9%8C-1%ED%8E%B8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306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577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1044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1714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7981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https://woochan-autobiography.tistory.com/884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2310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https://woochan-autobiography.tistory.com/884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343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https://monawa.tistory.com/46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944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0"/>
          </p:nvPr>
        </p:nvSpPr>
        <p:spPr>
          <a:xfrm>
            <a:off x="838200" y="2041525"/>
            <a:ext cx="105156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0830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500325" y="302895"/>
            <a:ext cx="10515600" cy="7194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1797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5" name="직선 연결선 4"/>
          <p:cNvCxnSpPr/>
          <p:nvPr userDrawn="1"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8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9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jpe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1.png"/><Relationship Id="rId7" Type="http://schemas.openxmlformats.org/officeDocument/2006/relationships/image" Target="../media/image1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gif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그림 6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7" name="직선 연결선 66"/>
          <p:cNvCxnSpPr/>
          <p:nvPr/>
        </p:nvCxnSpPr>
        <p:spPr>
          <a:xfrm>
            <a:off x="1282007" y="3297382"/>
            <a:ext cx="530352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제목 1"/>
          <p:cNvSpPr>
            <a:spLocks noGrp="1"/>
          </p:cNvSpPr>
          <p:nvPr>
            <p:ph type="title"/>
          </p:nvPr>
        </p:nvSpPr>
        <p:spPr>
          <a:xfrm>
            <a:off x="296292" y="1732917"/>
            <a:ext cx="6794696" cy="1280159"/>
          </a:xfrm>
        </p:spPr>
        <p:txBody>
          <a:bodyPr/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너를 위한 </a:t>
            </a:r>
            <a: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CNN</a:t>
            </a:r>
            <a:b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4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합성곱</a:t>
            </a:r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신경망</a:t>
            </a:r>
            <a: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4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1" name="텍스트 개체 틀 70"/>
          <p:cNvSpPr>
            <a:spLocks noGrp="1"/>
          </p:cNvSpPr>
          <p:nvPr>
            <p:ph type="body" sz="quarter" idx="10"/>
          </p:nvPr>
        </p:nvSpPr>
        <p:spPr>
          <a:xfrm>
            <a:off x="1155007" y="3581689"/>
            <a:ext cx="5430520" cy="462914"/>
          </a:xfrm>
        </p:spPr>
        <p:txBody>
          <a:bodyPr/>
          <a:lstStyle/>
          <a:p>
            <a:pPr algn="ctr"/>
            <a:r>
              <a:rPr lang="ko-KR" altLang="en-US" sz="1800" dirty="0">
                <a:latin typeface="+mn-ea"/>
              </a:rPr>
              <a:t>강사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 err="1">
                <a:latin typeface="+mn-ea"/>
              </a:rPr>
              <a:t>쿵스보이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얼짱 뮤지션</a:t>
            </a:r>
            <a:r>
              <a:rPr lang="en-US" altLang="ko-KR" sz="1800" dirty="0">
                <a:latin typeface="+mn-ea"/>
              </a:rPr>
              <a:t>)(</a:t>
            </a:r>
            <a:r>
              <a:rPr lang="ko-KR" altLang="en-US" sz="1800" dirty="0">
                <a:latin typeface="+mn-ea"/>
              </a:rPr>
              <a:t>가산일타</a:t>
            </a:r>
            <a:r>
              <a:rPr lang="en-US" altLang="ko-KR" sz="1800" dirty="0">
                <a:latin typeface="+mn-ea"/>
              </a:rPr>
              <a:t>)</a:t>
            </a:r>
            <a:endParaRPr lang="ko-KR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420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278384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65172" y="317083"/>
            <a:ext cx="1453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 </a:t>
            </a:r>
            <a:r>
              <a:rPr lang="ko-KR" altLang="en-US" sz="4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례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210820" y="1148080"/>
            <a:ext cx="23622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2783840" y="2030"/>
            <a:ext cx="94081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280122" y="1505866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001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80119" y="2654784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002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80118" y="3809283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003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36990" y="2689207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9530105" y="3282811"/>
            <a:ext cx="1002625" cy="1002625"/>
            <a:chOff x="7843891" y="896970"/>
            <a:chExt cx="1002625" cy="1002625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59" name="타원 58"/>
            <p:cNvSpPr/>
            <p:nvPr/>
          </p:nvSpPr>
          <p:spPr>
            <a:xfrm>
              <a:off x="7910432" y="972344"/>
              <a:ext cx="861703" cy="8617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843891" y="896970"/>
              <a:ext cx="1002625" cy="1002625"/>
            </a:xfrm>
            <a:prstGeom prst="rect">
              <a:avLst/>
            </a:prstGeom>
          </p:spPr>
        </p:pic>
      </p:grpSp>
      <p:grpSp>
        <p:nvGrpSpPr>
          <p:cNvPr id="61" name="그룹 60"/>
          <p:cNvGrpSpPr/>
          <p:nvPr/>
        </p:nvGrpSpPr>
        <p:grpSpPr>
          <a:xfrm>
            <a:off x="9119238" y="1331958"/>
            <a:ext cx="1126436" cy="1161619"/>
            <a:chOff x="9235480" y="796119"/>
            <a:chExt cx="1126436" cy="1161619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2" name="타원 61"/>
            <p:cNvSpPr/>
            <p:nvPr/>
          </p:nvSpPr>
          <p:spPr>
            <a:xfrm>
              <a:off x="9235480" y="796119"/>
              <a:ext cx="1126436" cy="11616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3" name="그림 6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16476">
              <a:off x="9330610" y="874558"/>
              <a:ext cx="903180" cy="903180"/>
            </a:xfrm>
            <a:prstGeom prst="rect">
              <a:avLst/>
            </a:prstGeom>
          </p:spPr>
        </p:pic>
      </p:grpSp>
      <p:grpSp>
        <p:nvGrpSpPr>
          <p:cNvPr id="64" name="그룹 63"/>
          <p:cNvGrpSpPr/>
          <p:nvPr/>
        </p:nvGrpSpPr>
        <p:grpSpPr>
          <a:xfrm>
            <a:off x="10532730" y="2216387"/>
            <a:ext cx="945641" cy="945641"/>
            <a:chOff x="10598624" y="1250741"/>
            <a:chExt cx="1554480" cy="1554480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5" name="타원 64"/>
            <p:cNvSpPr/>
            <p:nvPr/>
          </p:nvSpPr>
          <p:spPr>
            <a:xfrm>
              <a:off x="10598624" y="1250741"/>
              <a:ext cx="1554480" cy="155448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6085" flipH="1">
              <a:off x="10659225" y="1313972"/>
              <a:ext cx="1428019" cy="1428019"/>
            </a:xfrm>
            <a:prstGeom prst="rect">
              <a:avLst/>
            </a:prstGeom>
          </p:spPr>
        </p:pic>
      </p:grpSp>
      <p:grpSp>
        <p:nvGrpSpPr>
          <p:cNvPr id="67" name="그룹 66"/>
          <p:cNvGrpSpPr/>
          <p:nvPr/>
        </p:nvGrpSpPr>
        <p:grpSpPr>
          <a:xfrm rot="20306595">
            <a:off x="10624080" y="4282562"/>
            <a:ext cx="759741" cy="759741"/>
            <a:chOff x="7234606" y="2818164"/>
            <a:chExt cx="1299384" cy="1299384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8" name="타원 67"/>
            <p:cNvSpPr/>
            <p:nvPr/>
          </p:nvSpPr>
          <p:spPr>
            <a:xfrm>
              <a:off x="7234606" y="2818164"/>
              <a:ext cx="1299384" cy="129938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68018">
              <a:off x="7348859" y="2906585"/>
              <a:ext cx="1028390" cy="1028390"/>
            </a:xfrm>
            <a:prstGeom prst="rect">
              <a:avLst/>
            </a:prstGeom>
          </p:spPr>
        </p:pic>
      </p:grpSp>
      <p:grpSp>
        <p:nvGrpSpPr>
          <p:cNvPr id="70" name="그룹 69"/>
          <p:cNvGrpSpPr/>
          <p:nvPr/>
        </p:nvGrpSpPr>
        <p:grpSpPr>
          <a:xfrm>
            <a:off x="10452677" y="43225"/>
            <a:ext cx="1384615" cy="1421211"/>
            <a:chOff x="6525279" y="4005131"/>
            <a:chExt cx="1384615" cy="1421211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71" name="타원 70"/>
            <p:cNvSpPr/>
            <p:nvPr/>
          </p:nvSpPr>
          <p:spPr>
            <a:xfrm rot="20906056">
              <a:off x="6536395" y="4005131"/>
              <a:ext cx="1373499" cy="142121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/>
            <p:cNvGrpSpPr/>
            <p:nvPr/>
          </p:nvGrpSpPr>
          <p:grpSpPr>
            <a:xfrm rot="21039598">
              <a:off x="6525279" y="4253758"/>
              <a:ext cx="1271708" cy="937561"/>
              <a:chOff x="8426887" y="595056"/>
              <a:chExt cx="1484025" cy="1094091"/>
            </a:xfrm>
          </p:grpSpPr>
          <p:pic>
            <p:nvPicPr>
              <p:cNvPr id="73" name="그림 7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6887" y="595056"/>
                <a:ext cx="965288" cy="965288"/>
              </a:xfrm>
              <a:prstGeom prst="rect">
                <a:avLst/>
              </a:prstGeom>
            </p:spPr>
          </p:pic>
          <p:pic>
            <p:nvPicPr>
              <p:cNvPr id="74" name="그림 7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929" y="644056"/>
                <a:ext cx="702983" cy="702983"/>
              </a:xfrm>
              <a:prstGeom prst="rect">
                <a:avLst/>
              </a:prstGeom>
            </p:spPr>
          </p:pic>
          <p:pic>
            <p:nvPicPr>
              <p:cNvPr id="75" name="그림 74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85081" y="1318496"/>
                <a:ext cx="370651" cy="370651"/>
              </a:xfrm>
              <a:prstGeom prst="rect">
                <a:avLst/>
              </a:prstGeom>
            </p:spPr>
          </p:pic>
        </p:grpSp>
      </p:grpSp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66"/>
          <a:stretch/>
        </p:blipFill>
        <p:spPr>
          <a:xfrm>
            <a:off x="9530105" y="5088077"/>
            <a:ext cx="2307788" cy="1780083"/>
          </a:xfrm>
          <a:prstGeom prst="rect">
            <a:avLst/>
          </a:prstGeom>
        </p:spPr>
      </p:pic>
      <p:cxnSp>
        <p:nvCxnSpPr>
          <p:cNvPr id="78" name="직선 연결선 77"/>
          <p:cNvCxnSpPr/>
          <p:nvPr/>
        </p:nvCxnSpPr>
        <p:spPr>
          <a:xfrm>
            <a:off x="3367206" y="189641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3377366" y="3048733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3367206" y="421046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157D04D-67E5-41EA-95DA-C4B2AA7A093E}"/>
              </a:ext>
            </a:extLst>
          </p:cNvPr>
          <p:cNvSpPr txBox="1"/>
          <p:nvPr/>
        </p:nvSpPr>
        <p:spPr>
          <a:xfrm>
            <a:off x="4167752" y="1505866"/>
            <a:ext cx="1832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CNN</a:t>
            </a:r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 이란</a:t>
            </a:r>
          </a:p>
        </p:txBody>
      </p:sp>
    </p:spTree>
    <p:extLst>
      <p:ext uri="{BB962C8B-B14F-4D97-AF65-F5344CB8AC3E}">
        <p14:creationId xmlns:p14="http://schemas.microsoft.com/office/powerpoint/2010/main" val="150246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41477" y="166226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>
            <a:off x="1528763" y="3625272"/>
            <a:ext cx="5931202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28763" y="2805411"/>
            <a:ext cx="605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2.  CNN </a:t>
            </a:r>
            <a:r>
              <a:rPr lang="ko-KR" altLang="en-US" sz="3200" b="1" dirty="0"/>
              <a:t>이해의 기초</a:t>
            </a:r>
          </a:p>
        </p:txBody>
      </p:sp>
    </p:spTree>
    <p:extLst>
      <p:ext uri="{BB962C8B-B14F-4D97-AF65-F5344CB8AC3E}">
        <p14:creationId xmlns:p14="http://schemas.microsoft.com/office/powerpoint/2010/main" val="1146820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9213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인공지능이 어떻게 이미지를 인식하는가</a:t>
            </a:r>
            <a:r>
              <a:rPr lang="en-US" altLang="ko-KR" sz="3600" b="1" dirty="0">
                <a:solidFill>
                  <a:schemeClr val="bg1"/>
                </a:solidFill>
              </a:rPr>
              <a:t>?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551289" y="2235200"/>
            <a:ext cx="11455182" cy="4483651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368409" y="2098695"/>
            <a:ext cx="11455182" cy="4633888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+mn-ea"/>
                <a:sym typeface="Wingdings" panose="05000000000000000000" pitchFamily="2" charset="2"/>
              </a:rPr>
              <a:t>요소들을 자동으로 바꾸어 사이트를 구현하는 것이 바로 반응형 웹 디자인</a:t>
            </a: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75244" y="1429713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61439" y="1428096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이미지 인식 설명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6BB98E8-9EEB-40F0-8CAF-EEDD9B2B9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244" y="2349561"/>
            <a:ext cx="4414421" cy="399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6007EDDD-1C9D-4492-A6D6-127A34CED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325" y="2360594"/>
            <a:ext cx="5530735" cy="3997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423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9213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인공지능이 어떻게 이미지를 인식하는가</a:t>
            </a:r>
            <a:r>
              <a:rPr lang="en-US" altLang="ko-KR" sz="3600" b="1" dirty="0">
                <a:solidFill>
                  <a:schemeClr val="bg1"/>
                </a:solidFill>
              </a:rPr>
              <a:t>?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551289" y="2235200"/>
            <a:ext cx="11455182" cy="4483651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368409" y="2098695"/>
            <a:ext cx="11455182" cy="4633888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75244" y="1429713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61439" y="1428096"/>
            <a:ext cx="4741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총 몇 개의 </a:t>
            </a:r>
            <a:r>
              <a:rPr lang="en-US" altLang="ko-KR" sz="2400" dirty="0"/>
              <a:t>weight </a:t>
            </a:r>
            <a:r>
              <a:rPr lang="ko-KR" altLang="en-US" sz="2400" dirty="0"/>
              <a:t>학습을 하는가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BBF68F0F-48C1-4287-9A85-AACE03D3B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244" y="2381136"/>
            <a:ext cx="6970012" cy="410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764BF35-BF4E-4EA4-B215-5C51B9CADB98}"/>
              </a:ext>
            </a:extLst>
          </p:cNvPr>
          <p:cNvSpPr txBox="1"/>
          <p:nvPr/>
        </p:nvSpPr>
        <p:spPr>
          <a:xfrm>
            <a:off x="8028136" y="3152538"/>
            <a:ext cx="37954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0" i="0" dirty="0">
                <a:solidFill>
                  <a:srgbClr val="333333"/>
                </a:solidFill>
                <a:effectLst/>
                <a:latin typeface="Noto Sans DemiLight"/>
              </a:rPr>
              <a:t>0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ans DemiLight"/>
              </a:rPr>
              <a:t>번 픽셀은 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Noto Sans DemiLight"/>
              </a:rPr>
              <a:t>x0, 1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ans DemiLight"/>
              </a:rPr>
              <a:t>번 픽셀은 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Noto Sans DemiLight"/>
              </a:rPr>
              <a:t>x1... 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ans DemiLight"/>
              </a:rPr>
              <a:t>이런 식으로 마지막인 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Noto Sans DemiLight"/>
              </a:rPr>
              <a:t>783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ans DemiLight"/>
              </a:rPr>
              <a:t>번 </a:t>
            </a:r>
            <a:endParaRPr lang="en-US" altLang="ko-KR" sz="2000" b="0" i="0" dirty="0">
              <a:solidFill>
                <a:srgbClr val="333333"/>
              </a:solidFill>
              <a:effectLst/>
              <a:latin typeface="Noto Sans DemiLight"/>
            </a:endParaRPr>
          </a:p>
          <a:p>
            <a:endParaRPr lang="en-US" altLang="ko-KR" sz="2000" dirty="0">
              <a:solidFill>
                <a:srgbClr val="333333"/>
              </a:solidFill>
              <a:latin typeface="Noto Sans DemiLight"/>
            </a:endParaRPr>
          </a:p>
          <a:p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ans DemiLight"/>
              </a:rPr>
              <a:t>픽셀은 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Noto Sans DemiLight"/>
              </a:rPr>
              <a:t>x783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ans DemiLight"/>
              </a:rPr>
              <a:t>으로 이름을 붙여 총 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Noto Sans DemiLight"/>
              </a:rPr>
              <a:t>784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ans DemiLight"/>
              </a:rPr>
              <a:t>개의 변수를 갖는 </a:t>
            </a:r>
            <a:r>
              <a:rPr lang="ko-KR" altLang="en-US" sz="2000" b="0" i="0" dirty="0" err="1">
                <a:solidFill>
                  <a:srgbClr val="333333"/>
                </a:solidFill>
                <a:effectLst/>
                <a:latin typeface="Noto Sans DemiLight"/>
              </a:rPr>
              <a:t>선형회귀이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Noto Sans DemiLight"/>
              </a:rPr>
              <a:t> 됨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47355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22640" y="0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513645" y="4254695"/>
            <a:ext cx="419608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8390" y="3136612"/>
            <a:ext cx="24769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CNN</a:t>
            </a:r>
            <a:r>
              <a:rPr lang="ko-KR" altLang="en-US" sz="3200" b="1" dirty="0"/>
              <a:t>의 이해</a:t>
            </a:r>
          </a:p>
        </p:txBody>
      </p:sp>
    </p:spTree>
    <p:extLst>
      <p:ext uri="{BB962C8B-B14F-4D97-AF65-F5344CB8AC3E}">
        <p14:creationId xmlns:p14="http://schemas.microsoft.com/office/powerpoint/2010/main" val="651816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40110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CNN </a:t>
            </a:r>
            <a:r>
              <a:rPr lang="ko-KR" altLang="en-US" sz="3600" b="1" dirty="0">
                <a:solidFill>
                  <a:schemeClr val="bg1"/>
                </a:solidFill>
              </a:rPr>
              <a:t>에 대한 이해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타원 19"/>
          <p:cNvSpPr/>
          <p:nvPr/>
        </p:nvSpPr>
        <p:spPr>
          <a:xfrm>
            <a:off x="875244" y="1429713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61439" y="1428096"/>
            <a:ext cx="3640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완전연결층 과 </a:t>
            </a:r>
            <a:r>
              <a:rPr lang="en-US" altLang="ko-KR" sz="2400" dirty="0"/>
              <a:t>CNN </a:t>
            </a:r>
            <a:r>
              <a:rPr lang="ko-KR" altLang="en-US" sz="2400" dirty="0"/>
              <a:t>비교</a:t>
            </a:r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605D43E9-0D1E-4AEA-9318-43915EE37B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797568"/>
              </p:ext>
            </p:extLst>
          </p:nvPr>
        </p:nvGraphicFramePr>
        <p:xfrm>
          <a:off x="10056761" y="480060"/>
          <a:ext cx="11239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6" imgW="1124640" imgH="482400" progId="Package">
                  <p:embed/>
                </p:oleObj>
              </mc:Choice>
              <mc:Fallback>
                <p:oleObj name="포장기 셸 개체" showAsIcon="1" r:id="rId6" imgW="1124640" imgH="4824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056761" y="480060"/>
                        <a:ext cx="112395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2" descr="합성곱(1)">
            <a:extLst>
              <a:ext uri="{FF2B5EF4-FFF2-40B4-BE49-F238E27FC236}">
                <a16:creationId xmlns:a16="http://schemas.microsoft.com/office/drawing/2014/main" id="{E34D8EEC-DEEA-4A1E-AADD-445004AFB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991360"/>
            <a:ext cx="11506200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343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1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i="0" dirty="0" err="1">
                <a:solidFill>
                  <a:srgbClr val="404040"/>
                </a:solidFill>
                <a:effectLst/>
                <a:latin typeface="NanumSquare"/>
              </a:rPr>
              <a:t>합성곱</a:t>
            </a:r>
            <a:r>
              <a:rPr lang="ko-KR" altLang="en-US" sz="3600" b="1" i="0" dirty="0">
                <a:solidFill>
                  <a:srgbClr val="404040"/>
                </a:solidFill>
                <a:effectLst/>
                <a:latin typeface="NanumSquare"/>
              </a:rPr>
              <a:t> 계층</a:t>
            </a:r>
            <a:r>
              <a:rPr lang="en-US" altLang="ko-KR" sz="3600" b="1" i="0" dirty="0">
                <a:solidFill>
                  <a:srgbClr val="404040"/>
                </a:solidFill>
                <a:effectLst/>
                <a:latin typeface="NanumSquare"/>
              </a:rPr>
              <a:t>(</a:t>
            </a:r>
            <a:r>
              <a:rPr lang="ko-KR" altLang="en-US" sz="3600" b="1" i="0" dirty="0">
                <a:solidFill>
                  <a:srgbClr val="404040"/>
                </a:solidFill>
                <a:effectLst/>
                <a:latin typeface="NanumSquare"/>
              </a:rPr>
              <a:t>완전연결 계층의 문제점</a:t>
            </a:r>
            <a:r>
              <a:rPr lang="en-US" altLang="ko-KR" sz="3600" b="1" i="0" dirty="0">
                <a:solidFill>
                  <a:srgbClr val="404040"/>
                </a:solidFill>
                <a:effectLst/>
                <a:latin typeface="NanumSquare"/>
              </a:rPr>
              <a:t>)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551289" y="2235200"/>
            <a:ext cx="11455182" cy="4483651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368409" y="2098695"/>
            <a:ext cx="11455182" cy="4633888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+mn-ea"/>
                <a:sym typeface="Wingdings" panose="05000000000000000000" pitchFamily="2" charset="2"/>
              </a:rPr>
              <a:t>요소들을 자동으로 바꾸어 사이트를 구현하는 것이 바로 반응형 웹 디자인</a:t>
            </a: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75244" y="1429713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61439" y="1428096"/>
            <a:ext cx="5529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MLP</a:t>
            </a:r>
            <a:r>
              <a:rPr lang="ko-KR" altLang="en-US" sz="2400" dirty="0"/>
              <a:t>가 있는데 왜 </a:t>
            </a:r>
            <a:r>
              <a:rPr lang="en-US" altLang="ko-KR" sz="2400" dirty="0"/>
              <a:t>CNN</a:t>
            </a:r>
            <a:r>
              <a:rPr lang="ko-KR" altLang="en-US" sz="2400" dirty="0"/>
              <a:t>은 왜 필요한가</a:t>
            </a:r>
            <a:r>
              <a:rPr lang="en-US" altLang="ko-KR" sz="2400" dirty="0"/>
              <a:t>?</a:t>
            </a:r>
            <a:endParaRPr lang="ko-KR" altLang="en-US" sz="24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BBB2FC-55F0-4643-9482-0C463C9CA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794" y="2026266"/>
            <a:ext cx="10142172" cy="440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8413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1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i="0" dirty="0" err="1">
                <a:solidFill>
                  <a:srgbClr val="404040"/>
                </a:solidFill>
                <a:effectLst/>
                <a:latin typeface="NanumSquare"/>
              </a:rPr>
              <a:t>합성곱</a:t>
            </a:r>
            <a:r>
              <a:rPr lang="ko-KR" altLang="en-US" sz="3600" b="1" i="0" dirty="0">
                <a:solidFill>
                  <a:srgbClr val="404040"/>
                </a:solidFill>
                <a:effectLst/>
                <a:latin typeface="NanumSquare"/>
              </a:rPr>
              <a:t> 계층</a:t>
            </a:r>
            <a:r>
              <a:rPr lang="en-US" altLang="ko-KR" sz="3600" b="1" i="0" dirty="0">
                <a:solidFill>
                  <a:srgbClr val="404040"/>
                </a:solidFill>
                <a:effectLst/>
                <a:latin typeface="NanumSquare"/>
              </a:rPr>
              <a:t>(</a:t>
            </a:r>
            <a:r>
              <a:rPr lang="ko-KR" altLang="en-US" sz="3600" b="1" i="0" dirty="0">
                <a:solidFill>
                  <a:srgbClr val="404040"/>
                </a:solidFill>
                <a:effectLst/>
                <a:latin typeface="NanumSquare"/>
              </a:rPr>
              <a:t>완전연결 계층의 문제점</a:t>
            </a:r>
            <a:r>
              <a:rPr lang="en-US" altLang="ko-KR" sz="3600" b="1" i="0" dirty="0">
                <a:solidFill>
                  <a:srgbClr val="404040"/>
                </a:solidFill>
                <a:effectLst/>
                <a:latin typeface="NanumSquare"/>
              </a:rPr>
              <a:t>)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806303" y="2371707"/>
            <a:ext cx="5315015" cy="424688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623423" y="2235201"/>
            <a:ext cx="5315015" cy="4389183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333333"/>
              </a:solidFill>
              <a:effectLst/>
              <a:latin typeface="applesdgothicneo-ultralight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75244" y="1429713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61439" y="1428096"/>
            <a:ext cx="5529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MLP</a:t>
            </a:r>
            <a:r>
              <a:rPr lang="ko-KR" altLang="en-US" sz="2400" dirty="0"/>
              <a:t>가 있는데 왜 </a:t>
            </a:r>
            <a:r>
              <a:rPr lang="en-US" altLang="ko-KR" sz="2400" dirty="0"/>
              <a:t>CNN</a:t>
            </a:r>
            <a:r>
              <a:rPr lang="ko-KR" altLang="en-US" sz="2400" dirty="0"/>
              <a:t>은 왜 필요한가</a:t>
            </a:r>
            <a:r>
              <a:rPr lang="en-US" altLang="ko-KR" sz="2400" dirty="0"/>
              <a:t>?</a:t>
            </a:r>
            <a:endParaRPr lang="ko-KR" altLang="en-US" sz="24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48AAE9E-DDDC-4B89-A699-4B87A3A29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258" y="3015618"/>
            <a:ext cx="4399124" cy="258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D7752D1-E88D-4ECE-B906-75E687F01AA5}"/>
              </a:ext>
            </a:extLst>
          </p:cNvPr>
          <p:cNvSpPr txBox="1"/>
          <p:nvPr/>
        </p:nvSpPr>
        <p:spPr>
          <a:xfrm>
            <a:off x="6725543" y="3597746"/>
            <a:ext cx="4930518" cy="2031325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-ultralight"/>
              </a:rPr>
              <a:t>숫자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-ultralight"/>
              </a:rPr>
              <a:t>1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-ultralight"/>
              </a:rPr>
              <a:t>을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-ultralight"/>
              </a:rPr>
              <a:t>MLP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-ultralight"/>
              </a:rPr>
              <a:t>로 인식하는 예를 한 번 들어보겠습니다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-ultralight"/>
              </a:rPr>
              <a:t>. </a:t>
            </a:r>
          </a:p>
          <a:p>
            <a:endParaRPr lang="en-US" altLang="ko-KR" dirty="0">
              <a:solidFill>
                <a:srgbClr val="333333"/>
              </a:solidFill>
              <a:latin typeface="applesdgothicneo-ultralight"/>
            </a:endParaRPr>
          </a:p>
          <a:p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-ultralight"/>
              </a:rPr>
              <a:t>-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-ultralight"/>
              </a:rPr>
              <a:t>같은 숫자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-ultralight"/>
              </a:rPr>
              <a:t>1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-ultralight"/>
              </a:rPr>
              <a:t>임에도 불구하고 좌측으로 한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applesdgothicneo-ultralight"/>
              </a:rPr>
              <a:t>칸씩만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-ultralight"/>
              </a:rPr>
              <a:t> 움직이면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applesdgothicneo-ultralight"/>
              </a:rPr>
              <a:t>인풋값이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-ultralight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-ultralight"/>
              </a:rPr>
              <a:t>20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-ultralight"/>
              </a:rPr>
              <a:t>개가 변화합니다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-ultralight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-ultralight"/>
              </a:rPr>
              <a:t>이는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applesdgothicneo-ultralight"/>
              </a:rPr>
              <a:t>학습해놓은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-ultralight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-ultralight"/>
              </a:rPr>
              <a:t>weight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-ultralight"/>
              </a:rPr>
              <a:t>들이 모두 무력화됨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977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1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Features(</a:t>
            </a:r>
            <a:r>
              <a:rPr lang="ko-KR" altLang="en-US" sz="3600" b="1" dirty="0">
                <a:solidFill>
                  <a:schemeClr val="bg1"/>
                </a:solidFill>
              </a:rPr>
              <a:t>특징을 잡아 내는 방법</a:t>
            </a:r>
            <a:r>
              <a:rPr lang="en-US" altLang="ko-KR" sz="3600" b="1" dirty="0">
                <a:solidFill>
                  <a:schemeClr val="bg1"/>
                </a:solidFill>
              </a:rPr>
              <a:t>)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852146" y="2452660"/>
            <a:ext cx="10853468" cy="424688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669266" y="2316154"/>
            <a:ext cx="10853468" cy="4389183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배경과 물체의 색이나 명암이 다른 부분을 이용하여 물체의 외곽선을 찾아야 함</a:t>
            </a:r>
            <a:r>
              <a:rPr lang="en-US" altLang="ko-KR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명암이 바뀌는 픽셀을 찾기 위해서는 주변 픽셀을 모두 살펴보야 함</a:t>
            </a:r>
            <a:r>
              <a:rPr lang="en-US" altLang="ko-KR" sz="180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err="1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컨벌루션</a:t>
            </a:r>
            <a:r>
              <a:rPr lang="ko-KR" altLang="en-US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이란</a:t>
            </a:r>
            <a:r>
              <a:rPr lang="ko-KR" altLang="en-US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현재 픽셀을 중심으로 해서 그 주위에 있는 픽셀 마다 가중치를 </a:t>
            </a:r>
            <a:r>
              <a:rPr lang="ko-KR" altLang="en-US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곱한뒤</a:t>
            </a:r>
            <a:r>
              <a:rPr lang="ko-KR" altLang="en-US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모두 더한 값으로 픽셀 값을 변경 </a:t>
            </a:r>
            <a:r>
              <a:rPr lang="ko-KR" altLang="en-US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하는것</a:t>
            </a:r>
            <a:endParaRPr lang="en-US" altLang="ko-KR" sz="180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+mn-ea"/>
                <a:sym typeface="Wingdings" panose="05000000000000000000" pitchFamily="2" charset="2"/>
              </a:rPr>
              <a:t>사이트를 구현하는 것이 바로 반응형 웹 디자인</a:t>
            </a: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439335" y="1565195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925530" y="1563578"/>
            <a:ext cx="4653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/>
              <a:t>컨볼루션이</a:t>
            </a:r>
            <a:r>
              <a:rPr lang="ko-KR" altLang="en-US" sz="2400" dirty="0"/>
              <a:t> </a:t>
            </a:r>
            <a:r>
              <a:rPr lang="ko-KR" altLang="en-US" sz="2400" dirty="0" err="1"/>
              <a:t>뭐며</a:t>
            </a:r>
            <a:r>
              <a:rPr lang="ko-KR" altLang="en-US" sz="2400" dirty="0"/>
              <a:t> 과연 무엇인가</a:t>
            </a:r>
            <a:r>
              <a:rPr lang="en-US" altLang="ko-KR" sz="2400" dirty="0"/>
              <a:t>?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04486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1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Features(</a:t>
            </a:r>
            <a:r>
              <a:rPr lang="ko-KR" altLang="en-US" sz="3600" b="1" dirty="0">
                <a:solidFill>
                  <a:schemeClr val="bg1"/>
                </a:solidFill>
              </a:rPr>
              <a:t>가로 특징</a:t>
            </a:r>
            <a:r>
              <a:rPr lang="en-US" altLang="ko-KR" sz="3600" b="1" dirty="0">
                <a:solidFill>
                  <a:schemeClr val="bg1"/>
                </a:solidFill>
              </a:rPr>
              <a:t>)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852146" y="2452660"/>
            <a:ext cx="10853468" cy="424688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669266" y="2316154"/>
            <a:ext cx="10853468" cy="4389183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4151851" y="1553365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638046" y="1551748"/>
            <a:ext cx="3281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가로 특징 잡아 </a:t>
            </a:r>
            <a:r>
              <a:rPr lang="ko-KR" altLang="en-US" sz="2400" dirty="0" err="1"/>
              <a:t>내는법</a:t>
            </a:r>
            <a:endParaRPr lang="ko-KR" altLang="en-US" sz="24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A1CB779-3DF3-49B7-A9A3-099D35B1D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239" y="2648945"/>
            <a:ext cx="9610090" cy="372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734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1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Features(</a:t>
            </a:r>
            <a:r>
              <a:rPr lang="ko-KR" altLang="en-US" sz="3600" b="1" dirty="0">
                <a:solidFill>
                  <a:schemeClr val="bg1"/>
                </a:solidFill>
              </a:rPr>
              <a:t>세로 특징</a:t>
            </a:r>
            <a:r>
              <a:rPr lang="en-US" altLang="ko-KR" sz="3600" b="1" dirty="0">
                <a:solidFill>
                  <a:schemeClr val="bg1"/>
                </a:solidFill>
              </a:rPr>
              <a:t>)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852146" y="2452660"/>
            <a:ext cx="10853468" cy="424688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669266" y="2316154"/>
            <a:ext cx="10853468" cy="4389183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968971" y="1509964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455166" y="1508347"/>
            <a:ext cx="3281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세로 특징 잡아 </a:t>
            </a:r>
            <a:r>
              <a:rPr lang="ko-KR" altLang="en-US" sz="2400" dirty="0" err="1"/>
              <a:t>내는법</a:t>
            </a:r>
            <a:endParaRPr lang="ko-KR" altLang="en-US" sz="24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9F4CF41-7EFB-47F0-8EC1-32FA860C8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2507322"/>
            <a:ext cx="8579596" cy="365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6482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1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Features(</a:t>
            </a:r>
            <a:r>
              <a:rPr lang="ko-KR" altLang="en-US" sz="3600" b="1" dirty="0">
                <a:solidFill>
                  <a:schemeClr val="bg1"/>
                </a:solidFill>
              </a:rPr>
              <a:t>지느러미 특징</a:t>
            </a:r>
            <a:r>
              <a:rPr lang="en-US" altLang="ko-KR" sz="3600" b="1" dirty="0">
                <a:solidFill>
                  <a:schemeClr val="bg1"/>
                </a:solidFill>
              </a:rPr>
              <a:t>)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852146" y="2452660"/>
            <a:ext cx="10853468" cy="424688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669266" y="2316154"/>
            <a:ext cx="10853468" cy="4389183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968971" y="1509964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455166" y="150834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지느러미 필터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AC20A28-C5FA-436E-9C1A-110CCEA33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351" y="2488769"/>
            <a:ext cx="8777298" cy="373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412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1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Features(</a:t>
            </a:r>
            <a:r>
              <a:rPr lang="ko-KR" altLang="en-US" sz="3600" b="1" dirty="0">
                <a:solidFill>
                  <a:schemeClr val="bg1"/>
                </a:solidFill>
              </a:rPr>
              <a:t>대각선 특징</a:t>
            </a:r>
            <a:r>
              <a:rPr lang="en-US" altLang="ko-KR" sz="3600" b="1" dirty="0">
                <a:solidFill>
                  <a:schemeClr val="bg1"/>
                </a:solidFill>
              </a:rPr>
              <a:t>)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852146" y="2452660"/>
            <a:ext cx="10853468" cy="424688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669266" y="2316154"/>
            <a:ext cx="10853468" cy="4389183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968971" y="1509964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455166" y="1508347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대각선 필터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A772E4D-0F9D-4506-A5B6-FD85DE064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698" y="2649848"/>
            <a:ext cx="8736603" cy="372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384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1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Pooling(</a:t>
            </a:r>
            <a:r>
              <a:rPr lang="ko-KR" altLang="en-US" sz="3600" b="1" dirty="0" err="1">
                <a:solidFill>
                  <a:schemeClr val="bg1"/>
                </a:solidFill>
              </a:rPr>
              <a:t>풀링이란</a:t>
            </a:r>
            <a:r>
              <a:rPr lang="en-US" altLang="ko-KR" sz="3600" b="1" dirty="0">
                <a:solidFill>
                  <a:schemeClr val="bg1"/>
                </a:solidFill>
              </a:rPr>
              <a:t>)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852146" y="2452660"/>
            <a:ext cx="10853468" cy="424688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669266" y="2316154"/>
            <a:ext cx="10853468" cy="4389183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461517" y="155416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47712" y="1552552"/>
            <a:ext cx="11269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0" i="0" dirty="0">
                <a:solidFill>
                  <a:srgbClr val="333333"/>
                </a:solidFill>
                <a:effectLst/>
                <a:latin typeface="applesdgothicneo-ultralight"/>
              </a:rPr>
              <a:t>Pooling </a:t>
            </a:r>
            <a:r>
              <a:rPr lang="ko-KR" altLang="en-US" sz="2400" b="0" i="0" dirty="0">
                <a:solidFill>
                  <a:srgbClr val="333333"/>
                </a:solidFill>
                <a:effectLst/>
                <a:latin typeface="applesdgothicneo-ultralight"/>
              </a:rPr>
              <a:t>과정은 이미지의 뒤틀림이나 크기변화에 따른 왜곡의 영향을 축소하는 과정</a:t>
            </a:r>
            <a:endParaRPr lang="ko-KR" altLang="en-US" sz="2400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1C437C92-85B2-433F-A2BA-7900C46C8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693" y="2528506"/>
            <a:ext cx="8700380" cy="3920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530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1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Pooling(</a:t>
            </a:r>
            <a:r>
              <a:rPr lang="ko-KR" altLang="en-US" sz="3600" b="1" dirty="0" err="1">
                <a:solidFill>
                  <a:schemeClr val="bg1"/>
                </a:solidFill>
              </a:rPr>
              <a:t>풀링의</a:t>
            </a:r>
            <a:r>
              <a:rPr lang="ko-KR" altLang="en-US" sz="3600" b="1" dirty="0">
                <a:solidFill>
                  <a:schemeClr val="bg1"/>
                </a:solidFill>
              </a:rPr>
              <a:t> 효능</a:t>
            </a:r>
            <a:r>
              <a:rPr lang="en-US" altLang="ko-KR" sz="3600" b="1" dirty="0">
                <a:solidFill>
                  <a:schemeClr val="bg1"/>
                </a:solidFill>
              </a:rPr>
              <a:t>)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1076959" y="2673422"/>
            <a:ext cx="3282605" cy="3962319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894079" y="2546452"/>
            <a:ext cx="3282605" cy="4095087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가로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,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세로 방향의 공간을 줄이는 연산</a:t>
            </a:r>
            <a:endParaRPr lang="en-US" altLang="ko-KR" b="1" i="0" dirty="0">
              <a:solidFill>
                <a:srgbClr val="000000"/>
              </a:solidFill>
              <a:effectLst/>
              <a:latin typeface="Noto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b="1" i="0" dirty="0">
              <a:solidFill>
                <a:srgbClr val="000000"/>
              </a:solidFill>
              <a:effectLst/>
              <a:latin typeface="Noto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최대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latin typeface="Noto Sans KR"/>
              </a:rPr>
              <a:t>풀링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(Max Pooling)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과 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평균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latin typeface="Noto Sans KR"/>
              </a:rPr>
              <a:t>풀링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(Average </a:t>
            </a:r>
            <a:r>
              <a:rPr lang="en-US" altLang="ko-KR" b="1" i="0" dirty="0" err="1">
                <a:solidFill>
                  <a:srgbClr val="000000"/>
                </a:solidFill>
                <a:effectLst/>
                <a:latin typeface="Noto Sans KR"/>
              </a:rPr>
              <a:t>Pooning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)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 </a:t>
            </a:r>
            <a:endParaRPr lang="en-US" altLang="ko-KR" b="1" dirty="0">
              <a:solidFill>
                <a:srgbClr val="000000"/>
              </a:solidFill>
              <a:latin typeface="Noto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94079" y="1649146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580955" y="1474262"/>
            <a:ext cx="10034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0" i="0" dirty="0" err="1">
                <a:solidFill>
                  <a:srgbClr val="000000"/>
                </a:solidFill>
                <a:effectLst/>
                <a:latin typeface="Noto Sans KR"/>
              </a:rPr>
              <a:t>합성곱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Noto Sans KR"/>
              </a:rPr>
              <a:t> 계층의 출력 데이터를 입력으로 받아서 출력 데이터의 크기를 </a:t>
            </a:r>
            <a:endParaRPr lang="en-US" altLang="ko-KR" sz="2400" b="0" i="0" dirty="0">
              <a:solidFill>
                <a:srgbClr val="000000"/>
              </a:solidFill>
              <a:effectLst/>
              <a:latin typeface="Noto Sans KR"/>
            </a:endParaRPr>
          </a:p>
          <a:p>
            <a:r>
              <a:rPr lang="ko-KR" altLang="en-US" sz="2400" b="0" i="0" dirty="0">
                <a:solidFill>
                  <a:srgbClr val="000000"/>
                </a:solidFill>
                <a:effectLst/>
                <a:latin typeface="Noto Sans KR"/>
              </a:rPr>
              <a:t>줄이거나 특정 데이터를 강조하는 용도</a:t>
            </a:r>
            <a:endParaRPr lang="ko-KR" altLang="en-US" sz="2400" dirty="0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14B96545-A8DD-4550-A720-B9A63DA809A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97" y="2458401"/>
            <a:ext cx="6454970" cy="385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16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1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CNN </a:t>
            </a:r>
            <a:r>
              <a:rPr lang="ko-KR" altLang="en-US" sz="3600" b="1" dirty="0">
                <a:solidFill>
                  <a:schemeClr val="bg1"/>
                </a:solidFill>
              </a:rPr>
              <a:t>에서의 가중치 </a:t>
            </a:r>
            <a:r>
              <a:rPr lang="ko-KR" altLang="en-US" sz="3600" b="1" dirty="0" err="1">
                <a:solidFill>
                  <a:schemeClr val="bg1"/>
                </a:solidFill>
              </a:rPr>
              <a:t>갯수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76959" y="2673423"/>
            <a:ext cx="4470582" cy="370021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894079" y="2546453"/>
            <a:ext cx="4470582" cy="3824204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1383490" y="171145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160076" y="1709056"/>
            <a:ext cx="3382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인공신경망 표현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3FB53A31-4745-4B3A-9D2E-E7E635A0B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220" y="3170316"/>
            <a:ext cx="2679522" cy="2593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모서리가 둥근 직사각형 15">
            <a:extLst>
              <a:ext uri="{FF2B5EF4-FFF2-40B4-BE49-F238E27FC236}">
                <a16:creationId xmlns:a16="http://schemas.microsoft.com/office/drawing/2014/main" id="{5AAC9300-7A2B-46FE-AB99-F89EF5132EFC}"/>
              </a:ext>
            </a:extLst>
          </p:cNvPr>
          <p:cNvSpPr/>
          <p:nvPr/>
        </p:nvSpPr>
        <p:spPr>
          <a:xfrm>
            <a:off x="7046855" y="2673423"/>
            <a:ext cx="4470582" cy="355733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16">
            <a:extLst>
              <a:ext uri="{FF2B5EF4-FFF2-40B4-BE49-F238E27FC236}">
                <a16:creationId xmlns:a16="http://schemas.microsoft.com/office/drawing/2014/main" id="{93397F68-0E27-4369-B82D-8ECBCE7A0D0C}"/>
              </a:ext>
            </a:extLst>
          </p:cNvPr>
          <p:cNvSpPr/>
          <p:nvPr/>
        </p:nvSpPr>
        <p:spPr>
          <a:xfrm>
            <a:off x="6863975" y="2546453"/>
            <a:ext cx="4470582" cy="3676528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800" dirty="0">
              <a:latin typeface="+mn-ea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8B2C667-648A-4901-92BD-A7BC5AD639A7}"/>
              </a:ext>
            </a:extLst>
          </p:cNvPr>
          <p:cNvSpPr/>
          <p:nvPr/>
        </p:nvSpPr>
        <p:spPr>
          <a:xfrm>
            <a:off x="6644459" y="1751757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0731CE-0DB0-458D-B3FB-07591FD4CDB8}"/>
              </a:ext>
            </a:extLst>
          </p:cNvPr>
          <p:cNvSpPr txBox="1"/>
          <p:nvPr/>
        </p:nvSpPr>
        <p:spPr>
          <a:xfrm>
            <a:off x="7331335" y="1749354"/>
            <a:ext cx="4186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/>
              <a:t>합성곱에서의</a:t>
            </a:r>
            <a:r>
              <a:rPr lang="ko-KR" altLang="en-US" sz="2400" dirty="0"/>
              <a:t> 신경망 가중치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6908FF-5125-4128-88DE-49AAB538C7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7347" y="3223897"/>
            <a:ext cx="4057881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75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1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CNN </a:t>
            </a:r>
            <a:r>
              <a:rPr lang="ko-KR" altLang="en-US" sz="3600" b="1" dirty="0">
                <a:solidFill>
                  <a:schemeClr val="bg1"/>
                </a:solidFill>
              </a:rPr>
              <a:t>에서의 </a:t>
            </a:r>
            <a:r>
              <a:rPr lang="ko-KR" altLang="en-US" sz="3600" b="1" dirty="0" err="1">
                <a:solidFill>
                  <a:schemeClr val="bg1"/>
                </a:solidFill>
              </a:rPr>
              <a:t>합성곱</a:t>
            </a:r>
            <a:r>
              <a:rPr lang="ko-KR" altLang="en-US" sz="3600" b="1" dirty="0">
                <a:solidFill>
                  <a:schemeClr val="bg1"/>
                </a:solidFill>
              </a:rPr>
              <a:t> 연산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1155018" y="2415300"/>
            <a:ext cx="10741236" cy="4257104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972138" y="2279000"/>
            <a:ext cx="10741236" cy="439975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1361439" y="1454370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138025" y="1451967"/>
            <a:ext cx="3382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/>
              <a:t>합성곱</a:t>
            </a:r>
            <a:r>
              <a:rPr lang="ko-KR" altLang="en-US" sz="2400" dirty="0"/>
              <a:t> 연산 방법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82FD021C-11D0-40F6-B994-45EA7C451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075" y="2735477"/>
            <a:ext cx="7265362" cy="334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524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821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CNN</a:t>
            </a:r>
            <a:r>
              <a:rPr lang="ko-KR" altLang="en-US" sz="3600" b="1" dirty="0">
                <a:solidFill>
                  <a:schemeClr val="bg1"/>
                </a:solidFill>
              </a:rPr>
              <a:t> 모델 전체 그림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1076959" y="2673422"/>
            <a:ext cx="10538638" cy="3962319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894079" y="2546452"/>
            <a:ext cx="10538638" cy="4095087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b="1" i="0" dirty="0">
              <a:solidFill>
                <a:srgbClr val="000000"/>
              </a:solidFill>
              <a:effectLst/>
              <a:latin typeface="Noto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94079" y="1649146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580955" y="1474262"/>
            <a:ext cx="10034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0" i="0" dirty="0" err="1">
                <a:solidFill>
                  <a:srgbClr val="000000"/>
                </a:solidFill>
                <a:effectLst/>
                <a:latin typeface="Noto Sans KR"/>
              </a:rPr>
              <a:t>합성곱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Noto Sans KR"/>
              </a:rPr>
              <a:t> 계층의 출력 데이터를 입력으로 받아서 출력 데이터의 크기를 </a:t>
            </a:r>
            <a:endParaRPr lang="en-US" altLang="ko-KR" sz="2400" b="0" i="0" dirty="0">
              <a:solidFill>
                <a:srgbClr val="000000"/>
              </a:solidFill>
              <a:effectLst/>
              <a:latin typeface="Noto Sans KR"/>
            </a:endParaRPr>
          </a:p>
          <a:p>
            <a:r>
              <a:rPr lang="ko-KR" altLang="en-US" sz="2400" b="0" i="0" dirty="0">
                <a:solidFill>
                  <a:srgbClr val="000000"/>
                </a:solidFill>
                <a:effectLst/>
                <a:latin typeface="Noto Sans KR"/>
              </a:rPr>
              <a:t>줄이거나 특정 데이터를 강조하는 용도</a:t>
            </a:r>
            <a:endParaRPr lang="ko-KR" altLang="en-US" sz="2400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01A500EF-A317-42E6-B993-0719D8E05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838" y="2860477"/>
            <a:ext cx="6158871" cy="3214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866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975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err="1"/>
              <a:t>케라스에서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i="0" dirty="0">
                <a:effectLst/>
                <a:latin typeface="Noto Sans KR"/>
              </a:rPr>
              <a:t>Conv2D</a:t>
            </a:r>
            <a:r>
              <a:rPr lang="ko-KR" altLang="en-US" sz="3600" b="1" i="0" dirty="0">
                <a:effectLst/>
                <a:latin typeface="Noto Sans KR"/>
              </a:rPr>
              <a:t>와 </a:t>
            </a:r>
            <a:r>
              <a:rPr lang="en-US" altLang="ko-KR" sz="3600" b="1" i="0" dirty="0">
                <a:effectLst/>
                <a:latin typeface="Noto Sans KR"/>
              </a:rPr>
              <a:t>Pooling</a:t>
            </a:r>
            <a:r>
              <a:rPr lang="ko-KR" altLang="en-US" sz="3600" b="1" i="0" dirty="0">
                <a:effectLst/>
                <a:latin typeface="Noto Sans KR"/>
              </a:rPr>
              <a:t>의 적용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타원 19"/>
          <p:cNvSpPr/>
          <p:nvPr/>
        </p:nvSpPr>
        <p:spPr>
          <a:xfrm>
            <a:off x="894079" y="1649146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733998" y="1502093"/>
            <a:ext cx="10034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0" i="0" dirty="0">
                <a:solidFill>
                  <a:srgbClr val="373C46"/>
                </a:solidFill>
                <a:effectLst/>
                <a:latin typeface="Noto Sans KR"/>
              </a:rPr>
              <a:t>Conv2D() </a:t>
            </a:r>
            <a:r>
              <a:rPr lang="ko-KR" altLang="en-US" sz="2400" b="0" i="0" dirty="0">
                <a:solidFill>
                  <a:srgbClr val="373C46"/>
                </a:solidFill>
                <a:effectLst/>
                <a:latin typeface="Noto Sans KR"/>
              </a:rPr>
              <a:t>를 모델에 적용 시에는 반드시 입력은 배치 크기를 제외하고 </a:t>
            </a:r>
            <a:endParaRPr lang="en-US" altLang="ko-KR" sz="2400" b="0" i="0" dirty="0">
              <a:solidFill>
                <a:srgbClr val="373C46"/>
              </a:solidFill>
              <a:effectLst/>
              <a:latin typeface="Noto Sans KR"/>
            </a:endParaRPr>
          </a:p>
          <a:p>
            <a:r>
              <a:rPr lang="en-US" altLang="ko-KR" sz="2400" b="1" i="0" dirty="0">
                <a:solidFill>
                  <a:srgbClr val="373C46"/>
                </a:solidFill>
                <a:effectLst/>
                <a:latin typeface="Noto Sans KR"/>
              </a:rPr>
              <a:t>3</a:t>
            </a:r>
            <a:r>
              <a:rPr lang="ko-KR" altLang="en-US" sz="2400" b="1" i="0" dirty="0">
                <a:solidFill>
                  <a:srgbClr val="373C46"/>
                </a:solidFill>
                <a:effectLst/>
                <a:latin typeface="Noto Sans KR"/>
              </a:rPr>
              <a:t>차원</a:t>
            </a:r>
            <a:r>
              <a:rPr lang="ko-KR" altLang="en-US" sz="2400" b="0" i="0" dirty="0">
                <a:solidFill>
                  <a:srgbClr val="373C46"/>
                </a:solidFill>
                <a:effectLst/>
                <a:latin typeface="Noto Sans KR"/>
              </a:rPr>
              <a:t>이 되어야 한다</a:t>
            </a:r>
            <a:r>
              <a:rPr lang="en-US" altLang="ko-KR" sz="2400" b="0" i="0" dirty="0">
                <a:solidFill>
                  <a:srgbClr val="373C46"/>
                </a:solidFill>
                <a:effectLst/>
                <a:latin typeface="Noto Sans KR"/>
              </a:rPr>
              <a:t>.(</a:t>
            </a:r>
            <a:r>
              <a:rPr lang="ko-KR" altLang="en-US" sz="2400" b="0" i="0" dirty="0">
                <a:solidFill>
                  <a:srgbClr val="373C46"/>
                </a:solidFill>
                <a:effectLst/>
                <a:latin typeface="Noto Sans KR"/>
              </a:rPr>
              <a:t>즉</a:t>
            </a:r>
            <a:r>
              <a:rPr lang="en-US" altLang="ko-KR" sz="2400" b="0" i="0" dirty="0">
                <a:solidFill>
                  <a:srgbClr val="373C46"/>
                </a:solidFill>
                <a:effectLst/>
                <a:latin typeface="Noto Sans KR"/>
              </a:rPr>
              <a:t>., </a:t>
            </a:r>
            <a:r>
              <a:rPr lang="ko-KR" altLang="en-US" sz="2400" b="0" i="0" dirty="0">
                <a:solidFill>
                  <a:srgbClr val="373C46"/>
                </a:solidFill>
                <a:effectLst/>
                <a:latin typeface="Noto Sans KR"/>
              </a:rPr>
              <a:t>배치를 포함하면 </a:t>
            </a:r>
            <a:r>
              <a:rPr lang="en-US" altLang="ko-KR" sz="2400" b="0" i="0" dirty="0">
                <a:solidFill>
                  <a:srgbClr val="373C46"/>
                </a:solidFill>
                <a:effectLst/>
                <a:latin typeface="Noto Sans KR"/>
              </a:rPr>
              <a:t>4</a:t>
            </a:r>
            <a:r>
              <a:rPr lang="ko-KR" altLang="en-US" sz="2400" b="0" i="0" dirty="0">
                <a:solidFill>
                  <a:srgbClr val="373C46"/>
                </a:solidFill>
                <a:effectLst/>
                <a:latin typeface="Noto Sans KR"/>
              </a:rPr>
              <a:t>차원</a:t>
            </a:r>
            <a:r>
              <a:rPr lang="en-US" altLang="ko-KR" sz="2400" b="0" i="0" dirty="0">
                <a:solidFill>
                  <a:srgbClr val="373C46"/>
                </a:solidFill>
                <a:effectLst/>
                <a:latin typeface="Noto Sans KR"/>
              </a:rPr>
              <a:t>)</a:t>
            </a:r>
            <a:endParaRPr lang="ko-KR" altLang="en-US" sz="2400" dirty="0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979D95E6-37A8-422C-A6CF-A16543B2A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293" y="2563132"/>
            <a:ext cx="10053004" cy="393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26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975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err="1"/>
              <a:t>케라스에서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i="0" dirty="0">
                <a:effectLst/>
                <a:latin typeface="Noto Sans KR"/>
              </a:rPr>
              <a:t>Conv2D</a:t>
            </a:r>
            <a:r>
              <a:rPr lang="ko-KR" altLang="en-US" sz="3600" b="1" i="0" dirty="0">
                <a:effectLst/>
                <a:latin typeface="Noto Sans KR"/>
              </a:rPr>
              <a:t>와 </a:t>
            </a:r>
            <a:r>
              <a:rPr lang="en-US" altLang="ko-KR" sz="3600" b="1" i="0" dirty="0">
                <a:effectLst/>
                <a:latin typeface="Noto Sans KR"/>
              </a:rPr>
              <a:t>Pooling</a:t>
            </a:r>
            <a:r>
              <a:rPr lang="ko-KR" altLang="en-US" sz="3600" b="1" i="0" dirty="0">
                <a:effectLst/>
                <a:latin typeface="Noto Sans KR"/>
              </a:rPr>
              <a:t>의 적용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506" name="Picture 2">
            <a:extLst>
              <a:ext uri="{FF2B5EF4-FFF2-40B4-BE49-F238E27FC236}">
                <a16:creationId xmlns:a16="http://schemas.microsoft.com/office/drawing/2014/main" id="{979D95E6-37A8-422C-A6CF-A16543B2A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55" y="1991360"/>
            <a:ext cx="4562952" cy="459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01869E-BA42-4D50-B099-6B1F22D021E5}"/>
              </a:ext>
            </a:extLst>
          </p:cNvPr>
          <p:cNvSpPr txBox="1"/>
          <p:nvPr/>
        </p:nvSpPr>
        <p:spPr>
          <a:xfrm>
            <a:off x="5509789" y="1971040"/>
            <a:ext cx="6151828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1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개의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Filter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는 무조건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3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차원이다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.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 </a:t>
            </a:r>
            <a:endParaRPr lang="ko-KR" altLang="en-US" b="0" i="0" dirty="0">
              <a:solidFill>
                <a:srgbClr val="373C46"/>
              </a:solidFill>
              <a:effectLst/>
              <a:latin typeface="Noto Sans KR"/>
            </a:endParaRPr>
          </a:p>
          <a:p>
            <a:pPr algn="l" fontAlgn="base"/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따라서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32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개의 커널을 만들어 주세요 라는 의미로 </a:t>
            </a:r>
            <a:r>
              <a:rPr lang="ko-KR" altLang="en-US" b="0" i="0" dirty="0" err="1">
                <a:solidFill>
                  <a:srgbClr val="373C46"/>
                </a:solidFill>
                <a:effectLst/>
                <a:latin typeface="Noto Sans KR"/>
              </a:rPr>
              <a:t>쓰인게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 아니다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.</a:t>
            </a:r>
          </a:p>
          <a:p>
            <a:pPr algn="l" fontAlgn="base"/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그냥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Filter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의 개수가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32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개라는 것이다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.</a:t>
            </a:r>
          </a:p>
          <a:p>
            <a:pPr algn="l" fontAlgn="base"/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 </a:t>
            </a:r>
          </a:p>
          <a:p>
            <a:pPr algn="l" fontAlgn="base"/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Filter 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에는 커널이 하나 들어가 있다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.</a:t>
            </a:r>
          </a:p>
          <a:p>
            <a:pPr algn="l" fontAlgn="base"/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입력으로 들어오는 채널의 차원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(28, 28, 1) 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과 자동적으로 맞아야 한다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. 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안 맞으면 아예 연산이 안된다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.</a:t>
            </a: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(28, 28, 1)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은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28x28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커널의 개수가 하나 인 것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.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그렇기 때문에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3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차원이다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.</a:t>
            </a:r>
            <a:endParaRPr lang="ko-KR" altLang="en-US" b="0" i="0" dirty="0">
              <a:solidFill>
                <a:srgbClr val="373C46"/>
              </a:solidFill>
              <a:effectLst/>
              <a:latin typeface="Noto Sans KR"/>
            </a:endParaRPr>
          </a:p>
          <a:p>
            <a:pPr algn="l" fontAlgn="base"/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 </a:t>
            </a:r>
          </a:p>
          <a:p>
            <a:pPr algn="l" fontAlgn="base"/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(filters=32) 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의 뜻은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Filter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의 </a:t>
            </a:r>
            <a:r>
              <a:rPr lang="ko-KR" altLang="en-US" b="0" i="0" dirty="0" err="1">
                <a:solidFill>
                  <a:srgbClr val="373C46"/>
                </a:solidFill>
                <a:effectLst/>
                <a:latin typeface="Noto Sans KR"/>
              </a:rPr>
              <a:t>갯수이다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.</a:t>
            </a:r>
          </a:p>
          <a:p>
            <a:pPr algn="l" fontAlgn="base"/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즉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28x28x1 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이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32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개가 있는 것이다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.</a:t>
            </a:r>
          </a:p>
          <a:p>
            <a:pPr algn="l" fontAlgn="base"/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그러면 파라미터는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3x3x32 = 288 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에다가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bias 32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개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(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개별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Filter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마다 </a:t>
            </a:r>
            <a:r>
              <a:rPr lang="ko-KR" altLang="en-US" b="0" i="0" dirty="0" err="1">
                <a:solidFill>
                  <a:srgbClr val="373C46"/>
                </a:solidFill>
                <a:effectLst/>
                <a:latin typeface="Noto Sans KR"/>
              </a:rPr>
              <a:t>하나씩의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bias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가 존재하기 때문에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)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를 더하면 총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320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개의 파라미터가 나온다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6807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975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Convolution </a:t>
            </a:r>
            <a:r>
              <a:rPr lang="ko-KR" altLang="en-US" sz="3600" b="1" dirty="0" err="1">
                <a:solidFill>
                  <a:schemeClr val="bg1"/>
                </a:solidFill>
              </a:rPr>
              <a:t>연산후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</a:rPr>
              <a:t>Feature Map </a:t>
            </a:r>
            <a:r>
              <a:rPr lang="ko-KR" altLang="en-US" sz="3600" b="1" dirty="0">
                <a:solidFill>
                  <a:schemeClr val="bg1"/>
                </a:solidFill>
              </a:rPr>
              <a:t>크기 계산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1076959" y="2372262"/>
            <a:ext cx="10395592" cy="4263479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894079" y="2235202"/>
            <a:ext cx="10395592" cy="4406338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fontAlgn="base"/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I : 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입력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Feature Map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의 크기</a:t>
            </a:r>
          </a:p>
          <a:p>
            <a:pPr algn="l" fontAlgn="base"/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F : Filter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의 크기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(Kernel size) : 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4x4</a:t>
            </a:r>
            <a:endParaRPr lang="ko-KR" altLang="en-US" b="0" i="0" dirty="0">
              <a:solidFill>
                <a:srgbClr val="373C46"/>
              </a:solidFill>
              <a:effectLst/>
              <a:latin typeface="Noto Sans KR"/>
            </a:endParaRPr>
          </a:p>
          <a:p>
            <a:pPr algn="l" fontAlgn="base"/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P : Padding(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정수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) : 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모서리 채우는 것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, 1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이면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4x4 → 5x5</a:t>
            </a:r>
            <a:endParaRPr lang="ko-KR" altLang="en-US" b="0" i="0" dirty="0">
              <a:solidFill>
                <a:srgbClr val="373C46"/>
              </a:solidFill>
              <a:effectLst/>
              <a:latin typeface="Noto Sans KR"/>
            </a:endParaRPr>
          </a:p>
          <a:p>
            <a:pPr algn="l" fontAlgn="base"/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S : Strides(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정수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) : </a:t>
            </a:r>
            <a:r>
              <a:rPr lang="ko-KR" altLang="en-US" b="0" i="0" dirty="0" err="1">
                <a:solidFill>
                  <a:srgbClr val="666666"/>
                </a:solidFill>
                <a:effectLst/>
                <a:latin typeface="Noto Sans KR"/>
              </a:rPr>
              <a:t>몇단위로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 이동하나</a:t>
            </a:r>
            <a:endParaRPr lang="ko-KR" altLang="en-US" b="0" i="0" dirty="0">
              <a:solidFill>
                <a:srgbClr val="373C46"/>
              </a:solidFill>
              <a:effectLst/>
              <a:latin typeface="Noto Sans KR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94079" y="1649146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733998" y="1601653"/>
            <a:ext cx="1003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출력 </a:t>
            </a:r>
            <a:r>
              <a:rPr lang="en-US" altLang="ko-KR" sz="2400" dirty="0"/>
              <a:t>Feature Map </a:t>
            </a:r>
            <a:r>
              <a:rPr lang="ko-KR" altLang="en-US" sz="2400" dirty="0"/>
              <a:t>크기 계산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9C878641-3437-4009-8CAC-8430393C3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606" y="2594492"/>
            <a:ext cx="366712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>
            <a:extLst>
              <a:ext uri="{FF2B5EF4-FFF2-40B4-BE49-F238E27FC236}">
                <a16:creationId xmlns:a16="http://schemas.microsoft.com/office/drawing/2014/main" id="{5AE49825-631C-47AE-A615-593704245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651" y="4291314"/>
            <a:ext cx="416242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513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975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Convolution </a:t>
            </a:r>
            <a:r>
              <a:rPr lang="ko-KR" altLang="en-US" sz="3600" b="1" dirty="0" err="1">
                <a:solidFill>
                  <a:schemeClr val="bg1"/>
                </a:solidFill>
              </a:rPr>
              <a:t>연산후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</a:rPr>
              <a:t>Feature Map </a:t>
            </a:r>
            <a:r>
              <a:rPr lang="ko-KR" altLang="en-US" sz="3600" b="1" dirty="0">
                <a:solidFill>
                  <a:schemeClr val="bg1"/>
                </a:solidFill>
              </a:rPr>
              <a:t>크기 계산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1076959" y="2372262"/>
            <a:ext cx="10395592" cy="4263479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894079" y="2235202"/>
            <a:ext cx="10395592" cy="4406338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fontAlgn="base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373C46"/>
              </a:solidFill>
              <a:effectLst/>
              <a:latin typeface="Noto Sans KR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210056" y="1488765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816295" y="1476652"/>
            <a:ext cx="511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ko-KR" altLang="en-US" sz="2400" b="1" i="0" dirty="0">
                <a:effectLst/>
                <a:latin typeface="Noto Sans KR"/>
              </a:rPr>
              <a:t> </a:t>
            </a:r>
            <a:r>
              <a:rPr lang="en-US" altLang="ko-KR" sz="2400" b="1" i="0" dirty="0">
                <a:effectLst/>
                <a:latin typeface="Noto Sans KR"/>
              </a:rPr>
              <a:t>Stride</a:t>
            </a:r>
            <a:r>
              <a:rPr lang="ko-KR" altLang="en-US" sz="2400" b="1" i="0" dirty="0">
                <a:effectLst/>
                <a:latin typeface="Noto Sans KR"/>
              </a:rPr>
              <a:t>가 </a:t>
            </a:r>
            <a:r>
              <a:rPr lang="en-US" altLang="ko-KR" sz="2400" b="1" i="0" dirty="0">
                <a:effectLst/>
                <a:latin typeface="Noto Sans KR"/>
              </a:rPr>
              <a:t>1</a:t>
            </a:r>
            <a:r>
              <a:rPr lang="ko-KR" altLang="en-US" sz="2400" b="1" i="0" dirty="0">
                <a:effectLst/>
                <a:latin typeface="Noto Sans KR"/>
              </a:rPr>
              <a:t>이고 </a:t>
            </a:r>
            <a:r>
              <a:rPr lang="en-US" altLang="ko-KR" sz="2400" b="1" i="0" dirty="0">
                <a:effectLst/>
                <a:latin typeface="Noto Sans KR"/>
              </a:rPr>
              <a:t>Padding</a:t>
            </a:r>
            <a:r>
              <a:rPr lang="ko-KR" altLang="en-US" sz="2400" b="1" i="0" dirty="0">
                <a:effectLst/>
                <a:latin typeface="Noto Sans KR"/>
              </a:rPr>
              <a:t>이 없는 경우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B9BA450C-B496-48B8-BA4C-FF53E4953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441" y="2591669"/>
            <a:ext cx="5075574" cy="381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C986FC0-8494-4F02-BA42-09C3A740FFED}"/>
              </a:ext>
            </a:extLst>
          </p:cNvPr>
          <p:cNvSpPr txBox="1"/>
          <p:nvPr/>
        </p:nvSpPr>
        <p:spPr>
          <a:xfrm>
            <a:off x="6534339" y="3597800"/>
            <a:ext cx="45807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I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는 입력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Feature Map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의 크기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, </a:t>
            </a:r>
          </a:p>
          <a:p>
            <a:pPr algn="l" fontAlgn="base"/>
            <a:endParaRPr lang="en-US" altLang="ko-KR" b="0" i="0" dirty="0">
              <a:solidFill>
                <a:srgbClr val="373C46"/>
              </a:solidFill>
              <a:effectLst/>
              <a:latin typeface="Noto Sans KR"/>
            </a:endParaRPr>
          </a:p>
          <a:p>
            <a:pPr algn="l" fontAlgn="base"/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F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는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Filter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의 크기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(Kernel size), P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는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Padding(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정수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), S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는 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Strides(</a:t>
            </a:r>
            <a:r>
              <a:rPr lang="ko-KR" altLang="en-US" b="0" i="0" dirty="0">
                <a:solidFill>
                  <a:srgbClr val="373C46"/>
                </a:solidFill>
                <a:effectLst/>
                <a:latin typeface="Noto Sans KR"/>
              </a:rPr>
              <a:t>정수</a:t>
            </a:r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)</a:t>
            </a:r>
          </a:p>
          <a:p>
            <a:pPr algn="l" fontAlgn="base"/>
            <a:endParaRPr lang="en-US" altLang="ko-KR" b="0" i="0" dirty="0">
              <a:solidFill>
                <a:srgbClr val="373C46"/>
              </a:solidFill>
              <a:effectLst/>
              <a:latin typeface="Noto Sans KR"/>
            </a:endParaRPr>
          </a:p>
          <a:p>
            <a:pPr algn="l" fontAlgn="base"/>
            <a:r>
              <a:rPr lang="en-US" altLang="ko-KR" b="0" i="0" dirty="0">
                <a:solidFill>
                  <a:srgbClr val="373C46"/>
                </a:solidFill>
                <a:effectLst/>
                <a:latin typeface="Noto Sans KR"/>
              </a:rPr>
              <a:t>O = (I - F + 2P)/2 + 1 = (5 - 3 + 0)/1 + 1 = 3</a:t>
            </a:r>
          </a:p>
        </p:txBody>
      </p:sp>
    </p:spTree>
    <p:extLst>
      <p:ext uri="{BB962C8B-B14F-4D97-AF65-F5344CB8AC3E}">
        <p14:creationId xmlns:p14="http://schemas.microsoft.com/office/powerpoint/2010/main" val="2534877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975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용어 정리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타원 19"/>
          <p:cNvSpPr/>
          <p:nvPr/>
        </p:nvSpPr>
        <p:spPr>
          <a:xfrm>
            <a:off x="3210056" y="1488765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816295" y="1476652"/>
            <a:ext cx="511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ko-KR" altLang="en-US" sz="2400" b="1" i="0" dirty="0">
                <a:effectLst/>
                <a:latin typeface="Noto Sans KR"/>
              </a:rPr>
              <a:t> </a:t>
            </a:r>
            <a:r>
              <a:rPr lang="en-US" altLang="ko-KR" sz="2400" b="1" i="0" dirty="0">
                <a:effectLst/>
                <a:latin typeface="Noto Sans KR"/>
              </a:rPr>
              <a:t>CNN </a:t>
            </a:r>
            <a:r>
              <a:rPr lang="ko-KR" altLang="en-US" sz="2400" b="1" i="0" dirty="0">
                <a:effectLst/>
                <a:latin typeface="Noto Sans KR"/>
              </a:rPr>
              <a:t>핵심요소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E68785-2DC8-DA49-101C-022DFC15D7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0" y="2336800"/>
            <a:ext cx="10078857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46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975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용어 정리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타원 19"/>
          <p:cNvSpPr/>
          <p:nvPr/>
        </p:nvSpPr>
        <p:spPr>
          <a:xfrm>
            <a:off x="4524506" y="1575691"/>
            <a:ext cx="504694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130745" y="1563578"/>
            <a:ext cx="215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ko-KR" altLang="en-US" sz="2400" b="1" i="0" dirty="0">
                <a:effectLst/>
                <a:latin typeface="Noto Sans KR"/>
              </a:rPr>
              <a:t> </a:t>
            </a:r>
            <a:r>
              <a:rPr lang="en-US" altLang="ko-KR" sz="2400" b="1" i="0" dirty="0">
                <a:effectLst/>
                <a:latin typeface="Noto Sans KR"/>
              </a:rPr>
              <a:t>CNN </a:t>
            </a:r>
            <a:r>
              <a:rPr lang="ko-KR" altLang="en-US" sz="2400" b="1" i="0" dirty="0">
                <a:effectLst/>
                <a:latin typeface="Noto Sans KR"/>
              </a:rPr>
              <a:t>핵심요소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AB36C0F-C2F8-BD34-19F2-01619AAF69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136" y="2268855"/>
            <a:ext cx="10031225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58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탬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CA9AE"/>
      </a:accent1>
      <a:accent2>
        <a:srgbClr val="93C9D4"/>
      </a:accent2>
      <a:accent3>
        <a:srgbClr val="EBE2D9"/>
      </a:accent3>
      <a:accent4>
        <a:srgbClr val="FFC000"/>
      </a:accent4>
      <a:accent5>
        <a:srgbClr val="FECCB3"/>
      </a:accent5>
      <a:accent6>
        <a:srgbClr val="FF9763"/>
      </a:accent6>
      <a:hlink>
        <a:srgbClr val="0563C1"/>
      </a:hlink>
      <a:folHlink>
        <a:srgbClr val="954F72"/>
      </a:folHlink>
    </a:clrScheme>
    <a:fontScheme name="사용자 지정 3">
      <a:majorFont>
        <a:latin typeface="나눔고딕 ExtraBold"/>
        <a:ea typeface="맑은 고딕"/>
        <a:cs typeface=""/>
      </a:majorFont>
      <a:minorFont>
        <a:latin typeface="나눔바른고딕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2977</TotalTime>
  <Words>941</Words>
  <Application>Microsoft Office PowerPoint</Application>
  <PresentationFormat>와이드스크린</PresentationFormat>
  <Paragraphs>152</Paragraphs>
  <Slides>25</Slides>
  <Notes>22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5" baseType="lpstr">
      <vt:lpstr>applesdgothicneo-ultralight</vt:lpstr>
      <vt:lpstr>HY견고딕</vt:lpstr>
      <vt:lpstr>NanumSquare</vt:lpstr>
      <vt:lpstr>Noto Sans DemiLight</vt:lpstr>
      <vt:lpstr>Noto Sans KR</vt:lpstr>
      <vt:lpstr>나눔바른고딕</vt:lpstr>
      <vt:lpstr>맑은 고딕</vt:lpstr>
      <vt:lpstr>Arial</vt:lpstr>
      <vt:lpstr>Office 테마</vt:lpstr>
      <vt:lpstr>포장기 셸 개체</vt:lpstr>
      <vt:lpstr>너를 위한 CNN (합성곱 신경망)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최웅비</dc:creator>
  <cp:lastModifiedBy>tom</cp:lastModifiedBy>
  <cp:revision>298</cp:revision>
  <dcterms:created xsi:type="dcterms:W3CDTF">2017-06-16T14:09:50Z</dcterms:created>
  <dcterms:modified xsi:type="dcterms:W3CDTF">2024-10-09T09:07:49Z</dcterms:modified>
</cp:coreProperties>
</file>