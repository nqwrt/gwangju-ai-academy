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357" r:id="rId4"/>
    <p:sldId id="263" r:id="rId5"/>
    <p:sldId id="380" r:id="rId6"/>
    <p:sldId id="382" r:id="rId7"/>
    <p:sldId id="381" r:id="rId8"/>
    <p:sldId id="385" r:id="rId9"/>
    <p:sldId id="386" r:id="rId10"/>
    <p:sldId id="383" r:id="rId11"/>
    <p:sldId id="384" r:id="rId12"/>
    <p:sldId id="345" r:id="rId13"/>
    <p:sldId id="264" r:id="rId14"/>
    <p:sldId id="378" r:id="rId15"/>
    <p:sldId id="379" r:id="rId16"/>
    <p:sldId id="387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9D4"/>
    <a:srgbClr val="FECCB3"/>
    <a:srgbClr val="EBE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820" autoAdjust="0"/>
  </p:normalViewPr>
  <p:slideViewPr>
    <p:cSldViewPr snapToGrid="0">
      <p:cViewPr varScale="1">
        <p:scale>
          <a:sx n="90" d="100"/>
          <a:sy n="90" d="100"/>
        </p:scale>
        <p:origin x="66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9C5A5-FB7C-4404-8A54-1ABAD078A835}" type="datetimeFigureOut">
              <a:rPr lang="ko-KR" altLang="en-US" smtClean="0"/>
              <a:t>2024-10-26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DFDED-2E9F-41DA-A9FA-780DFF419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43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https://www.youtube.com/watch?v=DMCJ_GjBXwc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899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https://www.youtube.com/watch?v=DMCJ_GjBXwc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2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https://www.youtube.com/watch?v=DMCJ_GjBXwc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704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https://www.youtube.com/watch?v=DMCJ_GjBXwc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99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https://www.youtube.com/watch?v=DMCJ_GjBXwc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393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https://www.youtube.com/watch?v=DMCJ_GjBXwc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55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https://www.youtube.com/watch?v=DMCJ_GjBXwc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955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선형회귀 예제 </a:t>
            </a:r>
            <a:r>
              <a:rPr lang="en-US" altLang="ko-KR" dirty="0"/>
              <a:t>: http://clipsoft.co.kr/wp/blog/%EC%9D%B8%EA%B3%B5%EC%A7%80%EB%8A%A5%EC%9D%98-%EC%8B%9C%EC%9E%91-%EC%84%A0%ED%98%95%ED%9A%8C%EA%B7%80%EB%B6%84%EC%84%9D/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106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https://compmath.korea.ac.kr/deeplearning/BackPropagation.html#id10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760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https://compmath.korea.ac.kr/deeplearning/BackPropagation.html#id10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75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https://compmath.korea.ac.kr/deeplearning/BackPropagation.html#id10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547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2342F-D5AC-E568-28DD-AF56A44B1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590E38-50F6-77BD-2E59-1267BD54E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3EFDB9-BC24-57A4-44C6-30AF973F9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https://hi-guten-tag.tistory.com/211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5F808-EE9E-EA51-1F44-C995909D8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6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0"/>
          </p:nvPr>
        </p:nvSpPr>
        <p:spPr>
          <a:xfrm>
            <a:off x="838200" y="2041525"/>
            <a:ext cx="105156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0830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500325" y="302895"/>
            <a:ext cx="10515600" cy="7194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1797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5" name="직선 연결선 4"/>
          <p:cNvCxnSpPr/>
          <p:nvPr userDrawn="1"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8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9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6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7" name="직선 연결선 66"/>
          <p:cNvCxnSpPr/>
          <p:nvPr/>
        </p:nvCxnSpPr>
        <p:spPr>
          <a:xfrm>
            <a:off x="1282007" y="3297382"/>
            <a:ext cx="530352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제목 1"/>
          <p:cNvSpPr>
            <a:spLocks noGrp="1"/>
          </p:cNvSpPr>
          <p:nvPr>
            <p:ph type="title"/>
          </p:nvPr>
        </p:nvSpPr>
        <p:spPr>
          <a:xfrm>
            <a:off x="499620" y="2268214"/>
            <a:ext cx="6525379" cy="744862"/>
          </a:xfrm>
        </p:spPr>
        <p:txBody>
          <a:bodyPr/>
          <a:lstStyle/>
          <a:p>
            <a:pPr algn="ctr"/>
            <a: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너를 위한 오차 </a:t>
            </a:r>
            <a:r>
              <a:rPr lang="ko-KR" altLang="en-US" sz="4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역전파</a:t>
            </a:r>
            <a:b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sz="4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1" name="텍스트 개체 틀 70"/>
          <p:cNvSpPr>
            <a:spLocks noGrp="1"/>
          </p:cNvSpPr>
          <p:nvPr>
            <p:ph type="body" sz="quarter" idx="10"/>
          </p:nvPr>
        </p:nvSpPr>
        <p:spPr>
          <a:xfrm>
            <a:off x="1155007" y="3581689"/>
            <a:ext cx="5430520" cy="462914"/>
          </a:xfrm>
        </p:spPr>
        <p:txBody>
          <a:bodyPr/>
          <a:lstStyle/>
          <a:p>
            <a:pPr algn="ctr"/>
            <a:r>
              <a:rPr lang="ko-KR" altLang="en-US" sz="1800" dirty="0">
                <a:latin typeface="+mn-ea"/>
              </a:rPr>
              <a:t>강사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 err="1">
                <a:latin typeface="+mn-ea"/>
              </a:rPr>
              <a:t>쿵스보이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얼짱 뮤지션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420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278384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65172" y="317083"/>
            <a:ext cx="1453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 </a:t>
            </a:r>
            <a:r>
              <a:rPr lang="ko-KR" altLang="en-US" sz="4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례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210820" y="1148080"/>
            <a:ext cx="23622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783840" y="10160"/>
            <a:ext cx="94081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280122" y="1505866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001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80119" y="2654784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002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80118" y="3809283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003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36990" y="2689207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9530105" y="3282811"/>
            <a:ext cx="1002625" cy="1002625"/>
            <a:chOff x="7843891" y="896970"/>
            <a:chExt cx="1002625" cy="1002625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59" name="타원 58"/>
            <p:cNvSpPr/>
            <p:nvPr/>
          </p:nvSpPr>
          <p:spPr>
            <a:xfrm>
              <a:off x="7910432" y="972344"/>
              <a:ext cx="861703" cy="8617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43891" y="896970"/>
              <a:ext cx="1002625" cy="1002625"/>
            </a:xfrm>
            <a:prstGeom prst="rect">
              <a:avLst/>
            </a:prstGeom>
          </p:spPr>
        </p:pic>
      </p:grpSp>
      <p:grpSp>
        <p:nvGrpSpPr>
          <p:cNvPr id="61" name="그룹 60"/>
          <p:cNvGrpSpPr/>
          <p:nvPr/>
        </p:nvGrpSpPr>
        <p:grpSpPr>
          <a:xfrm>
            <a:off x="9119238" y="1331958"/>
            <a:ext cx="1126436" cy="1161619"/>
            <a:chOff x="9235480" y="796119"/>
            <a:chExt cx="1126436" cy="1161619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2" name="타원 61"/>
            <p:cNvSpPr/>
            <p:nvPr/>
          </p:nvSpPr>
          <p:spPr>
            <a:xfrm>
              <a:off x="9235480" y="796119"/>
              <a:ext cx="1126436" cy="11616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3" name="그림 6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16476">
              <a:off x="9330610" y="874558"/>
              <a:ext cx="903180" cy="903180"/>
            </a:xfrm>
            <a:prstGeom prst="rect">
              <a:avLst/>
            </a:prstGeom>
          </p:spPr>
        </p:pic>
      </p:grpSp>
      <p:grpSp>
        <p:nvGrpSpPr>
          <p:cNvPr id="64" name="그룹 63"/>
          <p:cNvGrpSpPr/>
          <p:nvPr/>
        </p:nvGrpSpPr>
        <p:grpSpPr>
          <a:xfrm>
            <a:off x="10532730" y="2216387"/>
            <a:ext cx="945641" cy="945641"/>
            <a:chOff x="10598624" y="1250741"/>
            <a:chExt cx="1554480" cy="1554480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5" name="타원 64"/>
            <p:cNvSpPr/>
            <p:nvPr/>
          </p:nvSpPr>
          <p:spPr>
            <a:xfrm>
              <a:off x="10598624" y="1250741"/>
              <a:ext cx="1554480" cy="155448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085" flipH="1">
              <a:off x="10659225" y="1313972"/>
              <a:ext cx="1428019" cy="1428019"/>
            </a:xfrm>
            <a:prstGeom prst="rect">
              <a:avLst/>
            </a:prstGeom>
          </p:spPr>
        </p:pic>
      </p:grpSp>
      <p:grpSp>
        <p:nvGrpSpPr>
          <p:cNvPr id="67" name="그룹 66"/>
          <p:cNvGrpSpPr/>
          <p:nvPr/>
        </p:nvGrpSpPr>
        <p:grpSpPr>
          <a:xfrm rot="20306595">
            <a:off x="10624080" y="4282562"/>
            <a:ext cx="759741" cy="759741"/>
            <a:chOff x="7234606" y="2818164"/>
            <a:chExt cx="1299384" cy="1299384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8" name="타원 67"/>
            <p:cNvSpPr/>
            <p:nvPr/>
          </p:nvSpPr>
          <p:spPr>
            <a:xfrm>
              <a:off x="7234606" y="2818164"/>
              <a:ext cx="1299384" cy="129938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68018">
              <a:off x="7348859" y="2906585"/>
              <a:ext cx="1028390" cy="1028390"/>
            </a:xfrm>
            <a:prstGeom prst="rect">
              <a:avLst/>
            </a:prstGeom>
          </p:spPr>
        </p:pic>
      </p:grpSp>
      <p:grpSp>
        <p:nvGrpSpPr>
          <p:cNvPr id="70" name="그룹 69"/>
          <p:cNvGrpSpPr/>
          <p:nvPr/>
        </p:nvGrpSpPr>
        <p:grpSpPr>
          <a:xfrm>
            <a:off x="10452677" y="43225"/>
            <a:ext cx="1384615" cy="1421211"/>
            <a:chOff x="6525279" y="4005131"/>
            <a:chExt cx="1384615" cy="1421211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71" name="타원 70"/>
            <p:cNvSpPr/>
            <p:nvPr/>
          </p:nvSpPr>
          <p:spPr>
            <a:xfrm rot="20906056">
              <a:off x="6536395" y="4005131"/>
              <a:ext cx="1373499" cy="142121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/>
          </p:nvGrpSpPr>
          <p:grpSpPr>
            <a:xfrm rot="21039598">
              <a:off x="6525279" y="4253758"/>
              <a:ext cx="1271708" cy="937561"/>
              <a:chOff x="8426887" y="595056"/>
              <a:chExt cx="1484025" cy="1094091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6887" y="595056"/>
                <a:ext cx="965288" cy="965288"/>
              </a:xfrm>
              <a:prstGeom prst="rect">
                <a:avLst/>
              </a:prstGeom>
            </p:spPr>
          </p:pic>
          <p:pic>
            <p:nvPicPr>
              <p:cNvPr id="74" name="그림 7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929" y="644056"/>
                <a:ext cx="702983" cy="702983"/>
              </a:xfrm>
              <a:prstGeom prst="rect">
                <a:avLst/>
              </a:prstGeom>
            </p:spPr>
          </p:pic>
          <p:pic>
            <p:nvPicPr>
              <p:cNvPr id="75" name="그림 7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85081" y="1318496"/>
                <a:ext cx="370651" cy="370651"/>
              </a:xfrm>
              <a:prstGeom prst="rect">
                <a:avLst/>
              </a:prstGeom>
            </p:spPr>
          </p:pic>
        </p:grpSp>
      </p:grp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66"/>
          <a:stretch/>
        </p:blipFill>
        <p:spPr>
          <a:xfrm>
            <a:off x="9530105" y="5088077"/>
            <a:ext cx="2307788" cy="1780083"/>
          </a:xfrm>
          <a:prstGeom prst="rect">
            <a:avLst/>
          </a:prstGeom>
        </p:spPr>
      </p:pic>
      <p:cxnSp>
        <p:nvCxnSpPr>
          <p:cNvPr id="78" name="직선 연결선 77"/>
          <p:cNvCxnSpPr/>
          <p:nvPr/>
        </p:nvCxnSpPr>
        <p:spPr>
          <a:xfrm>
            <a:off x="3367206" y="189641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3377366" y="3048733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3367206" y="421046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157D04D-67E5-41EA-95DA-C4B2AA7A093E}"/>
              </a:ext>
            </a:extLst>
          </p:cNvPr>
          <p:cNvSpPr txBox="1"/>
          <p:nvPr/>
        </p:nvSpPr>
        <p:spPr>
          <a:xfrm>
            <a:off x="4167752" y="1505866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오차 </a:t>
            </a:r>
            <a:r>
              <a:rPr lang="ko-KR" altLang="en-US" sz="2800" b="1" dirty="0" err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역전파</a:t>
            </a:r>
            <a:endParaRPr lang="ko-KR" altLang="en-US" sz="2800" b="1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2C9F33-37B7-494E-B56E-526CCBE5D91B}"/>
              </a:ext>
            </a:extLst>
          </p:cNvPr>
          <p:cNvSpPr txBox="1"/>
          <p:nvPr/>
        </p:nvSpPr>
        <p:spPr>
          <a:xfrm>
            <a:off x="3293623" y="4952025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004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246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278384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65172" y="317083"/>
            <a:ext cx="1453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 </a:t>
            </a:r>
            <a:r>
              <a:rPr lang="ko-KR" altLang="en-US" sz="4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례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210820" y="1148080"/>
            <a:ext cx="23622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783840" y="10160"/>
            <a:ext cx="94081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280122" y="1505866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005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80119" y="2654784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006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80118" y="3809283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007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36990" y="2689207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9530105" y="3282811"/>
            <a:ext cx="1002625" cy="1002625"/>
            <a:chOff x="7843891" y="896970"/>
            <a:chExt cx="1002625" cy="1002625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59" name="타원 58"/>
            <p:cNvSpPr/>
            <p:nvPr/>
          </p:nvSpPr>
          <p:spPr>
            <a:xfrm>
              <a:off x="7910432" y="972344"/>
              <a:ext cx="861703" cy="8617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43891" y="896970"/>
              <a:ext cx="1002625" cy="1002625"/>
            </a:xfrm>
            <a:prstGeom prst="rect">
              <a:avLst/>
            </a:prstGeom>
          </p:spPr>
        </p:pic>
      </p:grpSp>
      <p:grpSp>
        <p:nvGrpSpPr>
          <p:cNvPr id="61" name="그룹 60"/>
          <p:cNvGrpSpPr/>
          <p:nvPr/>
        </p:nvGrpSpPr>
        <p:grpSpPr>
          <a:xfrm>
            <a:off x="9119238" y="1331958"/>
            <a:ext cx="1126436" cy="1161619"/>
            <a:chOff x="9235480" y="796119"/>
            <a:chExt cx="1126436" cy="1161619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2" name="타원 61"/>
            <p:cNvSpPr/>
            <p:nvPr/>
          </p:nvSpPr>
          <p:spPr>
            <a:xfrm>
              <a:off x="9235480" y="796119"/>
              <a:ext cx="1126436" cy="11616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3" name="그림 6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16476">
              <a:off x="9330610" y="874558"/>
              <a:ext cx="903180" cy="903180"/>
            </a:xfrm>
            <a:prstGeom prst="rect">
              <a:avLst/>
            </a:prstGeom>
          </p:spPr>
        </p:pic>
      </p:grpSp>
      <p:grpSp>
        <p:nvGrpSpPr>
          <p:cNvPr id="64" name="그룹 63"/>
          <p:cNvGrpSpPr/>
          <p:nvPr/>
        </p:nvGrpSpPr>
        <p:grpSpPr>
          <a:xfrm>
            <a:off x="10532730" y="2216387"/>
            <a:ext cx="945641" cy="945641"/>
            <a:chOff x="10598624" y="1250741"/>
            <a:chExt cx="1554480" cy="1554480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5" name="타원 64"/>
            <p:cNvSpPr/>
            <p:nvPr/>
          </p:nvSpPr>
          <p:spPr>
            <a:xfrm>
              <a:off x="10598624" y="1250741"/>
              <a:ext cx="1554480" cy="155448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085" flipH="1">
              <a:off x="10659225" y="1313972"/>
              <a:ext cx="1428019" cy="1428019"/>
            </a:xfrm>
            <a:prstGeom prst="rect">
              <a:avLst/>
            </a:prstGeom>
          </p:spPr>
        </p:pic>
      </p:grpSp>
      <p:grpSp>
        <p:nvGrpSpPr>
          <p:cNvPr id="67" name="그룹 66"/>
          <p:cNvGrpSpPr/>
          <p:nvPr/>
        </p:nvGrpSpPr>
        <p:grpSpPr>
          <a:xfrm rot="20306595">
            <a:off x="10624080" y="4282562"/>
            <a:ext cx="759741" cy="759741"/>
            <a:chOff x="7234606" y="2818164"/>
            <a:chExt cx="1299384" cy="1299384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8" name="타원 67"/>
            <p:cNvSpPr/>
            <p:nvPr/>
          </p:nvSpPr>
          <p:spPr>
            <a:xfrm>
              <a:off x="7234606" y="2818164"/>
              <a:ext cx="1299384" cy="129938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68018">
              <a:off x="7348859" y="2906585"/>
              <a:ext cx="1028390" cy="1028390"/>
            </a:xfrm>
            <a:prstGeom prst="rect">
              <a:avLst/>
            </a:prstGeom>
          </p:spPr>
        </p:pic>
      </p:grpSp>
      <p:grpSp>
        <p:nvGrpSpPr>
          <p:cNvPr id="70" name="그룹 69"/>
          <p:cNvGrpSpPr/>
          <p:nvPr/>
        </p:nvGrpSpPr>
        <p:grpSpPr>
          <a:xfrm>
            <a:off x="10452677" y="43225"/>
            <a:ext cx="1384615" cy="1421211"/>
            <a:chOff x="6525279" y="4005131"/>
            <a:chExt cx="1384615" cy="1421211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71" name="타원 70"/>
            <p:cNvSpPr/>
            <p:nvPr/>
          </p:nvSpPr>
          <p:spPr>
            <a:xfrm rot="20906056">
              <a:off x="6536395" y="4005131"/>
              <a:ext cx="1373499" cy="142121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/>
          </p:nvGrpSpPr>
          <p:grpSpPr>
            <a:xfrm rot="21039598">
              <a:off x="6525279" y="4253758"/>
              <a:ext cx="1271708" cy="937561"/>
              <a:chOff x="8426887" y="595056"/>
              <a:chExt cx="1484025" cy="1094091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6887" y="595056"/>
                <a:ext cx="965288" cy="965288"/>
              </a:xfrm>
              <a:prstGeom prst="rect">
                <a:avLst/>
              </a:prstGeom>
            </p:spPr>
          </p:pic>
          <p:pic>
            <p:nvPicPr>
              <p:cNvPr id="74" name="그림 7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929" y="644056"/>
                <a:ext cx="702983" cy="702983"/>
              </a:xfrm>
              <a:prstGeom prst="rect">
                <a:avLst/>
              </a:prstGeom>
            </p:spPr>
          </p:pic>
          <p:pic>
            <p:nvPicPr>
              <p:cNvPr id="75" name="그림 7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85081" y="1318496"/>
                <a:ext cx="370651" cy="370651"/>
              </a:xfrm>
              <a:prstGeom prst="rect">
                <a:avLst/>
              </a:prstGeom>
            </p:spPr>
          </p:pic>
        </p:grpSp>
      </p:grp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66"/>
          <a:stretch/>
        </p:blipFill>
        <p:spPr>
          <a:xfrm>
            <a:off x="9530105" y="5088077"/>
            <a:ext cx="2307788" cy="1780083"/>
          </a:xfrm>
          <a:prstGeom prst="rect">
            <a:avLst/>
          </a:prstGeom>
        </p:spPr>
      </p:pic>
      <p:cxnSp>
        <p:nvCxnSpPr>
          <p:cNvPr id="78" name="직선 연결선 77"/>
          <p:cNvCxnSpPr/>
          <p:nvPr/>
        </p:nvCxnSpPr>
        <p:spPr>
          <a:xfrm>
            <a:off x="3367206" y="189641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3377366" y="3048733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3367206" y="421046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157D04D-67E5-41EA-95DA-C4B2AA7A093E}"/>
              </a:ext>
            </a:extLst>
          </p:cNvPr>
          <p:cNvSpPr txBox="1"/>
          <p:nvPr/>
        </p:nvSpPr>
        <p:spPr>
          <a:xfrm>
            <a:off x="4167752" y="150586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크로스 엔트로피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2C9F33-37B7-494E-B56E-526CCBE5D91B}"/>
              </a:ext>
            </a:extLst>
          </p:cNvPr>
          <p:cNvSpPr txBox="1"/>
          <p:nvPr/>
        </p:nvSpPr>
        <p:spPr>
          <a:xfrm>
            <a:off x="3293623" y="4952025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008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120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22640" y="0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595510" y="4123874"/>
            <a:ext cx="419608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>
            <a:cxnSpLocks/>
          </p:cNvCxnSpPr>
          <p:nvPr/>
        </p:nvCxnSpPr>
        <p:spPr>
          <a:xfrm>
            <a:off x="3132979" y="5031041"/>
            <a:ext cx="5055772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71928" y="3429000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오차 </a:t>
            </a:r>
            <a:r>
              <a:rPr lang="ko-KR" altLang="en-US" sz="3200" b="1" dirty="0" err="1"/>
              <a:t>역전파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51816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95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오차 </a:t>
            </a:r>
            <a:r>
              <a:rPr lang="ko-KR" altLang="en-US" sz="3600" b="1" dirty="0" err="1">
                <a:solidFill>
                  <a:schemeClr val="bg1"/>
                </a:solidFill>
              </a:rPr>
              <a:t>역전파</a:t>
            </a:r>
            <a:r>
              <a:rPr lang="en-US" altLang="ko-KR" sz="3600" b="1" dirty="0">
                <a:solidFill>
                  <a:schemeClr val="bg1"/>
                </a:solidFill>
              </a:rPr>
              <a:t>(</a:t>
            </a:r>
            <a:r>
              <a:rPr lang="en-US" altLang="ko-KR" sz="3600" b="1" dirty="0">
                <a:solidFill>
                  <a:schemeClr val="bg1"/>
                </a:solidFill>
                <a:latin typeface="+mj-lt"/>
              </a:rPr>
              <a:t>Back-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+mj-lt"/>
              </a:rPr>
              <a:t>propagation</a:t>
            </a:r>
            <a:r>
              <a:rPr lang="en-US" altLang="ko-KR" sz="3600" b="1" dirty="0">
                <a:solidFill>
                  <a:schemeClr val="bg1"/>
                </a:solidFill>
              </a:rPr>
              <a:t>)</a:t>
            </a:r>
            <a:r>
              <a:rPr lang="ko-KR" altLang="en-US" sz="3600" b="1" dirty="0">
                <a:solidFill>
                  <a:schemeClr val="bg1"/>
                </a:solidFill>
              </a:rPr>
              <a:t>의 배경</a:t>
            </a:r>
            <a:r>
              <a:rPr lang="en-US" altLang="ko-KR" sz="36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A1CD9936-9180-D4B6-DBC0-864231D231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575" y="1584959"/>
            <a:ext cx="11080849" cy="496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865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95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오차 </a:t>
            </a:r>
            <a:r>
              <a:rPr lang="ko-KR" altLang="en-US" sz="3600" b="1" dirty="0" err="1">
                <a:solidFill>
                  <a:schemeClr val="bg1"/>
                </a:solidFill>
              </a:rPr>
              <a:t>역전파</a:t>
            </a:r>
            <a:r>
              <a:rPr lang="en-US" altLang="ko-KR" sz="3600" b="1" dirty="0">
                <a:solidFill>
                  <a:schemeClr val="bg1"/>
                </a:solidFill>
              </a:rPr>
              <a:t>(</a:t>
            </a:r>
            <a:r>
              <a:rPr lang="en-US" altLang="ko-KR" sz="3600" b="1" dirty="0">
                <a:solidFill>
                  <a:schemeClr val="bg1"/>
                </a:solidFill>
                <a:latin typeface="+mj-lt"/>
              </a:rPr>
              <a:t>Back-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+mj-lt"/>
              </a:rPr>
              <a:t>propagation</a:t>
            </a:r>
            <a:r>
              <a:rPr lang="en-US" altLang="ko-KR" sz="3600" b="1" dirty="0">
                <a:solidFill>
                  <a:schemeClr val="bg1"/>
                </a:solidFill>
              </a:rPr>
              <a:t>)</a:t>
            </a:r>
            <a:r>
              <a:rPr lang="ko-KR" altLang="en-US" sz="3600" b="1" dirty="0">
                <a:solidFill>
                  <a:schemeClr val="bg1"/>
                </a:solidFill>
              </a:rPr>
              <a:t>의 배경</a:t>
            </a:r>
            <a:r>
              <a:rPr lang="en-US" altLang="ko-KR" sz="36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00AE04C7-6E45-D08C-58BF-5B97083CFE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799" y="1314549"/>
            <a:ext cx="10353675" cy="528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369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95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오차 </a:t>
            </a:r>
            <a:r>
              <a:rPr lang="ko-KR" altLang="en-US" sz="3600" b="1" dirty="0" err="1">
                <a:solidFill>
                  <a:schemeClr val="bg1"/>
                </a:solidFill>
              </a:rPr>
              <a:t>역전파</a:t>
            </a:r>
            <a:r>
              <a:rPr lang="en-US" altLang="ko-KR" sz="3600" b="1" dirty="0">
                <a:solidFill>
                  <a:schemeClr val="bg1"/>
                </a:solidFill>
              </a:rPr>
              <a:t>(</a:t>
            </a:r>
            <a:r>
              <a:rPr lang="en-US" altLang="ko-KR" sz="3600" b="1" dirty="0">
                <a:solidFill>
                  <a:schemeClr val="bg1"/>
                </a:solidFill>
                <a:latin typeface="+mj-lt"/>
              </a:rPr>
              <a:t>Back-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+mj-lt"/>
              </a:rPr>
              <a:t>propagation</a:t>
            </a:r>
            <a:r>
              <a:rPr lang="en-US" altLang="ko-KR" sz="3600" b="1" dirty="0">
                <a:solidFill>
                  <a:schemeClr val="bg1"/>
                </a:solidFill>
              </a:rPr>
              <a:t>)</a:t>
            </a:r>
            <a:r>
              <a:rPr lang="ko-KR" altLang="en-US" sz="3600" b="1" dirty="0">
                <a:solidFill>
                  <a:schemeClr val="bg1"/>
                </a:solidFill>
              </a:rPr>
              <a:t>의 배경</a:t>
            </a:r>
            <a:r>
              <a:rPr lang="en-US" altLang="ko-KR" sz="36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F5AA19C-BE03-AE31-5006-0594B59196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544320"/>
            <a:ext cx="12192000" cy="496108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4E6104A-97B1-6976-061F-8BFFE9BDD5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5395" y="5329555"/>
            <a:ext cx="8016106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4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3740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순전파와 </a:t>
            </a:r>
            <a:r>
              <a:rPr lang="ko-KR" altLang="en-US" sz="3600" b="1" dirty="0" err="1">
                <a:solidFill>
                  <a:schemeClr val="bg1"/>
                </a:solidFill>
              </a:rPr>
              <a:t>역전파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5E4119A0-A7EF-E5CF-922D-A31644B274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" y="1595119"/>
            <a:ext cx="11201400" cy="502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021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3740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순전파와 </a:t>
            </a:r>
            <a:r>
              <a:rPr lang="ko-KR" altLang="en-US" sz="3600" b="1" dirty="0" err="1">
                <a:solidFill>
                  <a:schemeClr val="bg1"/>
                </a:solidFill>
              </a:rPr>
              <a:t>역전파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61B817AA-FF8D-B9B9-ABCD-E70FEA3BA1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" y="1794410"/>
            <a:ext cx="11458575" cy="489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10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3278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체인 룰의 이해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54C632F8-FB54-0173-A1FF-5A68F058EE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045" y="1794409"/>
            <a:ext cx="10097909" cy="476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72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3278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체인 룰의 이해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C66265E-86AF-5A33-15C4-D563261DC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413" y="1398169"/>
            <a:ext cx="10555173" cy="537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29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6748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오차 </a:t>
            </a:r>
            <a:r>
              <a:rPr lang="ko-KR" altLang="en-US" sz="3600" b="1" dirty="0" err="1">
                <a:solidFill>
                  <a:schemeClr val="bg1"/>
                </a:solidFill>
              </a:rPr>
              <a:t>역전파</a:t>
            </a:r>
            <a:r>
              <a:rPr lang="en-US" altLang="ko-KR" sz="3600" b="1" dirty="0">
                <a:solidFill>
                  <a:schemeClr val="bg1"/>
                </a:solidFill>
              </a:rPr>
              <a:t>(</a:t>
            </a:r>
            <a:r>
              <a:rPr lang="en-US" altLang="ko-KR" sz="3600" b="1" dirty="0">
                <a:solidFill>
                  <a:schemeClr val="bg1"/>
                </a:solidFill>
                <a:latin typeface="+mj-lt"/>
              </a:rPr>
              <a:t>Back-</a:t>
            </a:r>
            <a:r>
              <a:rPr lang="en-US" altLang="ko-KR" sz="3600" b="0" i="0" dirty="0">
                <a:solidFill>
                  <a:schemeClr val="bg1"/>
                </a:solidFill>
                <a:effectLst/>
                <a:latin typeface="+mj-lt"/>
              </a:rPr>
              <a:t>propagation</a:t>
            </a:r>
            <a:r>
              <a:rPr lang="en-US" altLang="ko-KR" sz="3600" b="1" dirty="0">
                <a:solidFill>
                  <a:schemeClr val="bg1"/>
                </a:solidFill>
              </a:rPr>
              <a:t>)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EB984C-743A-4688-B709-616643CD5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62" y="2157028"/>
            <a:ext cx="10606614" cy="370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901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4201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다층 뉴런의 </a:t>
            </a:r>
            <a:r>
              <a:rPr lang="ko-KR" altLang="en-US" sz="3600" b="1" dirty="0" err="1">
                <a:solidFill>
                  <a:schemeClr val="bg1"/>
                </a:solidFill>
              </a:rPr>
              <a:t>역전파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9B9DF1-DEB2-4BF4-A77B-CCC282CC8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380" y="1574800"/>
            <a:ext cx="8176553" cy="470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343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4201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계산 그래프의 이용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34E5C870-30E4-45A8-A4FF-EBD654702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26640"/>
            <a:ext cx="11582400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278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4663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계산 그래프의 </a:t>
            </a:r>
            <a:r>
              <a:rPr lang="ko-KR" altLang="en-US" sz="3600" b="1" dirty="0" err="1">
                <a:solidFill>
                  <a:schemeClr val="bg1"/>
                </a:solidFill>
              </a:rPr>
              <a:t>역전파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34E5C870-30E4-45A8-A4FF-EBD654702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43" y="2126749"/>
            <a:ext cx="5095677" cy="334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A8FE3217-BB09-45CE-9CE8-511C9319D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960" y="2517996"/>
            <a:ext cx="53721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766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D11A3-04A4-E1D3-ED00-2CBAED7E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BEEC0810-25D8-A45A-33E5-1FF24906AD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4A2A87A-FA4D-FF32-C1F3-DA4725BB7B82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A4BA3C-9CB7-F27A-C0BF-F5980A02EF7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85978DA-237A-3BF4-517C-5671713AB845}"/>
              </a:ext>
            </a:extLst>
          </p:cNvPr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60EA6F-F91A-AB14-6B91-7A9DF4129C15}"/>
              </a:ext>
            </a:extLst>
          </p:cNvPr>
          <p:cNvSpPr txBox="1"/>
          <p:nvPr/>
        </p:nvSpPr>
        <p:spPr>
          <a:xfrm>
            <a:off x="1473200" y="375920"/>
            <a:ext cx="4201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덧셈 노드의 </a:t>
            </a:r>
            <a:r>
              <a:rPr lang="ko-KR" altLang="en-US" sz="3600" b="1" dirty="0" err="1">
                <a:solidFill>
                  <a:schemeClr val="bg1"/>
                </a:solidFill>
              </a:rPr>
              <a:t>역전파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50C5201-D3AA-72EA-63AD-26C873836B44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1DB6781-88C2-B916-A37C-5A12CF47E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8AEE448-FE4C-0FB0-0BF7-99D598185F24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F79528-EA05-C22B-8A9B-92247F428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17" y="2624455"/>
            <a:ext cx="7023357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21D0CA-C50D-585D-A345-3077F12ED5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4020" y="2671657"/>
            <a:ext cx="3801005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86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탬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CA9AE"/>
      </a:accent1>
      <a:accent2>
        <a:srgbClr val="93C9D4"/>
      </a:accent2>
      <a:accent3>
        <a:srgbClr val="EBE2D9"/>
      </a:accent3>
      <a:accent4>
        <a:srgbClr val="FFC000"/>
      </a:accent4>
      <a:accent5>
        <a:srgbClr val="FECCB3"/>
      </a:accent5>
      <a:accent6>
        <a:srgbClr val="FF9763"/>
      </a:accent6>
      <a:hlink>
        <a:srgbClr val="0563C1"/>
      </a:hlink>
      <a:folHlink>
        <a:srgbClr val="954F72"/>
      </a:folHlink>
    </a:clrScheme>
    <a:fontScheme name="사용자 지정 3">
      <a:majorFont>
        <a:latin typeface="나눔고딕 ExtraBold"/>
        <a:ea typeface="맑은 고딕"/>
        <a:cs typeface=""/>
      </a:majorFont>
      <a:minorFont>
        <a:latin typeface="나눔바른고딕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3418</TotalTime>
  <Words>340</Words>
  <Application>Microsoft Office PowerPoint</Application>
  <PresentationFormat>와이드스크린</PresentationFormat>
  <Paragraphs>52</Paragraphs>
  <Slides>16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HY견고딕</vt:lpstr>
      <vt:lpstr>나눔바른고딕</vt:lpstr>
      <vt:lpstr>맑은 고딕</vt:lpstr>
      <vt:lpstr>Arial</vt:lpstr>
      <vt:lpstr>Office 테마</vt:lpstr>
      <vt:lpstr>   너를 위한 오차 역전파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최웅비</dc:creator>
  <cp:lastModifiedBy>tom</cp:lastModifiedBy>
  <cp:revision>328</cp:revision>
  <dcterms:created xsi:type="dcterms:W3CDTF">2017-06-16T14:09:50Z</dcterms:created>
  <dcterms:modified xsi:type="dcterms:W3CDTF">2024-10-26T12:13:19Z</dcterms:modified>
</cp:coreProperties>
</file>