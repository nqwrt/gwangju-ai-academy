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4" r:id="rId3"/>
    <p:sldId id="344" r:id="rId4"/>
    <p:sldId id="345" r:id="rId5"/>
    <p:sldId id="347" r:id="rId6"/>
    <p:sldId id="349" r:id="rId7"/>
    <p:sldId id="352" r:id="rId8"/>
    <p:sldId id="346" r:id="rId9"/>
    <p:sldId id="353" r:id="rId10"/>
    <p:sldId id="287" r:id="rId11"/>
    <p:sldId id="354" r:id="rId12"/>
    <p:sldId id="355" r:id="rId13"/>
    <p:sldId id="356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C9D4"/>
    <a:srgbClr val="FECCB3"/>
    <a:srgbClr val="EBE2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0398" autoAdjust="0"/>
  </p:normalViewPr>
  <p:slideViewPr>
    <p:cSldViewPr snapToGrid="0">
      <p:cViewPr varScale="1">
        <p:scale>
          <a:sx n="90" d="100"/>
          <a:sy n="90" d="100"/>
        </p:scale>
        <p:origin x="66" y="3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19C5A5-FB7C-4404-8A54-1ABAD078A835}" type="datetimeFigureOut">
              <a:rPr lang="ko-KR" altLang="en-US" smtClean="0"/>
              <a:t>2024-10-07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3DFDED-2E9F-41DA-A9FA-780DFF4193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430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https://wondangcom.com/2039</a:t>
            </a:r>
          </a:p>
          <a:p>
            <a:r>
              <a:rPr lang="en-US" altLang="ko-KR"/>
              <a:t>https://brunch.co.kr/@cookery/165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5836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https://kjh-ai-blog.tistory.com/12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04802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https://lebi.tistory.com/18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6684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26" name="텍스트 개체 틀 25"/>
          <p:cNvSpPr>
            <a:spLocks noGrp="1"/>
          </p:cNvSpPr>
          <p:nvPr>
            <p:ph type="body" sz="quarter" idx="10"/>
          </p:nvPr>
        </p:nvSpPr>
        <p:spPr>
          <a:xfrm>
            <a:off x="838200" y="2041525"/>
            <a:ext cx="10515600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08305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1500325" y="302895"/>
            <a:ext cx="10515600" cy="71945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117979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5" name="직선 연결선 4"/>
          <p:cNvCxnSpPr/>
          <p:nvPr userDrawn="1"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383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5698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그림 6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67" name="직선 연결선 66"/>
          <p:cNvCxnSpPr/>
          <p:nvPr/>
        </p:nvCxnSpPr>
        <p:spPr>
          <a:xfrm>
            <a:off x="1282007" y="3297382"/>
            <a:ext cx="530352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제목 1"/>
          <p:cNvSpPr>
            <a:spLocks noGrp="1"/>
          </p:cNvSpPr>
          <p:nvPr>
            <p:ph type="title"/>
          </p:nvPr>
        </p:nvSpPr>
        <p:spPr>
          <a:xfrm>
            <a:off x="1282007" y="1856935"/>
            <a:ext cx="5639298" cy="1280159"/>
          </a:xfrm>
        </p:spPr>
        <p:txBody>
          <a:bodyPr/>
          <a:lstStyle/>
          <a:p>
            <a:pPr algn="ctr"/>
            <a:r>
              <a:rPr lang="ko-KR" altLang="en-US" sz="4000">
                <a:latin typeface="HY견고딕" panose="02030600000101010101" pitchFamily="18" charset="-127"/>
                <a:ea typeface="HY견고딕" panose="02030600000101010101" pitchFamily="18" charset="-127"/>
              </a:rPr>
              <a:t>너를 </a:t>
            </a:r>
            <a:r>
              <a: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위한 딥러닝</a:t>
            </a:r>
            <a:br>
              <a:rPr lang="en-US" altLang="ko-KR" sz="4000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r>
              <a:rPr lang="en-US" altLang="ko-KR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(AI - </a:t>
            </a:r>
            <a:r>
              <a: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개요</a:t>
            </a:r>
            <a:r>
              <a:rPr lang="en-US" altLang="ko-KR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endParaRPr lang="ko-KR" altLang="en-US" sz="4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1" name="텍스트 개체 틀 70"/>
          <p:cNvSpPr>
            <a:spLocks noGrp="1"/>
          </p:cNvSpPr>
          <p:nvPr>
            <p:ph type="body" sz="quarter" idx="10"/>
          </p:nvPr>
        </p:nvSpPr>
        <p:spPr>
          <a:xfrm>
            <a:off x="1155007" y="3581689"/>
            <a:ext cx="5430520" cy="462914"/>
          </a:xfrm>
        </p:spPr>
        <p:txBody>
          <a:bodyPr/>
          <a:lstStyle/>
          <a:p>
            <a:pPr algn="ctr"/>
            <a:r>
              <a:rPr lang="ko-KR" altLang="en-US" sz="1800" dirty="0">
                <a:latin typeface="+mn-ea"/>
              </a:rPr>
              <a:t>강사 </a:t>
            </a:r>
            <a:r>
              <a:rPr lang="en-US" altLang="ko-KR" sz="1800" dirty="0">
                <a:latin typeface="+mn-ea"/>
              </a:rPr>
              <a:t>: </a:t>
            </a:r>
            <a:r>
              <a:rPr lang="ko-KR" altLang="en-US" sz="1800" dirty="0" err="1">
                <a:latin typeface="+mn-ea"/>
              </a:rPr>
              <a:t>쿵스보이</a:t>
            </a:r>
            <a:r>
              <a:rPr lang="ko-KR" altLang="en-US" sz="1800" dirty="0">
                <a:latin typeface="+mn-ea"/>
              </a:rPr>
              <a:t> </a:t>
            </a:r>
            <a:r>
              <a:rPr lang="en-US" altLang="ko-KR" sz="1800" dirty="0">
                <a:latin typeface="+mn-ea"/>
              </a:rPr>
              <a:t>(</a:t>
            </a:r>
            <a:r>
              <a:rPr lang="ko-KR" altLang="en-US" sz="1800" dirty="0">
                <a:latin typeface="+mn-ea"/>
              </a:rPr>
              <a:t>얼짱 뮤지션</a:t>
            </a:r>
            <a:r>
              <a:rPr lang="en-US" altLang="ko-KR" sz="1800" dirty="0">
                <a:latin typeface="+mn-ea"/>
              </a:rPr>
              <a:t>)</a:t>
            </a:r>
            <a:endParaRPr lang="ko-KR" altLang="en-US" sz="1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84204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72030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</a:rPr>
              <a:t>인공지능 </a:t>
            </a:r>
            <a:r>
              <a:rPr lang="en-US" altLang="ko-KR" sz="3600" b="1" dirty="0">
                <a:solidFill>
                  <a:schemeClr val="bg1"/>
                </a:solidFill>
              </a:rPr>
              <a:t>VS </a:t>
            </a:r>
            <a:r>
              <a:rPr lang="ko-KR" altLang="en-US" sz="3600" b="1" dirty="0" err="1">
                <a:solidFill>
                  <a:schemeClr val="bg1"/>
                </a:solidFill>
              </a:rPr>
              <a:t>머신러닝</a:t>
            </a:r>
            <a:r>
              <a:rPr lang="ko-KR" altLang="en-US" sz="3600" b="1" dirty="0">
                <a:solidFill>
                  <a:schemeClr val="bg1"/>
                </a:solidFill>
              </a:rPr>
              <a:t> </a:t>
            </a:r>
            <a:r>
              <a:rPr lang="en-US" altLang="ko-KR" sz="3600" b="1" dirty="0">
                <a:solidFill>
                  <a:schemeClr val="bg1"/>
                </a:solidFill>
              </a:rPr>
              <a:t>VS</a:t>
            </a:r>
            <a:r>
              <a:rPr lang="ko-KR" altLang="en-US" sz="3600" b="1" dirty="0">
                <a:solidFill>
                  <a:schemeClr val="bg1"/>
                </a:solidFill>
              </a:rPr>
              <a:t> 딥러닝</a:t>
            </a:r>
            <a:r>
              <a:rPr lang="en-US" altLang="ko-KR" sz="3600" b="1" dirty="0">
                <a:solidFill>
                  <a:schemeClr val="bg1"/>
                </a:solidFill>
              </a:rPr>
              <a:t> 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모서리가 둥근 직사각형 15"/>
          <p:cNvSpPr/>
          <p:nvPr/>
        </p:nvSpPr>
        <p:spPr>
          <a:xfrm>
            <a:off x="894881" y="2464480"/>
            <a:ext cx="10982694" cy="4048079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712001" y="2291207"/>
            <a:ext cx="10982694" cy="4387226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>
                <a:latin typeface="+mn-ea"/>
                <a:sym typeface="Wingdings" panose="05000000000000000000" pitchFamily="2" charset="2"/>
              </a:rPr>
              <a:t>요소들을 자동으로 바꾸어 사이트를 구현하는 것이 바로 반응형 웹 디자인</a:t>
            </a:r>
            <a:endParaRPr lang="ko-KR" altLang="en-US" sz="1800" dirty="0">
              <a:latin typeface="+mn-ea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839469" y="1531312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325664" y="1529695"/>
            <a:ext cx="2557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용어에 대한 정의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D930772-39AE-48F3-BBE4-B8B4D54479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148" y="2454320"/>
            <a:ext cx="10223971" cy="3933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343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72030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</a:rPr>
              <a:t>인공지능 </a:t>
            </a:r>
            <a:r>
              <a:rPr lang="en-US" altLang="ko-KR" sz="3600" b="1" dirty="0">
                <a:solidFill>
                  <a:schemeClr val="bg1"/>
                </a:solidFill>
              </a:rPr>
              <a:t>VS </a:t>
            </a:r>
            <a:r>
              <a:rPr lang="ko-KR" altLang="en-US" sz="3600" b="1" dirty="0" err="1">
                <a:solidFill>
                  <a:schemeClr val="bg1"/>
                </a:solidFill>
              </a:rPr>
              <a:t>머신러닝</a:t>
            </a:r>
            <a:r>
              <a:rPr lang="ko-KR" altLang="en-US" sz="3600" b="1" dirty="0">
                <a:solidFill>
                  <a:schemeClr val="bg1"/>
                </a:solidFill>
              </a:rPr>
              <a:t> </a:t>
            </a:r>
            <a:r>
              <a:rPr lang="en-US" altLang="ko-KR" sz="3600" b="1" dirty="0">
                <a:solidFill>
                  <a:schemeClr val="bg1"/>
                </a:solidFill>
              </a:rPr>
              <a:t>VS</a:t>
            </a:r>
            <a:r>
              <a:rPr lang="ko-KR" altLang="en-US" sz="3600" b="1" dirty="0">
                <a:solidFill>
                  <a:schemeClr val="bg1"/>
                </a:solidFill>
              </a:rPr>
              <a:t> 딥러닝</a:t>
            </a:r>
            <a:r>
              <a:rPr lang="en-US" altLang="ko-KR" sz="3600" b="1" dirty="0">
                <a:solidFill>
                  <a:schemeClr val="bg1"/>
                </a:solidFill>
              </a:rPr>
              <a:t> 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모서리가 둥근 직사각형 15"/>
          <p:cNvSpPr/>
          <p:nvPr/>
        </p:nvSpPr>
        <p:spPr>
          <a:xfrm>
            <a:off x="894881" y="2464480"/>
            <a:ext cx="10982694" cy="4048079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712001" y="2291207"/>
            <a:ext cx="10982694" cy="4387226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>
                <a:latin typeface="+mn-ea"/>
                <a:sym typeface="Wingdings" panose="05000000000000000000" pitchFamily="2" charset="2"/>
              </a:rPr>
              <a:t>요소들을 자동으로 바꾸어 사이트를 구현하는 것이 바로 반응형 웹 디자인</a:t>
            </a:r>
            <a:endParaRPr lang="ko-KR" altLang="en-US" sz="1800" dirty="0">
              <a:latin typeface="+mn-ea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839469" y="1531312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325664" y="1529695"/>
            <a:ext cx="3172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인공지능에 대한 범주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1B2A613-AB57-43B5-BC42-48ED53ADF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647" y="2454320"/>
            <a:ext cx="10515402" cy="3882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86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72030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</a:rPr>
              <a:t>인공지능 </a:t>
            </a:r>
            <a:r>
              <a:rPr lang="en-US" altLang="ko-KR" sz="3600" b="1" dirty="0">
                <a:solidFill>
                  <a:schemeClr val="bg1"/>
                </a:solidFill>
              </a:rPr>
              <a:t>VS </a:t>
            </a:r>
            <a:r>
              <a:rPr lang="ko-KR" altLang="en-US" sz="3600" b="1" dirty="0" err="1">
                <a:solidFill>
                  <a:schemeClr val="bg1"/>
                </a:solidFill>
              </a:rPr>
              <a:t>머신러닝</a:t>
            </a:r>
            <a:r>
              <a:rPr lang="ko-KR" altLang="en-US" sz="3600" b="1" dirty="0">
                <a:solidFill>
                  <a:schemeClr val="bg1"/>
                </a:solidFill>
              </a:rPr>
              <a:t> </a:t>
            </a:r>
            <a:r>
              <a:rPr lang="en-US" altLang="ko-KR" sz="3600" b="1" dirty="0">
                <a:solidFill>
                  <a:schemeClr val="bg1"/>
                </a:solidFill>
              </a:rPr>
              <a:t>VS</a:t>
            </a:r>
            <a:r>
              <a:rPr lang="ko-KR" altLang="en-US" sz="3600" b="1" dirty="0">
                <a:solidFill>
                  <a:schemeClr val="bg1"/>
                </a:solidFill>
              </a:rPr>
              <a:t> 딥러닝</a:t>
            </a:r>
            <a:r>
              <a:rPr lang="en-US" altLang="ko-KR" sz="3600" b="1" dirty="0">
                <a:solidFill>
                  <a:schemeClr val="bg1"/>
                </a:solidFill>
              </a:rPr>
              <a:t> 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모서리가 둥근 직사각형 15"/>
          <p:cNvSpPr/>
          <p:nvPr/>
        </p:nvSpPr>
        <p:spPr>
          <a:xfrm>
            <a:off x="894881" y="2464480"/>
            <a:ext cx="10982694" cy="4048079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712001" y="2291207"/>
            <a:ext cx="10982694" cy="4387226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>
                <a:latin typeface="+mn-ea"/>
                <a:sym typeface="Wingdings" panose="05000000000000000000" pitchFamily="2" charset="2"/>
              </a:rPr>
              <a:t>요소들을 자동으로 바꾸어 사이트를 구현하는 것이 바로 반응형 웹 디자인</a:t>
            </a:r>
            <a:endParaRPr lang="ko-KR" altLang="en-US" sz="1800" dirty="0">
              <a:latin typeface="+mn-ea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839469" y="1531312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325664" y="1529695"/>
            <a:ext cx="3172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인공지능에 대한 범주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756CDB6-BF4F-454C-A4EE-1023F68DB9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962" y="2373041"/>
            <a:ext cx="3527366" cy="4019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38CFDDBE-A6FD-4C18-ADC3-383B73D9C5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9911" y="2454320"/>
            <a:ext cx="6553200" cy="401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441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72030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</a:rPr>
              <a:t>인공지능 </a:t>
            </a:r>
            <a:r>
              <a:rPr lang="en-US" altLang="ko-KR" sz="3600" b="1" dirty="0">
                <a:solidFill>
                  <a:schemeClr val="bg1"/>
                </a:solidFill>
              </a:rPr>
              <a:t>VS </a:t>
            </a:r>
            <a:r>
              <a:rPr lang="ko-KR" altLang="en-US" sz="3600" b="1" dirty="0" err="1">
                <a:solidFill>
                  <a:schemeClr val="bg1"/>
                </a:solidFill>
              </a:rPr>
              <a:t>머신러닝</a:t>
            </a:r>
            <a:r>
              <a:rPr lang="ko-KR" altLang="en-US" sz="3600" b="1" dirty="0">
                <a:solidFill>
                  <a:schemeClr val="bg1"/>
                </a:solidFill>
              </a:rPr>
              <a:t> </a:t>
            </a:r>
            <a:r>
              <a:rPr lang="en-US" altLang="ko-KR" sz="3600" b="1" dirty="0">
                <a:solidFill>
                  <a:schemeClr val="bg1"/>
                </a:solidFill>
              </a:rPr>
              <a:t>VS</a:t>
            </a:r>
            <a:r>
              <a:rPr lang="ko-KR" altLang="en-US" sz="3600" b="1" dirty="0">
                <a:solidFill>
                  <a:schemeClr val="bg1"/>
                </a:solidFill>
              </a:rPr>
              <a:t> 딥러닝</a:t>
            </a:r>
            <a:r>
              <a:rPr lang="en-US" altLang="ko-KR" sz="3600" b="1" dirty="0">
                <a:solidFill>
                  <a:schemeClr val="bg1"/>
                </a:solidFill>
              </a:rPr>
              <a:t> 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모서리가 둥근 직사각형 15">
            <a:extLst>
              <a:ext uri="{FF2B5EF4-FFF2-40B4-BE49-F238E27FC236}">
                <a16:creationId xmlns:a16="http://schemas.microsoft.com/office/drawing/2014/main" id="{5C89A9F3-D993-4C7A-86CE-4E6999FF5895}"/>
              </a:ext>
            </a:extLst>
          </p:cNvPr>
          <p:cNvSpPr/>
          <p:nvPr/>
        </p:nvSpPr>
        <p:spPr>
          <a:xfrm>
            <a:off x="925574" y="2476255"/>
            <a:ext cx="10299537" cy="593295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모서리가 둥근 직사각형 16">
            <a:extLst>
              <a:ext uri="{FF2B5EF4-FFF2-40B4-BE49-F238E27FC236}">
                <a16:creationId xmlns:a16="http://schemas.microsoft.com/office/drawing/2014/main" id="{026D876B-57FC-439B-ADC9-741DE82DA4F8}"/>
              </a:ext>
            </a:extLst>
          </p:cNvPr>
          <p:cNvSpPr/>
          <p:nvPr/>
        </p:nvSpPr>
        <p:spPr>
          <a:xfrm>
            <a:off x="837779" y="2377902"/>
            <a:ext cx="10299537" cy="593295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35748" marR="0" lvl="2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E84560"/>
              </a:buClr>
              <a:buSzTx/>
              <a:tabLst/>
              <a:defRPr/>
            </a:pP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E8456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471476" marR="0" lvl="2" indent="-135728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E8456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인공지능 </a:t>
            </a:r>
            <a:r>
              <a:rPr lang="en-US" altLang="ko-KR" sz="16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인지 능력을 모방하는 기계 공학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algn="ctr"/>
            <a:endParaRPr lang="ko-KR" altLang="en-US" dirty="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6E0832A3-99A8-4ADB-A017-4B7735E98B5F}"/>
              </a:ext>
            </a:extLst>
          </p:cNvPr>
          <p:cNvSpPr/>
          <p:nvPr/>
        </p:nvSpPr>
        <p:spPr>
          <a:xfrm>
            <a:off x="875244" y="1679802"/>
            <a:ext cx="509009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9BC183F9-24CD-4749-91C9-29B48E6EED21}"/>
              </a:ext>
            </a:extLst>
          </p:cNvPr>
          <p:cNvSpPr/>
          <p:nvPr/>
        </p:nvSpPr>
        <p:spPr>
          <a:xfrm>
            <a:off x="875244" y="4891077"/>
            <a:ext cx="479605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3</a:t>
            </a:r>
            <a:endParaRPr lang="ko-KR" altLang="en-US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2B6A14-1ACE-467A-B1A5-F1B0282A3392}"/>
              </a:ext>
            </a:extLst>
          </p:cNvPr>
          <p:cNvSpPr txBox="1"/>
          <p:nvPr/>
        </p:nvSpPr>
        <p:spPr>
          <a:xfrm>
            <a:off x="1361439" y="1678185"/>
            <a:ext cx="36037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 </a:t>
            </a:r>
            <a:r>
              <a:rPr lang="ko-KR" altLang="en-US" sz="2400" dirty="0"/>
              <a:t>인공지능</a:t>
            </a:r>
            <a:r>
              <a:rPr lang="en-US" altLang="ko-KR" sz="2400" dirty="0"/>
              <a:t>?</a:t>
            </a:r>
            <a:endParaRPr lang="ko-KR" altLang="en-US" sz="2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61E5DB-E65E-40C1-B247-02A150E8B8CF}"/>
              </a:ext>
            </a:extLst>
          </p:cNvPr>
          <p:cNvSpPr txBox="1"/>
          <p:nvPr/>
        </p:nvSpPr>
        <p:spPr>
          <a:xfrm>
            <a:off x="1500085" y="4942607"/>
            <a:ext cx="3119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딥러닝</a:t>
            </a:r>
          </a:p>
        </p:txBody>
      </p:sp>
      <p:sp>
        <p:nvSpPr>
          <p:cNvPr id="26" name="모서리가 둥근 직사각형 15">
            <a:extLst>
              <a:ext uri="{FF2B5EF4-FFF2-40B4-BE49-F238E27FC236}">
                <a16:creationId xmlns:a16="http://schemas.microsoft.com/office/drawing/2014/main" id="{D80674E4-A0DA-4FBC-995B-AE25D270843B}"/>
              </a:ext>
            </a:extLst>
          </p:cNvPr>
          <p:cNvSpPr/>
          <p:nvPr/>
        </p:nvSpPr>
        <p:spPr>
          <a:xfrm>
            <a:off x="1114003" y="5767209"/>
            <a:ext cx="10111107" cy="539010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모서리가 둥근 직사각형 16">
            <a:extLst>
              <a:ext uri="{FF2B5EF4-FFF2-40B4-BE49-F238E27FC236}">
                <a16:creationId xmlns:a16="http://schemas.microsoft.com/office/drawing/2014/main" id="{0B780C21-50DE-4567-82A3-4F796F31F2F7}"/>
              </a:ext>
            </a:extLst>
          </p:cNvPr>
          <p:cNvSpPr/>
          <p:nvPr/>
        </p:nvSpPr>
        <p:spPr>
          <a:xfrm>
            <a:off x="837778" y="5579958"/>
            <a:ext cx="10299537" cy="649352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i="0" dirty="0">
                <a:solidFill>
                  <a:srgbClr val="3B3F47"/>
                </a:solidFill>
                <a:effectLst/>
                <a:latin typeface="neue-haas-grotesk-text"/>
              </a:rPr>
              <a:t>딥 러닝</a:t>
            </a:r>
            <a:r>
              <a:rPr lang="en-US" altLang="ko-KR" b="0" i="0" dirty="0">
                <a:solidFill>
                  <a:srgbClr val="3B3F47"/>
                </a:solidFill>
                <a:effectLst/>
                <a:latin typeface="neue-haas-grotesk-text"/>
              </a:rPr>
              <a:t>: ‘</a:t>
            </a:r>
            <a:r>
              <a:rPr lang="ko-KR" altLang="en-US" b="0" i="0" dirty="0">
                <a:solidFill>
                  <a:srgbClr val="3B3F47"/>
                </a:solidFill>
                <a:effectLst/>
                <a:latin typeface="neue-haas-grotesk-text"/>
              </a:rPr>
              <a:t>인공 </a:t>
            </a:r>
            <a:r>
              <a:rPr lang="ko-KR" altLang="en-US" b="0" i="0" dirty="0" err="1">
                <a:solidFill>
                  <a:srgbClr val="3B3F47"/>
                </a:solidFill>
                <a:effectLst/>
                <a:latin typeface="neue-haas-grotesk-text"/>
              </a:rPr>
              <a:t>신경망’을</a:t>
            </a:r>
            <a:r>
              <a:rPr lang="ko-KR" altLang="en-US" b="0" i="0" dirty="0">
                <a:solidFill>
                  <a:srgbClr val="3B3F47"/>
                </a:solidFill>
                <a:effectLst/>
                <a:latin typeface="neue-haas-grotesk-text"/>
              </a:rPr>
              <a:t> 기반으로 하는 기계 학습</a:t>
            </a:r>
            <a:endParaRPr lang="ko-KR" altLang="en-US" dirty="0"/>
          </a:p>
        </p:txBody>
      </p:sp>
      <p:sp>
        <p:nvSpPr>
          <p:cNvPr id="32" name="모서리가 둥근 직사각형 15">
            <a:extLst>
              <a:ext uri="{FF2B5EF4-FFF2-40B4-BE49-F238E27FC236}">
                <a16:creationId xmlns:a16="http://schemas.microsoft.com/office/drawing/2014/main" id="{FE6F19C6-9B95-44AA-BE9E-99859694E4AE}"/>
              </a:ext>
            </a:extLst>
          </p:cNvPr>
          <p:cNvSpPr/>
          <p:nvPr/>
        </p:nvSpPr>
        <p:spPr>
          <a:xfrm>
            <a:off x="925574" y="4044133"/>
            <a:ext cx="10299537" cy="593295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모서리가 둥근 직사각형 16">
            <a:extLst>
              <a:ext uri="{FF2B5EF4-FFF2-40B4-BE49-F238E27FC236}">
                <a16:creationId xmlns:a16="http://schemas.microsoft.com/office/drawing/2014/main" id="{EFA2AAE2-A88D-45A3-B2BF-4FD6FDB08C5B}"/>
              </a:ext>
            </a:extLst>
          </p:cNvPr>
          <p:cNvSpPr/>
          <p:nvPr/>
        </p:nvSpPr>
        <p:spPr>
          <a:xfrm>
            <a:off x="837779" y="3945780"/>
            <a:ext cx="10299537" cy="593295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35748" marR="0" lvl="2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E84560"/>
              </a:buClr>
              <a:buSzTx/>
              <a:tabLst/>
              <a:defRPr/>
            </a:pP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E8456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600" b="1" i="0" dirty="0">
                <a:solidFill>
                  <a:srgbClr val="3B3F47"/>
                </a:solidFill>
                <a:effectLst/>
                <a:latin typeface="neue-haas-grotesk-text"/>
              </a:rPr>
              <a:t> </a:t>
            </a:r>
            <a:r>
              <a:rPr lang="ko-KR" altLang="en-US" sz="1600" b="1" i="0" dirty="0" err="1">
                <a:solidFill>
                  <a:srgbClr val="3B3F47"/>
                </a:solidFill>
                <a:effectLst/>
                <a:latin typeface="neue-haas-grotesk-text"/>
              </a:rPr>
              <a:t>머신러닝</a:t>
            </a:r>
            <a:r>
              <a:rPr lang="en-US" altLang="ko-KR" sz="1600" b="0" i="0" dirty="0">
                <a:solidFill>
                  <a:srgbClr val="3B3F47"/>
                </a:solidFill>
                <a:effectLst/>
                <a:latin typeface="neue-haas-grotesk-text"/>
              </a:rPr>
              <a:t>: </a:t>
            </a:r>
            <a:r>
              <a:rPr lang="ko-KR" altLang="en-US" sz="1600" b="0" i="0" dirty="0">
                <a:solidFill>
                  <a:srgbClr val="3B3F47"/>
                </a:solidFill>
                <a:effectLst/>
                <a:latin typeface="neue-haas-grotesk-text"/>
              </a:rPr>
              <a:t>명확한 지시 없이도 패턴에 의존하지 않고 작업을 수행할 수 있는 기계 학습</a:t>
            </a:r>
          </a:p>
          <a:p>
            <a:pPr algn="ctr"/>
            <a:endParaRPr lang="ko-KR" altLang="en-US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7C71B38F-D61A-43EC-95CE-D6AD70200B44}"/>
              </a:ext>
            </a:extLst>
          </p:cNvPr>
          <p:cNvSpPr/>
          <p:nvPr/>
        </p:nvSpPr>
        <p:spPr>
          <a:xfrm>
            <a:off x="875244" y="3247680"/>
            <a:ext cx="509009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2</a:t>
            </a:r>
            <a:endParaRPr lang="ko-KR" altLang="en-US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602EA38-4DE1-49CF-885B-215E28120E16}"/>
              </a:ext>
            </a:extLst>
          </p:cNvPr>
          <p:cNvSpPr txBox="1"/>
          <p:nvPr/>
        </p:nvSpPr>
        <p:spPr>
          <a:xfrm>
            <a:off x="1361439" y="3246063"/>
            <a:ext cx="36037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 </a:t>
            </a:r>
            <a:r>
              <a:rPr lang="ko-KR" altLang="en-US" sz="2400" dirty="0" err="1"/>
              <a:t>머신러닝</a:t>
            </a:r>
            <a:r>
              <a:rPr lang="en-US" altLang="ko-KR" sz="2400" dirty="0"/>
              <a:t>?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528697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37401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 err="1">
                <a:solidFill>
                  <a:schemeClr val="bg1"/>
                </a:solidFill>
              </a:rPr>
              <a:t>생활속</a:t>
            </a:r>
            <a:r>
              <a:rPr lang="ko-KR" altLang="en-US" sz="3600" b="1" dirty="0">
                <a:solidFill>
                  <a:schemeClr val="bg1"/>
                </a:solidFill>
              </a:rPr>
              <a:t> 인공지능</a:t>
            </a:r>
            <a:r>
              <a:rPr lang="en-US" altLang="ko-KR" sz="3600" b="1" dirty="0">
                <a:solidFill>
                  <a:schemeClr val="bg1"/>
                </a:solidFill>
              </a:rPr>
              <a:t> 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모서리가 둥근 직사각형 15"/>
          <p:cNvSpPr/>
          <p:nvPr/>
        </p:nvSpPr>
        <p:spPr>
          <a:xfrm>
            <a:off x="894881" y="2464480"/>
            <a:ext cx="10982694" cy="4048079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712001" y="2291207"/>
            <a:ext cx="10982694" cy="4387226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>
                <a:latin typeface="+mn-ea"/>
                <a:sym typeface="Wingdings" panose="05000000000000000000" pitchFamily="2" charset="2"/>
              </a:rPr>
              <a:t>요소들을 자동으로 바꾸어 사이트를 구현하는 것이 바로 반응형 웹 디자인</a:t>
            </a:r>
            <a:endParaRPr lang="ko-KR" altLang="en-US" sz="1800" dirty="0">
              <a:latin typeface="+mn-ea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839469" y="1531312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325664" y="1529695"/>
            <a:ext cx="52501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err="1"/>
              <a:t>생활속</a:t>
            </a:r>
            <a:r>
              <a:rPr lang="ko-KR" altLang="en-US" sz="2400" dirty="0"/>
              <a:t> 인공지능은 </a:t>
            </a:r>
            <a:r>
              <a:rPr lang="ko-KR" altLang="en-US" sz="2400" dirty="0" err="1"/>
              <a:t>어떤것이</a:t>
            </a:r>
            <a:r>
              <a:rPr lang="ko-KR" altLang="en-US" sz="2400" dirty="0"/>
              <a:t> 있을까</a:t>
            </a:r>
            <a:r>
              <a:rPr lang="en-US" altLang="ko-KR" sz="2400" dirty="0"/>
              <a:t>?</a:t>
            </a:r>
            <a:endParaRPr lang="ko-KR" altLang="en-US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CB917A-33F8-4364-8909-34EC75A0BE86}"/>
              </a:ext>
            </a:extLst>
          </p:cNvPr>
          <p:cNvSpPr txBox="1"/>
          <p:nvPr/>
        </p:nvSpPr>
        <p:spPr>
          <a:xfrm>
            <a:off x="1306829" y="2454320"/>
            <a:ext cx="993568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800" b="1" i="0" dirty="0">
                <a:solidFill>
                  <a:srgbClr val="333333"/>
                </a:solidFill>
                <a:effectLst/>
                <a:latin typeface="Noto Sans KR"/>
              </a:rPr>
              <a:t>자율 주행 자동차</a:t>
            </a:r>
            <a:r>
              <a:rPr lang="en-US" altLang="ko-KR" sz="1800" b="1" i="0" dirty="0">
                <a:solidFill>
                  <a:srgbClr val="333333"/>
                </a:solidFill>
                <a:effectLst/>
                <a:latin typeface="Noto Sans KR"/>
              </a:rPr>
              <a:t>: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  <a:t> 테슬라</a:t>
            </a:r>
            <a:r>
              <a:rPr lang="en-US" altLang="ko-KR" sz="1800" b="0" i="0" dirty="0">
                <a:solidFill>
                  <a:srgbClr val="333333"/>
                </a:solidFill>
                <a:effectLst/>
                <a:latin typeface="Noto Sans KR"/>
              </a:rPr>
              <a:t>, 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  <a:t>구글</a:t>
            </a:r>
            <a:r>
              <a:rPr lang="en-US" altLang="ko-KR" sz="1800" b="0" i="0" dirty="0">
                <a:solidFill>
                  <a:srgbClr val="333333"/>
                </a:solidFill>
                <a:effectLst/>
                <a:latin typeface="Noto Sans KR"/>
              </a:rPr>
              <a:t>, 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  <a:t>현대자동차</a:t>
            </a:r>
            <a:r>
              <a:rPr lang="en-US" altLang="ko-KR" sz="1800" b="0" i="0" dirty="0">
                <a:solidFill>
                  <a:srgbClr val="333333"/>
                </a:solidFill>
                <a:effectLst/>
                <a:latin typeface="Noto Sans KR"/>
              </a:rPr>
              <a:t>&amp;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  <a:t>네이버</a:t>
            </a:r>
            <a:b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</a:br>
            <a: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  <a:t> </a:t>
            </a:r>
            <a:endParaRPr lang="ko-KR" altLang="en-US" b="0" i="0" dirty="0">
              <a:solidFill>
                <a:srgbClr val="333333"/>
              </a:solidFill>
              <a:effectLst/>
              <a:latin typeface="Noto Sans K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800" b="1" i="0" dirty="0">
                <a:solidFill>
                  <a:srgbClr val="333333"/>
                </a:solidFill>
                <a:effectLst/>
                <a:latin typeface="Noto Sans KR"/>
              </a:rPr>
              <a:t>스마트 스피커</a:t>
            </a:r>
            <a:r>
              <a:rPr lang="en-US" altLang="ko-KR" sz="1800" b="1" i="0" dirty="0">
                <a:solidFill>
                  <a:srgbClr val="333333"/>
                </a:solidFill>
                <a:effectLst/>
                <a:latin typeface="Noto Sans KR"/>
              </a:rPr>
              <a:t>(AI </a:t>
            </a:r>
            <a:r>
              <a:rPr lang="ko-KR" altLang="en-US" sz="1800" b="1" i="0" dirty="0">
                <a:solidFill>
                  <a:srgbClr val="333333"/>
                </a:solidFill>
                <a:effectLst/>
                <a:latin typeface="Noto Sans KR"/>
              </a:rPr>
              <a:t>비서</a:t>
            </a:r>
            <a:r>
              <a:rPr lang="en-US" altLang="ko-KR" sz="1800" b="1" i="0" dirty="0">
                <a:solidFill>
                  <a:srgbClr val="333333"/>
                </a:solidFill>
                <a:effectLst/>
                <a:latin typeface="Noto Sans KR"/>
              </a:rPr>
              <a:t>):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  <a:t> 아마존</a:t>
            </a:r>
            <a:r>
              <a:rPr lang="en-US" altLang="ko-KR" sz="1800" b="0" i="0" dirty="0">
                <a:solidFill>
                  <a:srgbClr val="333333"/>
                </a:solidFill>
                <a:effectLst/>
                <a:latin typeface="Noto Sans KR"/>
              </a:rPr>
              <a:t>, 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  <a:t>구글</a:t>
            </a:r>
            <a:r>
              <a:rPr lang="en-US" altLang="ko-KR" sz="1800" b="0" i="0" dirty="0">
                <a:solidFill>
                  <a:srgbClr val="333333"/>
                </a:solidFill>
                <a:effectLst/>
                <a:latin typeface="Noto Sans KR"/>
              </a:rPr>
              <a:t>, </a:t>
            </a:r>
            <a:r>
              <a:rPr lang="ko-KR" altLang="en-US" sz="1800" b="0" i="0" dirty="0" err="1">
                <a:solidFill>
                  <a:srgbClr val="333333"/>
                </a:solidFill>
                <a:effectLst/>
                <a:latin typeface="Noto Sans KR"/>
              </a:rPr>
              <a:t>바이두</a:t>
            </a:r>
            <a:r>
              <a:rPr lang="en-US" altLang="ko-KR" sz="1800" b="0" i="0" dirty="0">
                <a:solidFill>
                  <a:srgbClr val="333333"/>
                </a:solidFill>
                <a:effectLst/>
                <a:latin typeface="Noto Sans KR"/>
              </a:rPr>
              <a:t>, </a:t>
            </a:r>
            <a:r>
              <a:rPr lang="ko-KR" altLang="en-US" sz="1800" b="0" i="0" dirty="0" err="1">
                <a:solidFill>
                  <a:srgbClr val="333333"/>
                </a:solidFill>
                <a:effectLst/>
                <a:latin typeface="Noto Sans KR"/>
              </a:rPr>
              <a:t>알리바바</a:t>
            </a:r>
            <a:r>
              <a:rPr lang="en-US" altLang="ko-KR" sz="1800" b="0" i="0" dirty="0">
                <a:solidFill>
                  <a:srgbClr val="333333"/>
                </a:solidFill>
                <a:effectLst/>
                <a:latin typeface="Noto Sans KR"/>
              </a:rPr>
              <a:t>, 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  <a:t>샤오미</a:t>
            </a:r>
            <a:r>
              <a:rPr lang="en-US" altLang="ko-KR" sz="1800" b="0" i="0" dirty="0">
                <a:solidFill>
                  <a:srgbClr val="333333"/>
                </a:solidFill>
                <a:effectLst/>
                <a:latin typeface="Noto Sans KR"/>
              </a:rPr>
              <a:t>, KT, SK 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  <a:t>텔레콤</a:t>
            </a:r>
            <a:r>
              <a:rPr lang="en-US" altLang="ko-KR" sz="1800" b="0" i="0" dirty="0">
                <a:solidFill>
                  <a:srgbClr val="333333"/>
                </a:solidFill>
                <a:effectLst/>
                <a:latin typeface="Noto Sans KR"/>
              </a:rPr>
              <a:t>, 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  <a:t>네이버</a:t>
            </a:r>
            <a:r>
              <a:rPr lang="en-US" altLang="ko-KR" sz="1800" b="0" i="0" dirty="0">
                <a:solidFill>
                  <a:srgbClr val="333333"/>
                </a:solidFill>
                <a:effectLst/>
                <a:latin typeface="Noto Sans KR"/>
              </a:rPr>
              <a:t>, 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  <a:t>카카오</a:t>
            </a:r>
            <a:r>
              <a:rPr lang="en-US" altLang="ko-KR" sz="1800" b="0" i="0" dirty="0">
                <a:solidFill>
                  <a:srgbClr val="333333"/>
                </a:solidFill>
                <a:effectLst/>
                <a:latin typeface="Noto Sans KR"/>
              </a:rPr>
              <a:t>, 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  <a:t>삼성전자 등</a:t>
            </a:r>
            <a:b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</a:br>
            <a: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  <a:t> </a:t>
            </a:r>
            <a:endParaRPr lang="ko-KR" altLang="en-US" b="0" i="0" dirty="0">
              <a:solidFill>
                <a:srgbClr val="333333"/>
              </a:solidFill>
              <a:effectLst/>
              <a:latin typeface="Noto Sans K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800" b="1" i="0" dirty="0" err="1">
                <a:solidFill>
                  <a:srgbClr val="333333"/>
                </a:solidFill>
                <a:effectLst/>
                <a:latin typeface="Noto Sans KR"/>
              </a:rPr>
              <a:t>챗봇</a:t>
            </a:r>
            <a:r>
              <a:rPr lang="en-US" altLang="ko-KR" sz="1800" b="1" i="0" dirty="0">
                <a:solidFill>
                  <a:srgbClr val="333333"/>
                </a:solidFill>
                <a:effectLst/>
                <a:latin typeface="Noto Sans KR"/>
              </a:rPr>
              <a:t>: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  <a:t> 카카오 </a:t>
            </a:r>
            <a:r>
              <a:rPr lang="ko-KR" altLang="en-US" sz="1800" b="0" i="0" dirty="0" err="1">
                <a:solidFill>
                  <a:srgbClr val="333333"/>
                </a:solidFill>
                <a:effectLst/>
                <a:latin typeface="Noto Sans KR"/>
              </a:rPr>
              <a:t>상담톡</a:t>
            </a:r>
            <a:r>
              <a:rPr lang="en-US" altLang="ko-KR" sz="1800" b="0" i="0" dirty="0">
                <a:solidFill>
                  <a:srgbClr val="333333"/>
                </a:solidFill>
                <a:effectLst/>
                <a:latin typeface="Noto Sans KR"/>
              </a:rPr>
              <a:t>, 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  <a:t>네이버 톡톡</a:t>
            </a:r>
            <a:r>
              <a:rPr lang="en-US" altLang="ko-KR" sz="1800" b="0" i="0" dirty="0">
                <a:solidFill>
                  <a:srgbClr val="333333"/>
                </a:solidFill>
                <a:effectLst/>
                <a:latin typeface="Noto Sans KR"/>
              </a:rPr>
              <a:t>, 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  <a:t>라인</a:t>
            </a:r>
            <a:r>
              <a:rPr lang="en-US" altLang="ko-KR" sz="1800" b="0" i="0" dirty="0">
                <a:solidFill>
                  <a:srgbClr val="333333"/>
                </a:solidFill>
                <a:effectLst/>
                <a:latin typeface="Noto Sans KR"/>
              </a:rPr>
              <a:t>, </a:t>
            </a:r>
            <a:r>
              <a:rPr lang="ko-KR" altLang="en-US" sz="1800" b="0" i="0" dirty="0" err="1">
                <a:solidFill>
                  <a:srgbClr val="333333"/>
                </a:solidFill>
                <a:effectLst/>
                <a:latin typeface="Noto Sans KR"/>
              </a:rPr>
              <a:t>채널톡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  <a:t> 등</a:t>
            </a:r>
            <a:b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</a:br>
            <a: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  <a:t> </a:t>
            </a:r>
            <a:endParaRPr lang="ko-KR" altLang="en-US" b="0" i="0" dirty="0">
              <a:solidFill>
                <a:srgbClr val="333333"/>
              </a:solidFill>
              <a:effectLst/>
              <a:latin typeface="Noto Sans K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800" b="1" i="0" dirty="0">
                <a:solidFill>
                  <a:srgbClr val="333333"/>
                </a:solidFill>
                <a:effectLst/>
                <a:latin typeface="Noto Sans KR"/>
              </a:rPr>
              <a:t>인공지능 로봇</a:t>
            </a:r>
            <a:r>
              <a:rPr lang="en-US" altLang="ko-KR" sz="1800" b="1" i="0" dirty="0">
                <a:solidFill>
                  <a:srgbClr val="333333"/>
                </a:solidFill>
                <a:effectLst/>
                <a:latin typeface="Noto Sans KR"/>
              </a:rPr>
              <a:t>: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  <a:t> 청소 로봇</a:t>
            </a:r>
            <a:r>
              <a:rPr lang="en-US" altLang="ko-KR" sz="1800" b="0" i="0" dirty="0">
                <a:solidFill>
                  <a:srgbClr val="333333"/>
                </a:solidFill>
                <a:effectLst/>
                <a:latin typeface="Noto Sans KR"/>
              </a:rPr>
              <a:t>, 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  <a:t>교육용 로봇</a:t>
            </a:r>
            <a:r>
              <a:rPr lang="en-US" altLang="ko-KR" sz="1800" b="0" i="0" dirty="0">
                <a:solidFill>
                  <a:srgbClr val="333333"/>
                </a:solidFill>
                <a:effectLst/>
                <a:latin typeface="Noto Sans KR"/>
              </a:rPr>
              <a:t>, 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  <a:t>동반자 로봇</a:t>
            </a:r>
            <a:r>
              <a:rPr lang="en-US" altLang="ko-KR" sz="1800" b="0" i="0" dirty="0">
                <a:solidFill>
                  <a:srgbClr val="333333"/>
                </a:solidFill>
                <a:effectLst/>
                <a:latin typeface="Noto Sans KR"/>
              </a:rPr>
              <a:t>, 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  <a:t>운송 로봇</a:t>
            </a:r>
            <a:b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</a:br>
            <a: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  <a:t> </a:t>
            </a:r>
            <a:endParaRPr lang="ko-KR" altLang="en-US" b="0" i="0" dirty="0">
              <a:solidFill>
                <a:srgbClr val="333333"/>
              </a:solidFill>
              <a:effectLst/>
              <a:latin typeface="Noto Sans K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800" b="1" i="0" dirty="0">
                <a:solidFill>
                  <a:srgbClr val="333333"/>
                </a:solidFill>
                <a:effectLst/>
                <a:latin typeface="Noto Sans KR"/>
              </a:rPr>
              <a:t>이미지 인식</a:t>
            </a:r>
            <a:r>
              <a:rPr lang="en-US" altLang="ko-KR" sz="1800" b="1" i="0" dirty="0">
                <a:solidFill>
                  <a:srgbClr val="333333"/>
                </a:solidFill>
                <a:effectLst/>
                <a:latin typeface="Noto Sans KR"/>
              </a:rPr>
              <a:t>: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  <a:t> 페이스북</a:t>
            </a:r>
            <a:r>
              <a:rPr lang="en-US" altLang="ko-KR" sz="1800" b="0" i="0" dirty="0">
                <a:solidFill>
                  <a:srgbClr val="333333"/>
                </a:solidFill>
                <a:effectLst/>
                <a:latin typeface="Noto Sans KR"/>
              </a:rPr>
              <a:t>, 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  <a:t>구글</a:t>
            </a:r>
            <a:r>
              <a:rPr lang="en-US" altLang="ko-KR" sz="1800" b="0" i="0" dirty="0">
                <a:solidFill>
                  <a:srgbClr val="333333"/>
                </a:solidFill>
                <a:effectLst/>
                <a:latin typeface="Noto Sans KR"/>
              </a:rPr>
              <a:t>, 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  <a:t>마이크로소프트</a:t>
            </a:r>
            <a:r>
              <a:rPr lang="en-US" altLang="ko-KR" sz="1800" b="0" i="0" dirty="0">
                <a:solidFill>
                  <a:srgbClr val="333333"/>
                </a:solidFill>
                <a:effectLst/>
                <a:latin typeface="Noto Sans KR"/>
              </a:rPr>
              <a:t>, 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  <a:t>네이버</a:t>
            </a:r>
            <a:b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</a:br>
            <a: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  <a:t> </a:t>
            </a:r>
            <a:endParaRPr lang="ko-KR" altLang="en-US" b="0" i="0" dirty="0">
              <a:solidFill>
                <a:srgbClr val="333333"/>
              </a:solidFill>
              <a:effectLst/>
              <a:latin typeface="Noto Sans K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800" b="1" i="0" dirty="0">
                <a:solidFill>
                  <a:srgbClr val="333333"/>
                </a:solidFill>
                <a:effectLst/>
                <a:latin typeface="Noto Sans KR"/>
              </a:rPr>
              <a:t>개인화 추천</a:t>
            </a:r>
            <a:r>
              <a:rPr lang="en-US" altLang="ko-KR" sz="1800" b="1" i="0" dirty="0">
                <a:solidFill>
                  <a:srgbClr val="333333"/>
                </a:solidFill>
                <a:effectLst/>
                <a:latin typeface="Noto Sans KR"/>
              </a:rPr>
              <a:t>: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  <a:t> </a:t>
            </a:r>
            <a:r>
              <a:rPr lang="ko-KR" altLang="en-US" sz="1800" b="0" i="0" dirty="0" err="1">
                <a:solidFill>
                  <a:srgbClr val="333333"/>
                </a:solidFill>
                <a:effectLst/>
                <a:latin typeface="Noto Sans KR"/>
              </a:rPr>
              <a:t>넷플릭스</a:t>
            </a:r>
            <a:r>
              <a:rPr lang="en-US" altLang="ko-KR" sz="1800" b="0" i="0" dirty="0">
                <a:solidFill>
                  <a:srgbClr val="333333"/>
                </a:solidFill>
                <a:effectLst/>
                <a:latin typeface="Noto Sans KR"/>
              </a:rPr>
              <a:t>,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  <a:t>구글</a:t>
            </a:r>
            <a:r>
              <a:rPr lang="en-US" altLang="ko-KR" sz="1800" b="0" i="0" dirty="0">
                <a:solidFill>
                  <a:srgbClr val="333333"/>
                </a:solidFill>
                <a:effectLst/>
                <a:latin typeface="Noto Sans KR"/>
              </a:rPr>
              <a:t>, 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  <a:t>페이스북</a:t>
            </a:r>
            <a:b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</a:br>
            <a: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  <a:t> </a:t>
            </a:r>
            <a:endParaRPr lang="ko-KR" altLang="en-US" b="0" i="0" dirty="0">
              <a:solidFill>
                <a:srgbClr val="333333"/>
              </a:solidFill>
              <a:effectLst/>
              <a:latin typeface="Noto Sans K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800" b="1" i="0" dirty="0">
                <a:solidFill>
                  <a:srgbClr val="333333"/>
                </a:solidFill>
                <a:effectLst/>
                <a:latin typeface="Noto Sans KR"/>
              </a:rPr>
              <a:t>기계 번역</a:t>
            </a:r>
            <a:r>
              <a:rPr lang="en-US" altLang="ko-KR" sz="1800" b="1" i="0" dirty="0">
                <a:solidFill>
                  <a:srgbClr val="333333"/>
                </a:solidFill>
                <a:effectLst/>
                <a:latin typeface="Noto Sans KR"/>
              </a:rPr>
              <a:t>: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  <a:t> 구글</a:t>
            </a:r>
            <a:r>
              <a:rPr lang="en-US" altLang="ko-KR" sz="1800" b="0" i="0" dirty="0">
                <a:solidFill>
                  <a:srgbClr val="333333"/>
                </a:solidFill>
                <a:effectLst/>
                <a:latin typeface="Noto Sans KR"/>
              </a:rPr>
              <a:t>, 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latin typeface="Noto Sans KR"/>
              </a:rPr>
              <a:t>네이버 </a:t>
            </a:r>
            <a:r>
              <a:rPr lang="ko-KR" altLang="en-US" sz="1800" b="0" i="0" dirty="0" err="1">
                <a:solidFill>
                  <a:srgbClr val="333333"/>
                </a:solidFill>
                <a:effectLst/>
                <a:latin typeface="Noto Sans KR"/>
              </a:rPr>
              <a:t>파파고</a:t>
            </a:r>
            <a:endParaRPr lang="ko-KR" altLang="en-US" b="0" i="0" dirty="0">
              <a:solidFill>
                <a:srgbClr val="333333"/>
              </a:solidFill>
              <a:effectLst/>
              <a:latin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2179760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32784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</a:rPr>
              <a:t>인공지능 역사</a:t>
            </a:r>
            <a:r>
              <a:rPr lang="en-US" altLang="ko-KR" sz="3600" b="1" dirty="0">
                <a:solidFill>
                  <a:schemeClr val="bg1"/>
                </a:solidFill>
              </a:rPr>
              <a:t> 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모서리가 둥근 직사각형 15"/>
          <p:cNvSpPr/>
          <p:nvPr/>
        </p:nvSpPr>
        <p:spPr>
          <a:xfrm>
            <a:off x="894881" y="2464480"/>
            <a:ext cx="10982694" cy="4048079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712001" y="2291207"/>
            <a:ext cx="10982694" cy="4387226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>
                <a:latin typeface="+mn-ea"/>
                <a:sym typeface="Wingdings" panose="05000000000000000000" pitchFamily="2" charset="2"/>
              </a:rPr>
              <a:t>요소들을 자동으로 바꾸어 사이트를 구현하는 것이 바로 반응형 웹 디자인</a:t>
            </a:r>
            <a:endParaRPr lang="ko-KR" altLang="en-US" sz="1800" dirty="0">
              <a:latin typeface="+mn-ea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875244" y="1372749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361439" y="1371132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인공지능 역사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C2B9D8AB-A0FA-4F71-9094-9877B7298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8" y="1971041"/>
            <a:ext cx="11672787" cy="479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4845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46292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 err="1">
                <a:solidFill>
                  <a:schemeClr val="bg1"/>
                </a:solidFill>
              </a:rPr>
              <a:t>머신러닝</a:t>
            </a:r>
            <a:r>
              <a:rPr lang="ko-KR" altLang="en-US" sz="3600" b="1" dirty="0">
                <a:solidFill>
                  <a:schemeClr val="bg1"/>
                </a:solidFill>
              </a:rPr>
              <a:t> </a:t>
            </a:r>
            <a:r>
              <a:rPr lang="en-US" altLang="ko-KR" sz="3600" b="1" dirty="0">
                <a:solidFill>
                  <a:schemeClr val="bg1"/>
                </a:solidFill>
              </a:rPr>
              <a:t>VS</a:t>
            </a:r>
            <a:r>
              <a:rPr lang="ko-KR" altLang="en-US" sz="3600" b="1" dirty="0">
                <a:solidFill>
                  <a:schemeClr val="bg1"/>
                </a:solidFill>
              </a:rPr>
              <a:t> 딥러닝</a:t>
            </a:r>
            <a:r>
              <a:rPr lang="en-US" altLang="ko-KR" sz="3600" b="1" dirty="0">
                <a:solidFill>
                  <a:schemeClr val="bg1"/>
                </a:solidFill>
              </a:rPr>
              <a:t> 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모서리가 둥근 직사각형 15"/>
          <p:cNvSpPr/>
          <p:nvPr/>
        </p:nvSpPr>
        <p:spPr>
          <a:xfrm>
            <a:off x="894881" y="2464481"/>
            <a:ext cx="6005540" cy="3794918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712001" y="2291207"/>
            <a:ext cx="6005540" cy="4112855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>
                <a:latin typeface="+mn-ea"/>
                <a:sym typeface="Wingdings" panose="05000000000000000000" pitchFamily="2" charset="2"/>
              </a:rPr>
              <a:t>요소들을 자동으로 바꾸어 사이트를 구현하는 것이 바로 반응형 웹 디자인</a:t>
            </a:r>
            <a:endParaRPr lang="ko-KR" altLang="en-US" sz="1800" dirty="0">
              <a:latin typeface="+mn-ea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839469" y="1531312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325664" y="1529695"/>
            <a:ext cx="37882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err="1"/>
              <a:t>머신러닝과</a:t>
            </a:r>
            <a:r>
              <a:rPr lang="ko-KR" altLang="en-US" sz="2400" dirty="0"/>
              <a:t> </a:t>
            </a:r>
            <a:r>
              <a:rPr lang="ko-KR" altLang="en-US" sz="2400" dirty="0" err="1"/>
              <a:t>딥러닝의</a:t>
            </a:r>
            <a:r>
              <a:rPr lang="ko-KR" altLang="en-US" sz="2400" dirty="0"/>
              <a:t> 차이</a:t>
            </a:r>
          </a:p>
        </p:txBody>
      </p:sp>
      <p:pic>
        <p:nvPicPr>
          <p:cNvPr id="6146" name="Picture 2" descr="21-2">
            <a:extLst>
              <a:ext uri="{FF2B5EF4-FFF2-40B4-BE49-F238E27FC236}">
                <a16:creationId xmlns:a16="http://schemas.microsoft.com/office/drawing/2014/main" id="{245A36FC-6497-45DB-AA86-7349A28F2A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384" y="2399706"/>
            <a:ext cx="5689146" cy="4112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모서리가 둥근 직사각형 12">
            <a:extLst>
              <a:ext uri="{FF2B5EF4-FFF2-40B4-BE49-F238E27FC236}">
                <a16:creationId xmlns:a16="http://schemas.microsoft.com/office/drawing/2014/main" id="{2D9CC4FB-6FEE-4E5C-B6BA-AC77CB7CDDFE}"/>
              </a:ext>
            </a:extLst>
          </p:cNvPr>
          <p:cNvSpPr/>
          <p:nvPr/>
        </p:nvSpPr>
        <p:spPr>
          <a:xfrm>
            <a:off x="7384733" y="2463973"/>
            <a:ext cx="4638214" cy="4048588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25" name="모서리가 둥근 직사각형 7">
            <a:extLst>
              <a:ext uri="{FF2B5EF4-FFF2-40B4-BE49-F238E27FC236}">
                <a16:creationId xmlns:a16="http://schemas.microsoft.com/office/drawing/2014/main" id="{98452FCC-28F1-4EB2-A9B6-C739A8A0722F}"/>
              </a:ext>
            </a:extLst>
          </p:cNvPr>
          <p:cNvSpPr/>
          <p:nvPr/>
        </p:nvSpPr>
        <p:spPr>
          <a:xfrm>
            <a:off x="7201853" y="2326640"/>
            <a:ext cx="4638213" cy="4054369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buFontTx/>
              <a:buChar char="-"/>
            </a:pPr>
            <a:r>
              <a:rPr lang="ko-KR" altLang="en-US" b="0" i="0" dirty="0" err="1">
                <a:solidFill>
                  <a:srgbClr val="000000"/>
                </a:solidFill>
                <a:effectLst/>
                <a:latin typeface="-apple-system"/>
              </a:rPr>
              <a:t>머신러닝은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-apple-system"/>
              </a:rPr>
              <a:t> 인간이 데이터에 대한 결과 값을 미리 알려주어야 하고 목표치에 가까운 결과 값의 특징을 미리 정의</a:t>
            </a:r>
            <a:endParaRPr lang="en-US" altLang="ko-KR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marL="285750" lvl="0" indent="-285750">
              <a:buFontTx/>
              <a:buChar char="-"/>
            </a:pPr>
            <a:endParaRPr lang="en-US" altLang="ko-KR" dirty="0">
              <a:solidFill>
                <a:schemeClr val="tx1"/>
              </a:solidFill>
            </a:endParaRPr>
          </a:p>
          <a:p>
            <a:pPr marL="285750" lvl="0" indent="-285750">
              <a:buFontTx/>
              <a:buChar char="-"/>
            </a:pPr>
            <a:r>
              <a:rPr lang="ko-KR" altLang="en-US" b="0" i="0" dirty="0" err="1">
                <a:solidFill>
                  <a:srgbClr val="000000"/>
                </a:solidFill>
                <a:effectLst/>
                <a:latin typeface="-apple-system"/>
              </a:rPr>
              <a:t>딥러닝은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-apple-system"/>
              </a:rPr>
              <a:t> 인간의 신경망인 뉴런의 작동 원리를 모방한 인공 신경망을 이용하여 복잡하고 방대한 데이터로부터 결과값을 추출하는 원리로 작동</a:t>
            </a:r>
            <a:br>
              <a:rPr lang="ko-KR" altLang="en-US" dirty="0">
                <a:solidFill>
                  <a:schemeClr val="tx1"/>
                </a:solidFill>
              </a:rPr>
            </a:b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맑은 고딕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FA33C71B-29C7-4A1C-8171-8AEB176C9173}"/>
              </a:ext>
            </a:extLst>
          </p:cNvPr>
          <p:cNvSpPr/>
          <p:nvPr/>
        </p:nvSpPr>
        <p:spPr>
          <a:xfrm>
            <a:off x="7546627" y="1516921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2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81F2C2-876C-4910-A21E-48308A233DAE}"/>
              </a:ext>
            </a:extLst>
          </p:cNvPr>
          <p:cNvSpPr txBox="1"/>
          <p:nvPr/>
        </p:nvSpPr>
        <p:spPr>
          <a:xfrm>
            <a:off x="8078542" y="1528311"/>
            <a:ext cx="35894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dirty="0">
                <a:solidFill>
                  <a:prstClr val="black"/>
                </a:solidFill>
                <a:latin typeface="나눔바른고딕 Light"/>
                <a:ea typeface="맑은 고딕"/>
              </a:rPr>
              <a:t> </a:t>
            </a:r>
            <a:r>
              <a:rPr lang="ko-KR" altLang="en-US" sz="2400" dirty="0" err="1">
                <a:solidFill>
                  <a:prstClr val="black"/>
                </a:solidFill>
                <a:latin typeface="나눔바른고딕 Light"/>
                <a:ea typeface="맑은 고딕"/>
              </a:rPr>
              <a:t>머신러닝과</a:t>
            </a:r>
            <a:r>
              <a:rPr lang="ko-KR" altLang="en-US" sz="2400" dirty="0">
                <a:solidFill>
                  <a:prstClr val="black"/>
                </a:solidFill>
                <a:latin typeface="나눔바른고딕 Light"/>
                <a:ea typeface="맑은 고딕"/>
              </a:rPr>
              <a:t> 딥러닝 차이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294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42017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 err="1">
                <a:solidFill>
                  <a:schemeClr val="bg1"/>
                </a:solidFill>
              </a:rPr>
              <a:t>머신러닝에</a:t>
            </a:r>
            <a:r>
              <a:rPr lang="ko-KR" altLang="en-US" sz="3600" b="1" dirty="0">
                <a:solidFill>
                  <a:schemeClr val="bg1"/>
                </a:solidFill>
              </a:rPr>
              <a:t> 관하여</a:t>
            </a:r>
            <a:r>
              <a:rPr lang="en-US" altLang="ko-KR" sz="3600" b="1" dirty="0">
                <a:solidFill>
                  <a:schemeClr val="bg1"/>
                </a:solidFill>
              </a:rPr>
              <a:t> 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타원 19"/>
          <p:cNvSpPr/>
          <p:nvPr/>
        </p:nvSpPr>
        <p:spPr>
          <a:xfrm>
            <a:off x="875244" y="1428480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361439" y="1426863"/>
            <a:ext cx="37882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err="1"/>
              <a:t>머신러닝</a:t>
            </a:r>
            <a:r>
              <a:rPr lang="ko-KR" altLang="en-US" sz="2400" dirty="0"/>
              <a:t> 알고리즘의 유형</a:t>
            </a:r>
          </a:p>
        </p:txBody>
      </p:sp>
      <p:pic>
        <p:nvPicPr>
          <p:cNvPr id="12290" name="Picture 2" descr="21-3">
            <a:extLst>
              <a:ext uri="{FF2B5EF4-FFF2-40B4-BE49-F238E27FC236}">
                <a16:creationId xmlns:a16="http://schemas.microsoft.com/office/drawing/2014/main" id="{DC0B1641-8169-43C2-9DCC-492DCA6ED8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085" y="2096191"/>
            <a:ext cx="10711829" cy="4665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9111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57144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</a:rPr>
              <a:t>지도 학습 </a:t>
            </a:r>
            <a:r>
              <a:rPr lang="en-US" altLang="ko-KR" sz="3600" b="1" dirty="0">
                <a:solidFill>
                  <a:schemeClr val="bg1"/>
                </a:solidFill>
              </a:rPr>
              <a:t>VS </a:t>
            </a:r>
            <a:r>
              <a:rPr lang="ko-KR" altLang="en-US" sz="3600" b="1" dirty="0">
                <a:solidFill>
                  <a:schemeClr val="bg1"/>
                </a:solidFill>
              </a:rPr>
              <a:t>비지도 학습 </a:t>
            </a:r>
            <a:endParaRPr lang="en-US" altLang="ko-KR" sz="3600" b="1" dirty="0">
              <a:solidFill>
                <a:schemeClr val="bg1"/>
              </a:solidFill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28" name="Picture 4" descr="지도학습">
            <a:extLst>
              <a:ext uri="{FF2B5EF4-FFF2-40B4-BE49-F238E27FC236}">
                <a16:creationId xmlns:a16="http://schemas.microsoft.com/office/drawing/2014/main" id="{4A7DC540-4715-4D6B-8F89-56FE9496F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722" y="1574800"/>
            <a:ext cx="10254343" cy="501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0442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32784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 err="1">
                <a:solidFill>
                  <a:schemeClr val="bg1"/>
                </a:solidFill>
              </a:rPr>
              <a:t>머신러닝</a:t>
            </a:r>
            <a:r>
              <a:rPr lang="ko-KR" altLang="en-US" sz="3600" b="1" dirty="0">
                <a:solidFill>
                  <a:schemeClr val="bg1"/>
                </a:solidFill>
              </a:rPr>
              <a:t> 분류 </a:t>
            </a:r>
            <a:endParaRPr lang="en-US" altLang="ko-KR" sz="3600" b="1" dirty="0">
              <a:solidFill>
                <a:schemeClr val="bg1"/>
              </a:solidFill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EA6ECE24-1539-4B64-8515-A4B8422A3F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698" y="1398171"/>
            <a:ext cx="10310326" cy="512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138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39020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</a:rPr>
              <a:t>지도 비지도 학습 </a:t>
            </a:r>
            <a:endParaRPr lang="en-US" altLang="ko-KR" sz="3600" b="1" dirty="0">
              <a:solidFill>
                <a:schemeClr val="bg1"/>
              </a:solidFill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F9B78796-6846-0645-5DAA-691923403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280" y="2336800"/>
            <a:ext cx="10770781" cy="3767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5186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63722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</a:rPr>
              <a:t>딥러닝 역사의 중요한 해결점</a:t>
            </a:r>
            <a:r>
              <a:rPr lang="en-US" altLang="ko-KR" sz="3600" b="1" dirty="0">
                <a:solidFill>
                  <a:schemeClr val="bg1"/>
                </a:solidFill>
              </a:rPr>
              <a:t> 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모서리가 둥근 직사각형 16"/>
          <p:cNvSpPr/>
          <p:nvPr/>
        </p:nvSpPr>
        <p:spPr>
          <a:xfrm>
            <a:off x="776177" y="3189767"/>
            <a:ext cx="10918518" cy="3488665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i="0" dirty="0" err="1">
                <a:solidFill>
                  <a:srgbClr val="666666"/>
                </a:solidFill>
                <a:effectLst/>
                <a:latin typeface="-apple-system"/>
              </a:rPr>
              <a:t>딥러닝의</a:t>
            </a:r>
            <a:r>
              <a:rPr lang="ko-KR" altLang="en-US" b="1" i="0" dirty="0">
                <a:solidFill>
                  <a:srgbClr val="666666"/>
                </a:solidFill>
                <a:effectLst/>
                <a:latin typeface="-apple-system"/>
              </a:rPr>
              <a:t> 시초 인공신경망 </a:t>
            </a:r>
            <a:r>
              <a:rPr lang="en-US" altLang="ko-KR" b="1" i="0" dirty="0">
                <a:solidFill>
                  <a:srgbClr val="666666"/>
                </a:solidFill>
                <a:effectLst/>
                <a:latin typeface="-apple-system"/>
              </a:rPr>
              <a:t>(1940~1950)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i="0" dirty="0">
                <a:solidFill>
                  <a:srgbClr val="666666"/>
                </a:solidFill>
                <a:effectLst/>
                <a:latin typeface="-apple-system"/>
              </a:rPr>
              <a:t>인공신경망의 문제와 해결 </a:t>
            </a:r>
            <a:r>
              <a:rPr lang="en-US" altLang="ko-KR" b="1" i="0" dirty="0">
                <a:solidFill>
                  <a:srgbClr val="666666"/>
                </a:solidFill>
                <a:effectLst/>
                <a:latin typeface="-apple-system"/>
              </a:rPr>
              <a:t>(1960~1980)</a:t>
            </a:r>
            <a:endParaRPr lang="en-US" altLang="ko-KR" b="1" dirty="0">
              <a:solidFill>
                <a:srgbClr val="666666"/>
              </a:solidFill>
              <a:latin typeface="-apple-system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1969</a:t>
            </a:r>
            <a:r>
              <a:rPr lang="ko-KR" altLang="en-US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년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, </a:t>
            </a:r>
            <a:r>
              <a:rPr lang="en-US" altLang="ko-KR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</a:rPr>
              <a:t>Minskey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</a:rPr>
              <a:t>와 </a:t>
            </a:r>
            <a:r>
              <a:rPr lang="en-US" altLang="ko-KR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</a:rPr>
              <a:t>Papert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</a:rPr>
              <a:t>의 저서를 통해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</a:rPr>
              <a:t>퍼셉트론으로는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</a:rPr>
              <a:t>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</a:rPr>
              <a:t>XOR 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</a:rPr>
              <a:t>연산자의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 </a:t>
            </a:r>
            <a:r>
              <a:rPr lang="en-US" altLang="ko-KR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Unlinear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 separable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한 문제를 해결할 수 없음이 밝혀졌습니다</a:t>
            </a:r>
            <a:r>
              <a:rPr lang="en-US" altLang="ko-KR" dirty="0">
                <a:solidFill>
                  <a:srgbClr val="333333"/>
                </a:solidFill>
                <a:highlight>
                  <a:srgbClr val="FFFFFF"/>
                </a:highlight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1986</a:t>
            </a:r>
            <a:r>
              <a:rPr lang="ko-KR" altLang="en-US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년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 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Geoffrey Hinton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연구진이단층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퍼셉트론을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여러층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쌓아올린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 </a:t>
            </a:r>
            <a:r>
              <a:rPr lang="ko-KR" altLang="en-US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다층 </a:t>
            </a:r>
            <a:r>
              <a:rPr lang="ko-KR" altLang="en-US" b="1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퍼셉트론</a:t>
            </a:r>
            <a:r>
              <a:rPr lang="en-US" altLang="ko-KR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(</a:t>
            </a:r>
            <a:r>
              <a:rPr lang="en-US" altLang="ko-KR" b="1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MLP,Multi</a:t>
            </a:r>
            <a:r>
              <a:rPr lang="en-US" altLang="ko-KR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 Layer Perceptron)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을 제시하였고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NAND, OR, AND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연산자를 조합하여 비선형 분리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XOR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연산 문제를 해결</a:t>
            </a:r>
            <a:endParaRPr lang="en-US" altLang="ko-KR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-apple-system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하지만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MLP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층의 수가 많아지면서 늘어나는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Weight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와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Bias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를 수동으로 설정하여 학습시키기에는 한계가 있었습니다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.</a:t>
            </a:r>
            <a:endParaRPr lang="en-US" altLang="ko-KR" dirty="0">
              <a:solidFill>
                <a:srgbClr val="333333"/>
              </a:solidFill>
              <a:highlight>
                <a:srgbClr val="FFFFFF"/>
              </a:highlight>
              <a:latin typeface="-apple-system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를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 해결하기 위해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Hinton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교수진이 </a:t>
            </a:r>
            <a:r>
              <a:rPr lang="en-US" altLang="ko-KR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Back </a:t>
            </a:r>
            <a:r>
              <a:rPr lang="en-US" altLang="ko-KR" b="1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propagtion</a:t>
            </a:r>
            <a:r>
              <a:rPr lang="en-US" altLang="ko-KR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 Algorithm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을 제안하면서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MLP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를 제대로 학습할 수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있게됩니다</a:t>
            </a:r>
            <a:endParaRPr lang="ko-KR" altLang="en-US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-apple-system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-apple-system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b="1" i="0" dirty="0">
              <a:solidFill>
                <a:srgbClr val="666666"/>
              </a:solidFill>
              <a:effectLst/>
              <a:latin typeface="-apple-system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800" b="1" dirty="0">
              <a:solidFill>
                <a:srgbClr val="666666"/>
              </a:solidFill>
              <a:latin typeface="-apple-system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800" dirty="0">
              <a:latin typeface="+mn-ea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875244" y="1372749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361439" y="1371132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인공지능 역사</a:t>
            </a:r>
          </a:p>
        </p:txBody>
      </p:sp>
    </p:spTree>
    <p:extLst>
      <p:ext uri="{BB962C8B-B14F-4D97-AF65-F5344CB8AC3E}">
        <p14:creationId xmlns:p14="http://schemas.microsoft.com/office/powerpoint/2010/main" val="1885074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탬플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CA9AE"/>
      </a:accent1>
      <a:accent2>
        <a:srgbClr val="93C9D4"/>
      </a:accent2>
      <a:accent3>
        <a:srgbClr val="EBE2D9"/>
      </a:accent3>
      <a:accent4>
        <a:srgbClr val="FFC000"/>
      </a:accent4>
      <a:accent5>
        <a:srgbClr val="FECCB3"/>
      </a:accent5>
      <a:accent6>
        <a:srgbClr val="FF9763"/>
      </a:accent6>
      <a:hlink>
        <a:srgbClr val="0563C1"/>
      </a:hlink>
      <a:folHlink>
        <a:srgbClr val="954F72"/>
      </a:folHlink>
    </a:clrScheme>
    <a:fontScheme name="사용자 지정 3">
      <a:majorFont>
        <a:latin typeface="나눔고딕 ExtraBold"/>
        <a:ea typeface="맑은 고딕"/>
        <a:cs typeface=""/>
      </a:majorFont>
      <a:minorFont>
        <a:latin typeface="나눔바른고딕 Light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3200" b="1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2607</TotalTime>
  <Words>471</Words>
  <Application>Microsoft Office PowerPoint</Application>
  <PresentationFormat>와이드스크린</PresentationFormat>
  <Paragraphs>75</Paragraphs>
  <Slides>13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1" baseType="lpstr">
      <vt:lpstr>-apple-system</vt:lpstr>
      <vt:lpstr>HY견고딕</vt:lpstr>
      <vt:lpstr>neue-haas-grotesk-text</vt:lpstr>
      <vt:lpstr>Noto Sans KR</vt:lpstr>
      <vt:lpstr>나눔바른고딕 Light</vt:lpstr>
      <vt:lpstr>맑은 고딕</vt:lpstr>
      <vt:lpstr>Arial</vt:lpstr>
      <vt:lpstr>Office 테마</vt:lpstr>
      <vt:lpstr>너를 위한 딥러닝 (AI - 개요)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최웅비</dc:creator>
  <cp:lastModifiedBy>tom</cp:lastModifiedBy>
  <cp:revision>270</cp:revision>
  <dcterms:created xsi:type="dcterms:W3CDTF">2017-06-16T14:09:50Z</dcterms:created>
  <dcterms:modified xsi:type="dcterms:W3CDTF">2024-10-07T13:28:54Z</dcterms:modified>
</cp:coreProperties>
</file>